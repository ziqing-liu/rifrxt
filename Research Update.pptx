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9" r:id="rId11"/>
    <p:sldId id="270" r:id="rId12"/>
    <p:sldId id="271" r:id="rId13"/>
    <p:sldId id="272" r:id="rId14"/>
    <p:sldId id="273" r:id="rId15"/>
    <p:sldId id="277" r:id="rId16"/>
    <p:sldId id="278" r:id="rId17"/>
    <p:sldId id="265" r:id="rId18"/>
    <p:sldId id="266" r:id="rId19"/>
    <p:sldId id="267" r:id="rId20"/>
    <p:sldId id="26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6FB4F6-F798-4ED9-99E3-1574F431BF44}" v="8" dt="2026-05-15T02:53:56.5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0872" autoAdjust="0"/>
  </p:normalViewPr>
  <p:slideViewPr>
    <p:cSldViewPr snapToGrid="0">
      <p:cViewPr varScale="1">
        <p:scale>
          <a:sx n="89" d="100"/>
          <a:sy n="89" d="100"/>
        </p:scale>
        <p:origin x="137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qing Liu" userId="20113ce3-4e8c-4eaa-a792-613b3e52886a" providerId="ADAL" clId="{7647F6DA-84E6-4065-910E-AC1B0A07A858}"/>
    <pc:docChg chg="undo custSel addSld delSld modSld sldOrd">
      <pc:chgData name="Ziqing Liu" userId="20113ce3-4e8c-4eaa-a792-613b3e52886a" providerId="ADAL" clId="{7647F6DA-84E6-4065-910E-AC1B0A07A858}" dt="2026-05-15T03:39:42.724" v="4927" actId="20577"/>
      <pc:docMkLst>
        <pc:docMk/>
      </pc:docMkLst>
      <pc:sldChg chg="modSp mod modNotesTx">
        <pc:chgData name="Ziqing Liu" userId="20113ce3-4e8c-4eaa-a792-613b3e52886a" providerId="ADAL" clId="{7647F6DA-84E6-4065-910E-AC1B0A07A858}" dt="2026-05-15T02:53:03.248" v="4549" actId="20577"/>
        <pc:sldMkLst>
          <pc:docMk/>
          <pc:sldMk cId="2040666385" sldId="257"/>
        </pc:sldMkLst>
        <pc:spChg chg="mod">
          <ac:chgData name="Ziqing Liu" userId="20113ce3-4e8c-4eaa-a792-613b3e52886a" providerId="ADAL" clId="{7647F6DA-84E6-4065-910E-AC1B0A07A858}" dt="2026-05-15T02:53:03.248" v="4549" actId="20577"/>
          <ac:spMkLst>
            <pc:docMk/>
            <pc:sldMk cId="2040666385" sldId="257"/>
            <ac:spMk id="3" creationId="{CA4F29F4-AEB2-D0FB-3CE6-20070AD29B70}"/>
          </ac:spMkLst>
        </pc:spChg>
      </pc:sldChg>
      <pc:sldChg chg="modSp mod modNotesTx">
        <pc:chgData name="Ziqing Liu" userId="20113ce3-4e8c-4eaa-a792-613b3e52886a" providerId="ADAL" clId="{7647F6DA-84E6-4065-910E-AC1B0A07A858}" dt="2026-05-15T03:32:25.240" v="4885" actId="20577"/>
        <pc:sldMkLst>
          <pc:docMk/>
          <pc:sldMk cId="3571827075" sldId="258"/>
        </pc:sldMkLst>
        <pc:spChg chg="mod">
          <ac:chgData name="Ziqing Liu" userId="20113ce3-4e8c-4eaa-a792-613b3e52886a" providerId="ADAL" clId="{7647F6DA-84E6-4065-910E-AC1B0A07A858}" dt="2026-05-01T03:05:20.530" v="3308" actId="20577"/>
          <ac:spMkLst>
            <pc:docMk/>
            <pc:sldMk cId="3571827075" sldId="258"/>
            <ac:spMk id="3" creationId="{CFDBA41F-E832-2EAA-7EFE-45CC239BAE62}"/>
          </ac:spMkLst>
        </pc:spChg>
      </pc:sldChg>
      <pc:sldChg chg="modSp mod modNotesTx">
        <pc:chgData name="Ziqing Liu" userId="20113ce3-4e8c-4eaa-a792-613b3e52886a" providerId="ADAL" clId="{7647F6DA-84E6-4065-910E-AC1B0A07A858}" dt="2026-05-15T03:30:11.186" v="4850" actId="20577"/>
        <pc:sldMkLst>
          <pc:docMk/>
          <pc:sldMk cId="1452976489" sldId="259"/>
        </pc:sldMkLst>
        <pc:spChg chg="mod">
          <ac:chgData name="Ziqing Liu" userId="20113ce3-4e8c-4eaa-a792-613b3e52886a" providerId="ADAL" clId="{7647F6DA-84E6-4065-910E-AC1B0A07A858}" dt="2026-05-15T02:52:44.975" v="4545"/>
          <ac:spMkLst>
            <pc:docMk/>
            <pc:sldMk cId="1452976489" sldId="259"/>
            <ac:spMk id="3" creationId="{7409183D-F892-067B-76CC-5D0764E122D5}"/>
          </ac:spMkLst>
        </pc:spChg>
      </pc:sldChg>
      <pc:sldChg chg="modNotesTx">
        <pc:chgData name="Ziqing Liu" userId="20113ce3-4e8c-4eaa-a792-613b3e52886a" providerId="ADAL" clId="{7647F6DA-84E6-4065-910E-AC1B0A07A858}" dt="2026-05-15T02:59:54.303" v="4559" actId="20577"/>
        <pc:sldMkLst>
          <pc:docMk/>
          <pc:sldMk cId="1532048993" sldId="260"/>
        </pc:sldMkLst>
      </pc:sldChg>
      <pc:sldChg chg="modNotesTx">
        <pc:chgData name="Ziqing Liu" userId="20113ce3-4e8c-4eaa-a792-613b3e52886a" providerId="ADAL" clId="{7647F6DA-84E6-4065-910E-AC1B0A07A858}" dt="2026-04-30T06:17:09.191" v="1565" actId="20577"/>
        <pc:sldMkLst>
          <pc:docMk/>
          <pc:sldMk cId="559528190" sldId="261"/>
        </pc:sldMkLst>
      </pc:sldChg>
      <pc:sldChg chg="modSp mod modNotesTx">
        <pc:chgData name="Ziqing Liu" userId="20113ce3-4e8c-4eaa-a792-613b3e52886a" providerId="ADAL" clId="{7647F6DA-84E6-4065-910E-AC1B0A07A858}" dt="2026-05-15T02:52:03.622" v="4544" actId="20577"/>
        <pc:sldMkLst>
          <pc:docMk/>
          <pc:sldMk cId="3839789162" sldId="262"/>
        </pc:sldMkLst>
        <pc:spChg chg="mod">
          <ac:chgData name="Ziqing Liu" userId="20113ce3-4e8c-4eaa-a792-613b3e52886a" providerId="ADAL" clId="{7647F6DA-84E6-4065-910E-AC1B0A07A858}" dt="2026-05-15T02:52:03.622" v="4544" actId="20577"/>
          <ac:spMkLst>
            <pc:docMk/>
            <pc:sldMk cId="3839789162" sldId="262"/>
            <ac:spMk id="3" creationId="{DE2C9C34-887F-533A-DB17-2DDA04692945}"/>
          </ac:spMkLst>
        </pc:spChg>
      </pc:sldChg>
      <pc:sldChg chg="modSp mod modNotesTx">
        <pc:chgData name="Ziqing Liu" userId="20113ce3-4e8c-4eaa-a792-613b3e52886a" providerId="ADAL" clId="{7647F6DA-84E6-4065-910E-AC1B0A07A858}" dt="2026-05-15T00:24:38.783" v="3931" actId="20577"/>
        <pc:sldMkLst>
          <pc:docMk/>
          <pc:sldMk cId="3719714297" sldId="263"/>
        </pc:sldMkLst>
        <pc:picChg chg="mod">
          <ac:chgData name="Ziqing Liu" userId="20113ce3-4e8c-4eaa-a792-613b3e52886a" providerId="ADAL" clId="{7647F6DA-84E6-4065-910E-AC1B0A07A858}" dt="2026-04-30T06:18:56.984" v="1610" actId="14100"/>
          <ac:picMkLst>
            <pc:docMk/>
            <pc:sldMk cId="3719714297" sldId="263"/>
            <ac:picMk id="5" creationId="{E2DE4D86-5EDF-2DF5-482D-0AC757D780E5}"/>
          </ac:picMkLst>
        </pc:picChg>
      </pc:sldChg>
      <pc:sldChg chg="modNotesTx">
        <pc:chgData name="Ziqing Liu" userId="20113ce3-4e8c-4eaa-a792-613b3e52886a" providerId="ADAL" clId="{7647F6DA-84E6-4065-910E-AC1B0A07A858}" dt="2026-05-15T00:25:20.559" v="3968" actId="20577"/>
        <pc:sldMkLst>
          <pc:docMk/>
          <pc:sldMk cId="4160441594" sldId="264"/>
        </pc:sldMkLst>
      </pc:sldChg>
      <pc:sldChg chg="modSp mod ord modNotesTx">
        <pc:chgData name="Ziqing Liu" userId="20113ce3-4e8c-4eaa-a792-613b3e52886a" providerId="ADAL" clId="{7647F6DA-84E6-4065-910E-AC1B0A07A858}" dt="2026-05-15T03:23:08.659" v="4786"/>
        <pc:sldMkLst>
          <pc:docMk/>
          <pc:sldMk cId="1820470890" sldId="265"/>
        </pc:sldMkLst>
        <pc:spChg chg="mod">
          <ac:chgData name="Ziqing Liu" userId="20113ce3-4e8c-4eaa-a792-613b3e52886a" providerId="ADAL" clId="{7647F6DA-84E6-4065-910E-AC1B0A07A858}" dt="2026-04-30T01:24:04.487" v="515" actId="20577"/>
          <ac:spMkLst>
            <pc:docMk/>
            <pc:sldMk cId="1820470890" sldId="265"/>
            <ac:spMk id="6" creationId="{5D17A225-B875-DA94-C728-918628A198AC}"/>
          </ac:spMkLst>
        </pc:spChg>
      </pc:sldChg>
      <pc:sldChg chg="modSp mod ord">
        <pc:chgData name="Ziqing Liu" userId="20113ce3-4e8c-4eaa-a792-613b3e52886a" providerId="ADAL" clId="{7647F6DA-84E6-4065-910E-AC1B0A07A858}" dt="2026-05-15T03:23:12.025" v="4788"/>
        <pc:sldMkLst>
          <pc:docMk/>
          <pc:sldMk cId="4088449915" sldId="266"/>
        </pc:sldMkLst>
        <pc:spChg chg="mod">
          <ac:chgData name="Ziqing Liu" userId="20113ce3-4e8c-4eaa-a792-613b3e52886a" providerId="ADAL" clId="{7647F6DA-84E6-4065-910E-AC1B0A07A858}" dt="2026-04-30T01:24:09.434" v="521" actId="20577"/>
          <ac:spMkLst>
            <pc:docMk/>
            <pc:sldMk cId="4088449915" sldId="266"/>
            <ac:spMk id="2" creationId="{58C8C730-BD99-2B19-3280-D8BFCB3AE2A7}"/>
          </ac:spMkLst>
        </pc:spChg>
      </pc:sldChg>
      <pc:sldChg chg="modSp mod ord">
        <pc:chgData name="Ziqing Liu" userId="20113ce3-4e8c-4eaa-a792-613b3e52886a" providerId="ADAL" clId="{7647F6DA-84E6-4065-910E-AC1B0A07A858}" dt="2026-05-15T03:23:16.033" v="4790"/>
        <pc:sldMkLst>
          <pc:docMk/>
          <pc:sldMk cId="1775554001" sldId="267"/>
        </pc:sldMkLst>
        <pc:spChg chg="mod">
          <ac:chgData name="Ziqing Liu" userId="20113ce3-4e8c-4eaa-a792-613b3e52886a" providerId="ADAL" clId="{7647F6DA-84E6-4065-910E-AC1B0A07A858}" dt="2026-04-30T01:24:15.284" v="527" actId="20577"/>
          <ac:spMkLst>
            <pc:docMk/>
            <pc:sldMk cId="1775554001" sldId="267"/>
            <ac:spMk id="2" creationId="{E447A658-75C0-F871-2CA1-675D5953E9C4}"/>
          </ac:spMkLst>
        </pc:spChg>
      </pc:sldChg>
      <pc:sldChg chg="modSp mod ord">
        <pc:chgData name="Ziqing Liu" userId="20113ce3-4e8c-4eaa-a792-613b3e52886a" providerId="ADAL" clId="{7647F6DA-84E6-4065-910E-AC1B0A07A858}" dt="2026-05-15T03:23:19.232" v="4792"/>
        <pc:sldMkLst>
          <pc:docMk/>
          <pc:sldMk cId="446253618" sldId="268"/>
        </pc:sldMkLst>
        <pc:spChg chg="mod">
          <ac:chgData name="Ziqing Liu" userId="20113ce3-4e8c-4eaa-a792-613b3e52886a" providerId="ADAL" clId="{7647F6DA-84E6-4065-910E-AC1B0A07A858}" dt="2026-04-30T01:24:20.987" v="533" actId="20577"/>
          <ac:spMkLst>
            <pc:docMk/>
            <pc:sldMk cId="446253618" sldId="268"/>
            <ac:spMk id="2" creationId="{702E50FB-E4C8-D52E-B0FE-BB45A3C57A83}"/>
          </ac:spMkLst>
        </pc:spChg>
      </pc:sldChg>
      <pc:sldChg chg="addSp delSp modSp mod modNotesTx">
        <pc:chgData name="Ziqing Liu" userId="20113ce3-4e8c-4eaa-a792-613b3e52886a" providerId="ADAL" clId="{7647F6DA-84E6-4065-910E-AC1B0A07A858}" dt="2026-05-15T03:39:42.724" v="4927" actId="20577"/>
        <pc:sldMkLst>
          <pc:docMk/>
          <pc:sldMk cId="3308895348" sldId="269"/>
        </pc:sldMkLst>
        <pc:spChg chg="mod">
          <ac:chgData name="Ziqing Liu" userId="20113ce3-4e8c-4eaa-a792-613b3e52886a" providerId="ADAL" clId="{7647F6DA-84E6-4065-910E-AC1B0A07A858}" dt="2026-05-15T00:25:54.280" v="3982" actId="20577"/>
          <ac:spMkLst>
            <pc:docMk/>
            <pc:sldMk cId="3308895348" sldId="269"/>
            <ac:spMk id="3" creationId="{75CEAE73-A454-A5D9-BF0B-1BC190E98C83}"/>
          </ac:spMkLst>
        </pc:spChg>
        <pc:picChg chg="add del">
          <ac:chgData name="Ziqing Liu" userId="20113ce3-4e8c-4eaa-a792-613b3e52886a" providerId="ADAL" clId="{7647F6DA-84E6-4065-910E-AC1B0A07A858}" dt="2026-05-15T03:37:28.985" v="4887" actId="478"/>
          <ac:picMkLst>
            <pc:docMk/>
            <pc:sldMk cId="3308895348" sldId="269"/>
            <ac:picMk id="5" creationId="{FDB2D665-709B-BCFF-2936-15477C7D5B8D}"/>
          </ac:picMkLst>
        </pc:picChg>
      </pc:sldChg>
      <pc:sldChg chg="modSp mod">
        <pc:chgData name="Ziqing Liu" userId="20113ce3-4e8c-4eaa-a792-613b3e52886a" providerId="ADAL" clId="{7647F6DA-84E6-4065-910E-AC1B0A07A858}" dt="2026-05-15T00:45:04.638" v="4343" actId="20577"/>
        <pc:sldMkLst>
          <pc:docMk/>
          <pc:sldMk cId="2551635289" sldId="270"/>
        </pc:sldMkLst>
        <pc:spChg chg="mod">
          <ac:chgData name="Ziqing Liu" userId="20113ce3-4e8c-4eaa-a792-613b3e52886a" providerId="ADAL" clId="{7647F6DA-84E6-4065-910E-AC1B0A07A858}" dt="2026-05-15T00:45:04.638" v="4343" actId="20577"/>
          <ac:spMkLst>
            <pc:docMk/>
            <pc:sldMk cId="2551635289" sldId="270"/>
            <ac:spMk id="3" creationId="{FFD0EB59-5046-2900-FE7E-DA5B4AD35E16}"/>
          </ac:spMkLst>
        </pc:spChg>
      </pc:sldChg>
      <pc:sldChg chg="modSp mod modNotesTx">
        <pc:chgData name="Ziqing Liu" userId="20113ce3-4e8c-4eaa-a792-613b3e52886a" providerId="ADAL" clId="{7647F6DA-84E6-4065-910E-AC1B0A07A858}" dt="2026-05-15T03:14:22.569" v="4770" actId="20577"/>
        <pc:sldMkLst>
          <pc:docMk/>
          <pc:sldMk cId="1684150992" sldId="271"/>
        </pc:sldMkLst>
        <pc:spChg chg="mod">
          <ac:chgData name="Ziqing Liu" userId="20113ce3-4e8c-4eaa-a792-613b3e52886a" providerId="ADAL" clId="{7647F6DA-84E6-4065-910E-AC1B0A07A858}" dt="2026-05-01T02:49:46.752" v="2393" actId="20577"/>
          <ac:spMkLst>
            <pc:docMk/>
            <pc:sldMk cId="1684150992" sldId="271"/>
            <ac:spMk id="2" creationId="{A06B37DB-4FA1-F2FE-5F48-EC8CCD83353A}"/>
          </ac:spMkLst>
        </pc:spChg>
        <pc:spChg chg="mod">
          <ac:chgData name="Ziqing Liu" userId="20113ce3-4e8c-4eaa-a792-613b3e52886a" providerId="ADAL" clId="{7647F6DA-84E6-4065-910E-AC1B0A07A858}" dt="2026-05-15T03:13:29.107" v="4756" actId="20577"/>
          <ac:spMkLst>
            <pc:docMk/>
            <pc:sldMk cId="1684150992" sldId="271"/>
            <ac:spMk id="3" creationId="{534FCC26-E232-AF3A-5BB8-150BCF7ED7CF}"/>
          </ac:spMkLst>
        </pc:spChg>
      </pc:sldChg>
      <pc:sldChg chg="addSp modSp mod modNotesTx">
        <pc:chgData name="Ziqing Liu" userId="20113ce3-4e8c-4eaa-a792-613b3e52886a" providerId="ADAL" clId="{7647F6DA-84E6-4065-910E-AC1B0A07A858}" dt="2026-05-15T03:14:39.006" v="4784" actId="20577"/>
        <pc:sldMkLst>
          <pc:docMk/>
          <pc:sldMk cId="4135181532" sldId="272"/>
        </pc:sldMkLst>
        <pc:spChg chg="mod">
          <ac:chgData name="Ziqing Liu" userId="20113ce3-4e8c-4eaa-a792-613b3e52886a" providerId="ADAL" clId="{7647F6DA-84E6-4065-910E-AC1B0A07A858}" dt="2026-05-15T03:14:39.006" v="4784" actId="20577"/>
          <ac:spMkLst>
            <pc:docMk/>
            <pc:sldMk cId="4135181532" sldId="272"/>
            <ac:spMk id="3" creationId="{DA16E06F-F081-53A3-84A4-2A6ED0ED5996}"/>
          </ac:spMkLst>
        </pc:spChg>
        <pc:picChg chg="add mod">
          <ac:chgData name="Ziqing Liu" userId="20113ce3-4e8c-4eaa-a792-613b3e52886a" providerId="ADAL" clId="{7647F6DA-84E6-4065-910E-AC1B0A07A858}" dt="2026-04-30T01:13:36.995" v="38"/>
          <ac:picMkLst>
            <pc:docMk/>
            <pc:sldMk cId="4135181532" sldId="272"/>
            <ac:picMk id="4" creationId="{F52AA396-A85B-B182-1509-77A7F6B12182}"/>
          </ac:picMkLst>
        </pc:picChg>
      </pc:sldChg>
      <pc:sldChg chg="addSp delSp modSp mod modNotesTx">
        <pc:chgData name="Ziqing Liu" userId="20113ce3-4e8c-4eaa-a792-613b3e52886a" providerId="ADAL" clId="{7647F6DA-84E6-4065-910E-AC1B0A07A858}" dt="2026-05-15T02:39:03.742" v="4481" actId="20577"/>
        <pc:sldMkLst>
          <pc:docMk/>
          <pc:sldMk cId="161381395" sldId="273"/>
        </pc:sldMkLst>
        <pc:spChg chg="mod">
          <ac:chgData name="Ziqing Liu" userId="20113ce3-4e8c-4eaa-a792-613b3e52886a" providerId="ADAL" clId="{7647F6DA-84E6-4065-910E-AC1B0A07A858}" dt="2026-05-12T07:14:47.983" v="3711" actId="20577"/>
          <ac:spMkLst>
            <pc:docMk/>
            <pc:sldMk cId="161381395" sldId="273"/>
            <ac:spMk id="2" creationId="{B18E2FA7-3528-B5F6-DCC3-6380A3F928B8}"/>
          </ac:spMkLst>
        </pc:spChg>
        <pc:picChg chg="add mod ord">
          <ac:chgData name="Ziqing Liu" userId="20113ce3-4e8c-4eaa-a792-613b3e52886a" providerId="ADAL" clId="{7647F6DA-84E6-4065-910E-AC1B0A07A858}" dt="2026-05-12T07:14:38.599" v="3687" actId="1076"/>
          <ac:picMkLst>
            <pc:docMk/>
            <pc:sldMk cId="161381395" sldId="273"/>
            <ac:picMk id="8" creationId="{9EB8DF53-DD2A-7EC6-EEE9-2BA24FC5B165}"/>
          </ac:picMkLst>
        </pc:picChg>
      </pc:sldChg>
      <pc:sldChg chg="addSp modSp new mod modNotesTx">
        <pc:chgData name="Ziqing Liu" userId="20113ce3-4e8c-4eaa-a792-613b3e52886a" providerId="ADAL" clId="{7647F6DA-84E6-4065-910E-AC1B0A07A858}" dt="2026-05-15T00:49:09.742" v="4480" actId="20577"/>
        <pc:sldMkLst>
          <pc:docMk/>
          <pc:sldMk cId="553690055" sldId="277"/>
        </pc:sldMkLst>
        <pc:spChg chg="mod">
          <ac:chgData name="Ziqing Liu" userId="20113ce3-4e8c-4eaa-a792-613b3e52886a" providerId="ADAL" clId="{7647F6DA-84E6-4065-910E-AC1B0A07A858}" dt="2026-05-15T00:48:33.265" v="4466" actId="20577"/>
          <ac:spMkLst>
            <pc:docMk/>
            <pc:sldMk cId="553690055" sldId="277"/>
            <ac:spMk id="2" creationId="{1CB5020F-9C20-B7A9-E41A-55AAE3D5476A}"/>
          </ac:spMkLst>
        </pc:spChg>
        <pc:spChg chg="mod">
          <ac:chgData name="Ziqing Liu" userId="20113ce3-4e8c-4eaa-a792-613b3e52886a" providerId="ADAL" clId="{7647F6DA-84E6-4065-910E-AC1B0A07A858}" dt="2026-05-15T00:41:27.699" v="4266" actId="20577"/>
          <ac:spMkLst>
            <pc:docMk/>
            <pc:sldMk cId="553690055" sldId="277"/>
            <ac:spMk id="3" creationId="{DEB5D11C-73B4-CF12-50B3-6C4805004ADA}"/>
          </ac:spMkLst>
        </pc:spChg>
        <pc:picChg chg="add mod">
          <ac:chgData name="Ziqing Liu" userId="20113ce3-4e8c-4eaa-a792-613b3e52886a" providerId="ADAL" clId="{7647F6DA-84E6-4065-910E-AC1B0A07A858}" dt="2026-05-15T00:33:29.039" v="4039" actId="1076"/>
          <ac:picMkLst>
            <pc:docMk/>
            <pc:sldMk cId="553690055" sldId="277"/>
            <ac:picMk id="5" creationId="{D509EA64-CD86-7F76-4243-83A2503D14D2}"/>
          </ac:picMkLst>
        </pc:picChg>
      </pc:sldChg>
      <pc:sldChg chg="delSp modSp new mod">
        <pc:chgData name="Ziqing Liu" userId="20113ce3-4e8c-4eaa-a792-613b3e52886a" providerId="ADAL" clId="{7647F6DA-84E6-4065-910E-AC1B0A07A858}" dt="2026-05-15T00:36:57.248" v="4080" actId="20577"/>
        <pc:sldMkLst>
          <pc:docMk/>
          <pc:sldMk cId="636768404" sldId="278"/>
        </pc:sldMkLst>
        <pc:spChg chg="del">
          <ac:chgData name="Ziqing Liu" userId="20113ce3-4e8c-4eaa-a792-613b3e52886a" providerId="ADAL" clId="{7647F6DA-84E6-4065-910E-AC1B0A07A858}" dt="2026-05-15T00:33:21.990" v="4038" actId="478"/>
          <ac:spMkLst>
            <pc:docMk/>
            <pc:sldMk cId="636768404" sldId="278"/>
            <ac:spMk id="2" creationId="{42DEAD53-43A5-BD92-67E4-0ECA48E06E33}"/>
          </ac:spMkLst>
        </pc:spChg>
        <pc:spChg chg="mod">
          <ac:chgData name="Ziqing Liu" userId="20113ce3-4e8c-4eaa-a792-613b3e52886a" providerId="ADAL" clId="{7647F6DA-84E6-4065-910E-AC1B0A07A858}" dt="2026-05-15T00:36:57.248" v="4080" actId="20577"/>
          <ac:spMkLst>
            <pc:docMk/>
            <pc:sldMk cId="636768404" sldId="278"/>
            <ac:spMk id="3" creationId="{B7BAAE90-231D-70F2-9B56-962B834D014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EF466A-A959-4E0E-8024-BDD72A80DBF2}" type="datetimeFigureOut">
              <a:rPr lang="en-AU" smtClean="0"/>
              <a:t>15/05/2026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E2FBA2-9175-4A3F-A6D1-7B9260A1E964}" type="slidenum">
              <a:rPr lang="en-AU" smtClean="0"/>
              <a:t>‹#›</a:t>
            </a:fld>
            <a:endParaRPr lang="en-AU"/>
          </a:p>
        </p:txBody>
      </p:sp>
    </p:spTree>
    <p:extLst>
      <p:ext uri="{BB962C8B-B14F-4D97-AF65-F5344CB8AC3E}">
        <p14:creationId xmlns:p14="http://schemas.microsoft.com/office/powerpoint/2010/main" val="338157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LB is  rich and M9 is minimal </a:t>
            </a:r>
          </a:p>
          <a:p>
            <a:r>
              <a:rPr lang="en-AU" sz="1200" kern="1200" dirty="0">
                <a:solidFill>
                  <a:schemeClr val="tx1"/>
                </a:solidFill>
                <a:effectLst/>
                <a:latin typeface="+mn-lt"/>
                <a:ea typeface="+mn-ea"/>
                <a:cs typeface="+mn-cs"/>
              </a:rPr>
              <a:t>review I will define fitness effect as the effect a mutation has on an organism’s ability to survive in a given environment. So in this case I will be using max od and </a:t>
            </a:r>
            <a:r>
              <a:rPr lang="en-AU" sz="1200" kern="1200" dirty="0" err="1">
                <a:solidFill>
                  <a:schemeClr val="tx1"/>
                </a:solidFill>
                <a:effectLst/>
                <a:latin typeface="+mn-lt"/>
                <a:ea typeface="+mn-ea"/>
                <a:cs typeface="+mn-cs"/>
              </a:rPr>
              <a:t>muamx</a:t>
            </a:r>
            <a:r>
              <a:rPr lang="en-AU" sz="1200" kern="1200" dirty="0">
                <a:solidFill>
                  <a:schemeClr val="tx1"/>
                </a:solidFill>
                <a:effectLst/>
                <a:latin typeface="+mn-lt"/>
                <a:ea typeface="+mn-ea"/>
                <a:cs typeface="+mn-cs"/>
              </a:rPr>
              <a:t> as a measurement of fitness </a:t>
            </a: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 This definition is broad and inclusive but most importantly does not propose an assumption of whether it is good or bad. Conversely, cost of resistance is defined as the price an organism pays to survive that is usually in the reduction of fitness in an environment due to factors like antibiotics, pesticides, and toxins. With the definitions I have listed above in mind the main issue we have with the term cost of resistance is that it is too narrow and that it is too much of an assumption often made too early. This is because if we have already </a:t>
            </a:r>
            <a:r>
              <a:rPr lang="en-AU" sz="1200" kern="1200" dirty="0" err="1">
                <a:solidFill>
                  <a:schemeClr val="tx1"/>
                </a:solidFill>
                <a:effectLst/>
                <a:latin typeface="+mn-lt"/>
                <a:ea typeface="+mn-ea"/>
                <a:cs typeface="+mn-cs"/>
              </a:rPr>
              <a:t>labled</a:t>
            </a:r>
            <a:r>
              <a:rPr lang="en-AU" sz="1200" kern="1200" dirty="0">
                <a:solidFill>
                  <a:schemeClr val="tx1"/>
                </a:solidFill>
                <a:effectLst/>
                <a:latin typeface="+mn-lt"/>
                <a:ea typeface="+mn-ea"/>
                <a:cs typeface="+mn-cs"/>
              </a:rPr>
              <a:t> an effect as a “cost” we are already assuming it is inherently negative when in reality this “cost” that we think we see in our specific treated environment could be neutral or even beneficial in another environment.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2</a:t>
            </a:fld>
            <a:endParaRPr lang="en-AU"/>
          </a:p>
        </p:txBody>
      </p:sp>
    </p:spTree>
    <p:extLst>
      <p:ext uri="{BB962C8B-B14F-4D97-AF65-F5344CB8AC3E}">
        <p14:creationId xmlns:p14="http://schemas.microsoft.com/office/powerpoint/2010/main" val="638724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Explain mutation list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how we set up the </a:t>
            </a:r>
            <a:r>
              <a:rPr lang="en-US" dirty="0" err="1"/>
              <a:t>epxeiremnt</a:t>
            </a:r>
            <a:r>
              <a:rPr lang="en-US" dirty="0"/>
              <a:t> was that we test mutants under 1 temperature in 2 media. How we do this is we split a 96 well plate in 2 and After we exclude the border there are 60 wells left then if we blank 2 one </a:t>
            </a:r>
            <a:r>
              <a:rPr lang="en-US" dirty="0" err="1"/>
              <a:t>ofr</a:t>
            </a:r>
            <a:r>
              <a:rPr lang="en-US" dirty="0"/>
              <a:t> m9 one for </a:t>
            </a:r>
            <a:r>
              <a:rPr lang="en-US" dirty="0" err="1"/>
              <a:t>lb</a:t>
            </a:r>
            <a:r>
              <a:rPr lang="en-US" dirty="0"/>
              <a:t> it will give us 58 wells which nicely leaves us with 29 wells per growth media which fits nicely with my 28 mutants and WT. This way we can test the effect of temperature on our mutant across the two different media.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3</a:t>
            </a:fld>
            <a:endParaRPr lang="en-AU"/>
          </a:p>
        </p:txBody>
      </p:sp>
    </p:spTree>
    <p:extLst>
      <p:ext uri="{BB962C8B-B14F-4D97-AF65-F5344CB8AC3E}">
        <p14:creationId xmlns:p14="http://schemas.microsoft.com/office/powerpoint/2010/main" val="2918800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Explain how the spec fits with shiny plate </a:t>
            </a:r>
          </a:p>
          <a:p>
            <a:endParaRPr lang="en-US" dirty="0"/>
          </a:p>
          <a:p>
            <a:r>
              <a:rPr lang="en-US" dirty="0"/>
              <a:t>Keep in mind the top half is m9 and the bottom half is LB. As expected LB grew much better than m9 however they grew too well at 42c for this temperature to be considered stressful  </a:t>
            </a:r>
          </a:p>
          <a:p>
            <a:endParaRPr lang="en-US" dirty="0"/>
          </a:p>
          <a:p>
            <a:r>
              <a:rPr lang="en-US" dirty="0"/>
              <a:t>Andrew mention you can see the sharp stop once while in LB its much more smooth slope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4</a:t>
            </a:fld>
            <a:endParaRPr lang="en-AU"/>
          </a:p>
        </p:txBody>
      </p:sp>
    </p:spTree>
    <p:extLst>
      <p:ext uri="{BB962C8B-B14F-4D97-AF65-F5344CB8AC3E}">
        <p14:creationId xmlns:p14="http://schemas.microsoft.com/office/powerpoint/2010/main" val="1020688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I upped the temp to 45 and from what we can see the bacteria in m9 has completely stopped growing however LB still looks too good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5</a:t>
            </a:fld>
            <a:endParaRPr lang="en-AU"/>
          </a:p>
        </p:txBody>
      </p:sp>
    </p:spTree>
    <p:extLst>
      <p:ext uri="{BB962C8B-B14F-4D97-AF65-F5344CB8AC3E}">
        <p14:creationId xmlns:p14="http://schemas.microsoft.com/office/powerpoint/2010/main" val="3200130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Finally I changed the temp to 48 and we finally see no growth.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6</a:t>
            </a:fld>
            <a:endParaRPr lang="en-AU"/>
          </a:p>
        </p:txBody>
      </p:sp>
    </p:spTree>
    <p:extLst>
      <p:ext uri="{BB962C8B-B14F-4D97-AF65-F5344CB8AC3E}">
        <p14:creationId xmlns:p14="http://schemas.microsoft.com/office/powerpoint/2010/main" val="628622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I might attempt this in winter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7</a:t>
            </a:fld>
            <a:endParaRPr lang="en-AU"/>
          </a:p>
        </p:txBody>
      </p:sp>
    </p:spTree>
    <p:extLst>
      <p:ext uri="{BB962C8B-B14F-4D97-AF65-F5344CB8AC3E}">
        <p14:creationId xmlns:p14="http://schemas.microsoft.com/office/powerpoint/2010/main" val="293951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err="1"/>
              <a:t>Tempeartrue</a:t>
            </a:r>
            <a:r>
              <a:rPr lang="en-US" dirty="0"/>
              <a:t> one the side mutants at the bottom. They start from </a:t>
            </a:r>
            <a:r>
              <a:rPr lang="en-US" dirty="0" err="1"/>
              <a:t>groing</a:t>
            </a:r>
            <a:r>
              <a:rPr lang="en-US" dirty="0"/>
              <a:t> really well to not at all They reach saturation at 30-37 in LB and 42-37-30 in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8</a:t>
            </a:fld>
            <a:endParaRPr lang="en-AU"/>
          </a:p>
        </p:txBody>
      </p:sp>
    </p:spTree>
    <p:extLst>
      <p:ext uri="{BB962C8B-B14F-4D97-AF65-F5344CB8AC3E}">
        <p14:creationId xmlns:p14="http://schemas.microsoft.com/office/powerpoint/2010/main" val="141443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Sweet spot for growth is between 37 and 42 in </a:t>
            </a:r>
            <a:r>
              <a:rPr lang="en-US" dirty="0" err="1"/>
              <a:t>lb</a:t>
            </a:r>
            <a:r>
              <a:rPr lang="en-US" dirty="0"/>
              <a:t> and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9</a:t>
            </a:fld>
            <a:endParaRPr lang="en-AU"/>
          </a:p>
        </p:txBody>
      </p:sp>
    </p:spTree>
    <p:extLst>
      <p:ext uri="{BB962C8B-B14F-4D97-AF65-F5344CB8AC3E}">
        <p14:creationId xmlns:p14="http://schemas.microsoft.com/office/powerpoint/2010/main" val="2922317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OD is highest for most mutants grown in M9 at 42c which is not traditionally optimal. Even though the mutants are growing better in LB than M9 at high temp its interesting that the optimal for LB seems to be at 30-37c while m9 it seems to be 42 and maybe 37. the high </a:t>
            </a:r>
            <a:r>
              <a:rPr lang="en-US" dirty="0" err="1"/>
              <a:t>mumax</a:t>
            </a:r>
            <a:r>
              <a:rPr lang="en-US" dirty="0"/>
              <a:t> for LB at 42 is not translating to OD (even though our mutants can grow at 45 in LB it is seems to prefer 30-37 while although mutants don’t grow in M9 at 45 it seems to prefer </a:t>
            </a:r>
            <a:r>
              <a:rPr lang="en-US"/>
              <a:t>42c)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42 LB has a high </a:t>
            </a:r>
            <a:r>
              <a:rPr lang="en-US" b="0" dirty="0" err="1"/>
              <a:t>mumax</a:t>
            </a:r>
            <a:r>
              <a:rPr lang="en-US" b="0" dirty="0"/>
              <a:t> but low OD which might be stress response as when under stress some bacteria can grow fast but ultimately cannot sustain it, resulting in low final yield. Meanhile although the </a:t>
            </a:r>
            <a:r>
              <a:rPr lang="en-US" b="0" dirty="0" err="1"/>
              <a:t>mumax</a:t>
            </a:r>
            <a:r>
              <a:rPr lang="en-US" b="0" dirty="0"/>
              <a:t> is low at 30c the OD is high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r>
              <a:rPr lang="en-AU" sz="1200" b="1" kern="1200" dirty="0">
                <a:solidFill>
                  <a:schemeClr val="tx1"/>
                </a:solidFill>
                <a:effectLst/>
                <a:latin typeface="+mn-lt"/>
                <a:ea typeface="+mn-ea"/>
                <a:cs typeface="+mn-cs"/>
              </a:rPr>
              <a:t>our results show that our mutations mostly grow the same as WT</a:t>
            </a:r>
            <a:endParaRPr lang="en-AU" sz="1200" kern="1200" dirty="0">
              <a:solidFill>
                <a:schemeClr val="tx1"/>
              </a:solidFill>
              <a:effectLst/>
              <a:latin typeface="+mn-lt"/>
              <a:ea typeface="+mn-ea"/>
              <a:cs typeface="+mn-cs"/>
            </a:endParaRPr>
          </a:p>
          <a:p>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does not provide benefit because WT grew just as well without it??</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Other side is that we expect that </a:t>
            </a:r>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mutations will be deleterious at a stressful temperature without RIF, but it seems to be fine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So while it does not provide extra benefit it seems to not be a burden on the bacteria </a:t>
            </a:r>
            <a:endParaRPr lang="en-AU"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10</a:t>
            </a:fld>
            <a:endParaRPr lang="en-AU"/>
          </a:p>
        </p:txBody>
      </p:sp>
    </p:spTree>
    <p:extLst>
      <p:ext uri="{BB962C8B-B14F-4D97-AF65-F5344CB8AC3E}">
        <p14:creationId xmlns:p14="http://schemas.microsoft.com/office/powerpoint/2010/main" val="368667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Explain the table</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mutation rate is unevenly distributed why?</a:t>
            </a:r>
          </a:p>
          <a:p>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hypothesis is that the mutations we see less of are not “good” mutants and the cost is causing them to die</a:t>
            </a:r>
          </a:p>
        </p:txBody>
      </p:sp>
      <p:sp>
        <p:nvSpPr>
          <p:cNvPr id="4" name="Slide Number Placeholder 3"/>
          <p:cNvSpPr>
            <a:spLocks noGrp="1"/>
          </p:cNvSpPr>
          <p:nvPr>
            <p:ph type="sldNum" sz="quarter" idx="5"/>
          </p:nvPr>
        </p:nvSpPr>
        <p:spPr/>
        <p:txBody>
          <a:bodyPr/>
          <a:lstStyle/>
          <a:p>
            <a:fld id="{FAE2FBA2-9175-4A3F-A6D1-7B9260A1E964}" type="slidenum">
              <a:rPr lang="en-AU" smtClean="0"/>
              <a:t>12</a:t>
            </a:fld>
            <a:endParaRPr lang="en-AU"/>
          </a:p>
        </p:txBody>
      </p:sp>
    </p:spTree>
    <p:extLst>
      <p:ext uri="{BB962C8B-B14F-4D97-AF65-F5344CB8AC3E}">
        <p14:creationId xmlns:p14="http://schemas.microsoft.com/office/powerpoint/2010/main" val="25042085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To test if this is true …</a:t>
            </a:r>
          </a:p>
          <a:p>
            <a:r>
              <a:rPr lang="en-US" dirty="0"/>
              <a:t>Testing to see if there is correlation between mutation rate and survivability </a:t>
            </a:r>
          </a:p>
          <a:p>
            <a:endParaRPr lang="en-US" dirty="0"/>
          </a:p>
          <a:p>
            <a:r>
              <a:rPr lang="en-US" dirty="0" err="1"/>
              <a:t>i</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13</a:t>
            </a:fld>
            <a:endParaRPr lang="en-AU"/>
          </a:p>
        </p:txBody>
      </p:sp>
    </p:spTree>
    <p:extLst>
      <p:ext uri="{BB962C8B-B14F-4D97-AF65-F5344CB8AC3E}">
        <p14:creationId xmlns:p14="http://schemas.microsoft.com/office/powerpoint/2010/main" val="1400284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Ideally we see the mutants with the highest mutation rate to have the most number of colonies and the rare mutants to have much or less as they are all dead (hopefully this supports the idea that the reason we see so many of the same mutation pop up is because it managed to live longer than the rare mutations </a:t>
            </a:r>
          </a:p>
          <a:p>
            <a:endParaRPr lang="en-US" dirty="0"/>
          </a:p>
          <a:p>
            <a:endParaRPr lang="en-AU" dirty="0"/>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14</a:t>
            </a:fld>
            <a:endParaRPr lang="en-AU"/>
          </a:p>
        </p:txBody>
      </p:sp>
    </p:spTree>
    <p:extLst>
      <p:ext uri="{BB962C8B-B14F-4D97-AF65-F5344CB8AC3E}">
        <p14:creationId xmlns:p14="http://schemas.microsoft.com/office/powerpoint/2010/main" val="19813945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Negin’s Only the GGC and the GGT codons can mutate toward codons coding for aspartic acid (A) in a single step so it will be the most likely </a:t>
            </a:r>
          </a:p>
          <a:p>
            <a:endParaRPr lang="en-US" dirty="0"/>
          </a:p>
          <a:p>
            <a:pPr rtl="0" fontAlgn="t"/>
            <a:r>
              <a:rPr lang="en-AU" sz="1200" kern="1200" dirty="0">
                <a:solidFill>
                  <a:schemeClr val="tx1"/>
                </a:solidFill>
                <a:effectLst/>
                <a:latin typeface="+mn-lt"/>
                <a:ea typeface="+mn-ea"/>
                <a:cs typeface="+mn-cs"/>
              </a:rPr>
              <a:t>TCG→TTG is a single-step mutation unique to MTB</a:t>
            </a:r>
          </a:p>
          <a:p>
            <a:pPr rtl="0" fontAlgn="t"/>
            <a:r>
              <a:rPr lang="en-AU" sz="1200" kern="1200" dirty="0">
                <a:solidFill>
                  <a:schemeClr val="tx1"/>
                </a:solidFill>
                <a:effectLst/>
                <a:latin typeface="+mn-lt"/>
                <a:ea typeface="+mn-ea"/>
                <a:cs typeface="+mn-cs"/>
              </a:rPr>
              <a:t>S531L gives high MIC but impairs growth less than 526/516</a:t>
            </a:r>
          </a:p>
          <a:p>
            <a:pPr rtl="0" fontAlgn="t"/>
            <a:r>
              <a:rPr lang="en-AU" sz="1200" kern="1200" dirty="0">
                <a:solidFill>
                  <a:schemeClr val="tx1"/>
                </a:solidFill>
                <a:effectLst/>
                <a:latin typeface="+mn-lt"/>
                <a:ea typeface="+mn-ea"/>
                <a:cs typeface="+mn-cs"/>
              </a:rPr>
              <a:t>S531L uniquely recruits </a:t>
            </a:r>
            <a:r>
              <a:rPr lang="en-AU" sz="1200" kern="1200" dirty="0" err="1">
                <a:solidFill>
                  <a:schemeClr val="tx1"/>
                </a:solidFill>
                <a:effectLst/>
                <a:latin typeface="+mn-lt"/>
                <a:ea typeface="+mn-ea"/>
                <a:cs typeface="+mn-cs"/>
              </a:rPr>
              <a:t>rpoA</a:t>
            </a:r>
            <a:r>
              <a:rPr lang="en-AU" sz="1200" kern="1200" dirty="0">
                <a:solidFill>
                  <a:schemeClr val="tx1"/>
                </a:solidFill>
                <a:effectLst/>
                <a:latin typeface="+mn-lt"/>
                <a:ea typeface="+mn-ea"/>
                <a:cs typeface="+mn-cs"/>
              </a:rPr>
              <a:t>/C compensatory mutations</a:t>
            </a:r>
          </a:p>
          <a:p>
            <a:pPr rtl="0" fontAlgn="t"/>
            <a:r>
              <a:rPr lang="en-AU" sz="1200" kern="1200" dirty="0">
                <a:solidFill>
                  <a:schemeClr val="tx1"/>
                </a:solidFill>
                <a:effectLst/>
                <a:latin typeface="+mn-lt"/>
                <a:ea typeface="+mn-ea"/>
                <a:cs typeface="+mn-cs"/>
              </a:rPr>
              <a:t>Compensated S531L strains spread clonally</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15</a:t>
            </a:fld>
            <a:endParaRPr lang="en-AU"/>
          </a:p>
        </p:txBody>
      </p:sp>
    </p:spTree>
    <p:extLst>
      <p:ext uri="{BB962C8B-B14F-4D97-AF65-F5344CB8AC3E}">
        <p14:creationId xmlns:p14="http://schemas.microsoft.com/office/powerpoint/2010/main" val="962786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Red line is the average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17</a:t>
            </a:fld>
            <a:endParaRPr lang="en-AU"/>
          </a:p>
        </p:txBody>
      </p:sp>
    </p:spTree>
    <p:extLst>
      <p:ext uri="{BB962C8B-B14F-4D97-AF65-F5344CB8AC3E}">
        <p14:creationId xmlns:p14="http://schemas.microsoft.com/office/powerpoint/2010/main" val="31029773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7611B22-EA13-474B-83BA-8A12F66AADAF}" type="datetimeFigureOut">
              <a:rPr lang="en-AU" smtClean="0"/>
              <a:t>15/05/2026</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7773202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15/05/2026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726762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611B22-EA13-474B-83BA-8A12F66AADAF}" type="datetimeFigureOut">
              <a:rPr lang="en-AU" smtClean="0"/>
              <a:t>15/05/2026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965391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611B22-EA13-474B-83BA-8A12F66AADAF}" type="datetimeFigureOut">
              <a:rPr lang="en-AU" smtClean="0"/>
              <a:t>15/05/2026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66387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611B22-EA13-474B-83BA-8A12F66AADAF}" type="datetimeFigureOut">
              <a:rPr lang="en-AU" smtClean="0"/>
              <a:t>15/05/2026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577409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611B22-EA13-474B-83BA-8A12F66AADAF}" type="datetimeFigureOut">
              <a:rPr lang="en-AU" smtClean="0"/>
              <a:t>15/05/2026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407704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11B22-EA13-474B-83BA-8A12F66AADAF}" type="datetimeFigureOut">
              <a:rPr lang="en-AU" smtClean="0"/>
              <a:t>15/05/2026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110573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15/05/2026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84310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15/05/2026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000285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15/05/2026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1065701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15/05/2026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132701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E7611B22-EA13-474B-83BA-8A12F66AADAF}" type="datetimeFigureOut">
              <a:rPr lang="en-AU" smtClean="0"/>
              <a:t>15/05/2026</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A7A6B84-712C-4447-9CE1-C6658B4CC8CE}" type="slidenum">
              <a:rPr lang="en-AU" smtClean="0"/>
              <a:t>‹#›</a:t>
            </a:fld>
            <a:endParaRPr lang="en-AU"/>
          </a:p>
        </p:txBody>
      </p:sp>
    </p:spTree>
    <p:extLst>
      <p:ext uri="{BB962C8B-B14F-4D97-AF65-F5344CB8AC3E}">
        <p14:creationId xmlns:p14="http://schemas.microsoft.com/office/powerpoint/2010/main" val="370872640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101/2024.11.05.622190"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0A804-B0AB-8799-A597-19D0395CD384}"/>
              </a:ext>
            </a:extLst>
          </p:cNvPr>
          <p:cNvSpPr>
            <a:spLocks noGrp="1"/>
          </p:cNvSpPr>
          <p:nvPr>
            <p:ph type="ctrTitle"/>
          </p:nvPr>
        </p:nvSpPr>
        <p:spPr/>
        <p:txBody>
          <a:bodyPr/>
          <a:lstStyle/>
          <a:p>
            <a:r>
              <a:rPr lang="en-US" dirty="0"/>
              <a:t>Research Update </a:t>
            </a:r>
            <a:endParaRPr lang="en-AU" dirty="0"/>
          </a:p>
        </p:txBody>
      </p:sp>
      <p:sp>
        <p:nvSpPr>
          <p:cNvPr id="3" name="Subtitle 2">
            <a:extLst>
              <a:ext uri="{FF2B5EF4-FFF2-40B4-BE49-F238E27FC236}">
                <a16:creationId xmlns:a16="http://schemas.microsoft.com/office/drawing/2014/main" id="{9C7B2356-2320-DDCE-5543-C9B60EC3A997}"/>
              </a:ext>
            </a:extLst>
          </p:cNvPr>
          <p:cNvSpPr>
            <a:spLocks noGrp="1"/>
          </p:cNvSpPr>
          <p:nvPr>
            <p:ph type="subTitle" idx="1"/>
          </p:nvPr>
        </p:nvSpPr>
        <p:spPr/>
        <p:txBody>
          <a:bodyPr/>
          <a:lstStyle/>
          <a:p>
            <a:r>
              <a:rPr lang="en-US" dirty="0"/>
              <a:t>Edward Liu 01/05/2026 </a:t>
            </a:r>
            <a:endParaRPr lang="en-AU" dirty="0"/>
          </a:p>
        </p:txBody>
      </p:sp>
    </p:spTree>
    <p:extLst>
      <p:ext uri="{BB962C8B-B14F-4D97-AF65-F5344CB8AC3E}">
        <p14:creationId xmlns:p14="http://schemas.microsoft.com/office/powerpoint/2010/main" val="117510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A34F-6776-B085-331E-74C0279DCB4D}"/>
              </a:ext>
            </a:extLst>
          </p:cNvPr>
          <p:cNvSpPr>
            <a:spLocks noGrp="1"/>
          </p:cNvSpPr>
          <p:nvPr>
            <p:ph type="title"/>
          </p:nvPr>
        </p:nvSpPr>
        <p:spPr/>
        <p:txBody>
          <a:bodyPr/>
          <a:lstStyle/>
          <a:p>
            <a:r>
              <a:rPr lang="en-US" dirty="0"/>
              <a:t>Chapter 1 </a:t>
            </a:r>
            <a:endParaRPr lang="en-AU" dirty="0"/>
          </a:p>
        </p:txBody>
      </p:sp>
      <p:sp>
        <p:nvSpPr>
          <p:cNvPr id="3" name="Content Placeholder 2">
            <a:extLst>
              <a:ext uri="{FF2B5EF4-FFF2-40B4-BE49-F238E27FC236}">
                <a16:creationId xmlns:a16="http://schemas.microsoft.com/office/drawing/2014/main" id="{CA4F29F4-AEB2-D0FB-3CE6-20070AD29B70}"/>
              </a:ext>
            </a:extLst>
          </p:cNvPr>
          <p:cNvSpPr>
            <a:spLocks noGrp="1"/>
          </p:cNvSpPr>
          <p:nvPr>
            <p:ph idx="1"/>
          </p:nvPr>
        </p:nvSpPr>
        <p:spPr/>
        <p:txBody>
          <a:bodyPr/>
          <a:lstStyle/>
          <a:p>
            <a:r>
              <a:rPr lang="en-US" dirty="0"/>
              <a:t>Looking at the fitness effect of E. coli with </a:t>
            </a:r>
            <a:r>
              <a:rPr lang="en-US" dirty="0" err="1"/>
              <a:t>rpoB</a:t>
            </a:r>
            <a:r>
              <a:rPr lang="en-US" dirty="0"/>
              <a:t> mutations from our lab </a:t>
            </a:r>
          </a:p>
          <a:p>
            <a:r>
              <a:rPr lang="en-US" dirty="0"/>
              <a:t>Growing them across a wide temperature spectrum ideally from 22</a:t>
            </a:r>
            <a:r>
              <a:rPr lang="en-AU" dirty="0"/>
              <a:t>°C</a:t>
            </a:r>
            <a:r>
              <a:rPr lang="en-US" dirty="0"/>
              <a:t>-42</a:t>
            </a:r>
            <a:r>
              <a:rPr lang="en-AU" dirty="0"/>
              <a:t>°C</a:t>
            </a:r>
          </a:p>
          <a:p>
            <a:r>
              <a:rPr lang="en-AU" dirty="0"/>
              <a:t>Also across two types of media LB and M9 </a:t>
            </a:r>
            <a:endParaRPr lang="en-US" dirty="0"/>
          </a:p>
          <a:p>
            <a:endParaRPr lang="en-US" dirty="0"/>
          </a:p>
          <a:p>
            <a:endParaRPr lang="en-AU" dirty="0"/>
          </a:p>
        </p:txBody>
      </p:sp>
    </p:spTree>
    <p:extLst>
      <p:ext uri="{BB962C8B-B14F-4D97-AF65-F5344CB8AC3E}">
        <p14:creationId xmlns:p14="http://schemas.microsoft.com/office/powerpoint/2010/main" val="2040666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B637-53FF-EF31-1E67-5F6056B77117}"/>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CFDBA41F-E832-2EAA-7EFE-45CC239BAE62}"/>
              </a:ext>
            </a:extLst>
          </p:cNvPr>
          <p:cNvSpPr>
            <a:spLocks noGrp="1"/>
          </p:cNvSpPr>
          <p:nvPr>
            <p:ph idx="1"/>
          </p:nvPr>
        </p:nvSpPr>
        <p:spPr/>
        <p:txBody>
          <a:bodyPr/>
          <a:lstStyle/>
          <a:p>
            <a:r>
              <a:rPr lang="en-US" dirty="0"/>
              <a:t>Picked 28 mutants and the WT to test </a:t>
            </a:r>
          </a:p>
          <a:p>
            <a:pPr marL="0" indent="0">
              <a:buNone/>
            </a:pPr>
            <a:endParaRPr lang="en-US" dirty="0"/>
          </a:p>
          <a:p>
            <a:endParaRPr lang="en-US" dirty="0"/>
          </a:p>
          <a:p>
            <a:endParaRPr lang="en-US" dirty="0"/>
          </a:p>
          <a:p>
            <a:endParaRPr lang="en-US" dirty="0"/>
          </a:p>
          <a:p>
            <a:endParaRPr lang="en-US" dirty="0"/>
          </a:p>
          <a:p>
            <a:endParaRPr lang="en-AU" dirty="0"/>
          </a:p>
        </p:txBody>
      </p:sp>
      <p:pic>
        <p:nvPicPr>
          <p:cNvPr id="5" name="Picture 4">
            <a:extLst>
              <a:ext uri="{FF2B5EF4-FFF2-40B4-BE49-F238E27FC236}">
                <a16:creationId xmlns:a16="http://schemas.microsoft.com/office/drawing/2014/main" id="{CDB297E6-9427-8FC9-52E9-2B5FAAF992D7}"/>
              </a:ext>
            </a:extLst>
          </p:cNvPr>
          <p:cNvPicPr>
            <a:picLocks noChangeAspect="1"/>
          </p:cNvPicPr>
          <p:nvPr/>
        </p:nvPicPr>
        <p:blipFill>
          <a:blip r:embed="rId3"/>
          <a:stretch>
            <a:fillRect/>
          </a:stretch>
        </p:blipFill>
        <p:spPr>
          <a:xfrm>
            <a:off x="992701" y="2785379"/>
            <a:ext cx="5506070" cy="3826718"/>
          </a:xfrm>
          <a:prstGeom prst="rect">
            <a:avLst/>
          </a:prstGeom>
        </p:spPr>
      </p:pic>
      <p:pic>
        <p:nvPicPr>
          <p:cNvPr id="7" name="Picture 6">
            <a:extLst>
              <a:ext uri="{FF2B5EF4-FFF2-40B4-BE49-F238E27FC236}">
                <a16:creationId xmlns:a16="http://schemas.microsoft.com/office/drawing/2014/main" id="{B36CEB3D-BE1E-EAFA-D579-485596E55D33}"/>
              </a:ext>
            </a:extLst>
          </p:cNvPr>
          <p:cNvPicPr>
            <a:picLocks noChangeAspect="1"/>
          </p:cNvPicPr>
          <p:nvPr/>
        </p:nvPicPr>
        <p:blipFill>
          <a:blip r:embed="rId4"/>
          <a:stretch>
            <a:fillRect/>
          </a:stretch>
        </p:blipFill>
        <p:spPr>
          <a:xfrm>
            <a:off x="9431306" y="59095"/>
            <a:ext cx="1767993" cy="5342083"/>
          </a:xfrm>
          <a:prstGeom prst="rect">
            <a:avLst/>
          </a:prstGeom>
        </p:spPr>
      </p:pic>
    </p:spTree>
    <p:extLst>
      <p:ext uri="{BB962C8B-B14F-4D97-AF65-F5344CB8AC3E}">
        <p14:creationId xmlns:p14="http://schemas.microsoft.com/office/powerpoint/2010/main" val="3571827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2F456-B6AE-57CA-6BDC-043DD89096AA}"/>
              </a:ext>
            </a:extLst>
          </p:cNvPr>
          <p:cNvSpPr>
            <a:spLocks noGrp="1"/>
          </p:cNvSpPr>
          <p:nvPr>
            <p:ph type="title"/>
          </p:nvPr>
        </p:nvSpPr>
        <p:spPr/>
        <p:txBody>
          <a:bodyPr/>
          <a:lstStyle/>
          <a:p>
            <a:r>
              <a:rPr lang="en-US" dirty="0"/>
              <a:t>Initial findings </a:t>
            </a:r>
            <a:endParaRPr lang="en-AU" dirty="0"/>
          </a:p>
        </p:txBody>
      </p:sp>
      <p:sp>
        <p:nvSpPr>
          <p:cNvPr id="3" name="Content Placeholder 2">
            <a:extLst>
              <a:ext uri="{FF2B5EF4-FFF2-40B4-BE49-F238E27FC236}">
                <a16:creationId xmlns:a16="http://schemas.microsoft.com/office/drawing/2014/main" id="{7409183D-F892-067B-76CC-5D0764E122D5}"/>
              </a:ext>
            </a:extLst>
          </p:cNvPr>
          <p:cNvSpPr>
            <a:spLocks noGrp="1"/>
          </p:cNvSpPr>
          <p:nvPr>
            <p:ph idx="1"/>
          </p:nvPr>
        </p:nvSpPr>
        <p:spPr/>
        <p:txBody>
          <a:bodyPr/>
          <a:lstStyle/>
          <a:p>
            <a:r>
              <a:rPr lang="en-US" dirty="0"/>
              <a:t>I first tested the temperature ranges that </a:t>
            </a:r>
            <a:r>
              <a:rPr lang="en-AU" dirty="0"/>
              <a:t>would constitute heat stress</a:t>
            </a:r>
            <a:r>
              <a:rPr lang="en-US" dirty="0"/>
              <a:t> heat stress for E. coli (42</a:t>
            </a:r>
            <a:r>
              <a:rPr lang="en-AU" dirty="0"/>
              <a:t>°c) </a:t>
            </a:r>
          </a:p>
        </p:txBody>
      </p:sp>
      <p:pic>
        <p:nvPicPr>
          <p:cNvPr id="5" name="Picture 4">
            <a:extLst>
              <a:ext uri="{FF2B5EF4-FFF2-40B4-BE49-F238E27FC236}">
                <a16:creationId xmlns:a16="http://schemas.microsoft.com/office/drawing/2014/main" id="{E095E2FD-5464-5E47-C3B4-26BB068BDFF6}"/>
              </a:ext>
            </a:extLst>
          </p:cNvPr>
          <p:cNvPicPr>
            <a:picLocks noChangeAspect="1"/>
          </p:cNvPicPr>
          <p:nvPr/>
        </p:nvPicPr>
        <p:blipFill>
          <a:blip r:embed="rId3"/>
          <a:stretch>
            <a:fillRect/>
          </a:stretch>
        </p:blipFill>
        <p:spPr>
          <a:xfrm>
            <a:off x="197756" y="2723034"/>
            <a:ext cx="10815539" cy="3821457"/>
          </a:xfrm>
          <a:prstGeom prst="rect">
            <a:avLst/>
          </a:prstGeom>
        </p:spPr>
      </p:pic>
      <p:pic>
        <p:nvPicPr>
          <p:cNvPr id="6" name="Picture 5">
            <a:extLst>
              <a:ext uri="{FF2B5EF4-FFF2-40B4-BE49-F238E27FC236}">
                <a16:creationId xmlns:a16="http://schemas.microsoft.com/office/drawing/2014/main" id="{3A75B851-3C79-9715-F071-8462E31C103D}"/>
              </a:ext>
            </a:extLst>
          </p:cNvPr>
          <p:cNvPicPr>
            <a:picLocks noChangeAspect="1"/>
          </p:cNvPicPr>
          <p:nvPr/>
        </p:nvPicPr>
        <p:blipFill>
          <a:blip r:embed="rId4"/>
          <a:stretch>
            <a:fillRect/>
          </a:stretch>
        </p:blipFill>
        <p:spPr>
          <a:xfrm>
            <a:off x="8836946" y="60146"/>
            <a:ext cx="2343334" cy="1628617"/>
          </a:xfrm>
          <a:prstGeom prst="rect">
            <a:avLst/>
          </a:prstGeom>
        </p:spPr>
      </p:pic>
    </p:spTree>
    <p:extLst>
      <p:ext uri="{BB962C8B-B14F-4D97-AF65-F5344CB8AC3E}">
        <p14:creationId xmlns:p14="http://schemas.microsoft.com/office/powerpoint/2010/main" val="1452976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50BC4-5EF0-EC6E-5158-98FFF8AD50DB}"/>
              </a:ext>
            </a:extLst>
          </p:cNvPr>
          <p:cNvSpPr>
            <a:spLocks noGrp="1"/>
          </p:cNvSpPr>
          <p:nvPr>
            <p:ph type="title"/>
          </p:nvPr>
        </p:nvSpPr>
        <p:spPr/>
        <p:txBody>
          <a:bodyPr/>
          <a:lstStyle/>
          <a:p>
            <a:r>
              <a:rPr lang="en-US" dirty="0"/>
              <a:t>45</a:t>
            </a:r>
            <a:r>
              <a:rPr lang="en-AU" dirty="0"/>
              <a:t>°c</a:t>
            </a:r>
          </a:p>
        </p:txBody>
      </p:sp>
      <p:pic>
        <p:nvPicPr>
          <p:cNvPr id="5" name="Content Placeholder 4">
            <a:extLst>
              <a:ext uri="{FF2B5EF4-FFF2-40B4-BE49-F238E27FC236}">
                <a16:creationId xmlns:a16="http://schemas.microsoft.com/office/drawing/2014/main" id="{1EE6A7FD-F14F-19CE-3AF2-48B4865D2926}"/>
              </a:ext>
            </a:extLst>
          </p:cNvPr>
          <p:cNvPicPr>
            <a:picLocks noGrp="1" noChangeAspect="1"/>
          </p:cNvPicPr>
          <p:nvPr>
            <p:ph idx="1"/>
          </p:nvPr>
        </p:nvPicPr>
        <p:blipFill>
          <a:blip r:embed="rId3"/>
          <a:stretch>
            <a:fillRect/>
          </a:stretch>
        </p:blipFill>
        <p:spPr>
          <a:xfrm>
            <a:off x="180398" y="2364202"/>
            <a:ext cx="10956994" cy="3762278"/>
          </a:xfrm>
          <a:prstGeom prst="rect">
            <a:avLst/>
          </a:prstGeom>
        </p:spPr>
      </p:pic>
      <p:pic>
        <p:nvPicPr>
          <p:cNvPr id="6" name="Picture 5">
            <a:extLst>
              <a:ext uri="{FF2B5EF4-FFF2-40B4-BE49-F238E27FC236}">
                <a16:creationId xmlns:a16="http://schemas.microsoft.com/office/drawing/2014/main" id="{BC3D9C59-36A0-93E1-9740-530880BB59C1}"/>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1532048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A296F-77F0-CD6D-CA4D-8936D03BFA8C}"/>
              </a:ext>
            </a:extLst>
          </p:cNvPr>
          <p:cNvSpPr>
            <a:spLocks noGrp="1"/>
          </p:cNvSpPr>
          <p:nvPr>
            <p:ph type="title"/>
          </p:nvPr>
        </p:nvSpPr>
        <p:spPr/>
        <p:txBody>
          <a:bodyPr/>
          <a:lstStyle/>
          <a:p>
            <a:r>
              <a:rPr lang="en-US" dirty="0"/>
              <a:t>48</a:t>
            </a:r>
            <a:r>
              <a:rPr lang="en-AU" dirty="0"/>
              <a:t>°</a:t>
            </a:r>
            <a:r>
              <a:rPr lang="en-US" dirty="0"/>
              <a:t>c</a:t>
            </a:r>
            <a:endParaRPr lang="en-AU" dirty="0"/>
          </a:p>
        </p:txBody>
      </p:sp>
      <p:pic>
        <p:nvPicPr>
          <p:cNvPr id="5" name="Content Placeholder 4">
            <a:extLst>
              <a:ext uri="{FF2B5EF4-FFF2-40B4-BE49-F238E27FC236}">
                <a16:creationId xmlns:a16="http://schemas.microsoft.com/office/drawing/2014/main" id="{7E490B89-BE9E-BADB-24B4-131F2CD1026D}"/>
              </a:ext>
            </a:extLst>
          </p:cNvPr>
          <p:cNvPicPr>
            <a:picLocks noGrp="1" noChangeAspect="1"/>
          </p:cNvPicPr>
          <p:nvPr>
            <p:ph idx="1"/>
          </p:nvPr>
        </p:nvPicPr>
        <p:blipFill>
          <a:blip r:embed="rId3"/>
          <a:stretch>
            <a:fillRect/>
          </a:stretch>
        </p:blipFill>
        <p:spPr>
          <a:xfrm>
            <a:off x="608286" y="2873829"/>
            <a:ext cx="10204200" cy="3540034"/>
          </a:xfrm>
          <a:prstGeom prst="rect">
            <a:avLst/>
          </a:prstGeom>
        </p:spPr>
      </p:pic>
      <p:pic>
        <p:nvPicPr>
          <p:cNvPr id="6" name="Picture 5">
            <a:extLst>
              <a:ext uri="{FF2B5EF4-FFF2-40B4-BE49-F238E27FC236}">
                <a16:creationId xmlns:a16="http://schemas.microsoft.com/office/drawing/2014/main" id="{8DB487F5-7184-2CC0-247C-6107D5BF06EA}"/>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559528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D76FE-0287-D488-9701-D795E888DCC9}"/>
              </a:ext>
            </a:extLst>
          </p:cNvPr>
          <p:cNvSpPr>
            <a:spLocks noGrp="1"/>
          </p:cNvSpPr>
          <p:nvPr>
            <p:ph type="title"/>
          </p:nvPr>
        </p:nvSpPr>
        <p:spPr/>
        <p:txBody>
          <a:bodyPr/>
          <a:lstStyle/>
          <a:p>
            <a:r>
              <a:rPr lang="en-US" dirty="0"/>
              <a:t>22</a:t>
            </a:r>
            <a:r>
              <a:rPr lang="en-AU" dirty="0"/>
              <a:t>°</a:t>
            </a:r>
            <a:r>
              <a:rPr lang="en-US" dirty="0"/>
              <a:t>c</a:t>
            </a:r>
            <a:endParaRPr lang="en-AU" dirty="0"/>
          </a:p>
        </p:txBody>
      </p:sp>
      <p:sp>
        <p:nvSpPr>
          <p:cNvPr id="3" name="Content Placeholder 2">
            <a:extLst>
              <a:ext uri="{FF2B5EF4-FFF2-40B4-BE49-F238E27FC236}">
                <a16:creationId xmlns:a16="http://schemas.microsoft.com/office/drawing/2014/main" id="{DE2C9C34-887F-533A-DB17-2DDA04692945}"/>
              </a:ext>
            </a:extLst>
          </p:cNvPr>
          <p:cNvSpPr>
            <a:spLocks noGrp="1"/>
          </p:cNvSpPr>
          <p:nvPr>
            <p:ph idx="1"/>
          </p:nvPr>
        </p:nvSpPr>
        <p:spPr/>
        <p:txBody>
          <a:bodyPr/>
          <a:lstStyle/>
          <a:p>
            <a:r>
              <a:rPr lang="en-US" dirty="0"/>
              <a:t>I then tested the lower end of my temperature spectrum</a:t>
            </a:r>
          </a:p>
          <a:p>
            <a:r>
              <a:rPr lang="en-US" dirty="0"/>
              <a:t>But we found the temperature in the lab is between 26</a:t>
            </a:r>
            <a:r>
              <a:rPr lang="en-AU" dirty="0"/>
              <a:t>°</a:t>
            </a:r>
            <a:r>
              <a:rPr lang="en-US" dirty="0"/>
              <a:t>c - 28</a:t>
            </a:r>
            <a:r>
              <a:rPr lang="en-AU" dirty="0"/>
              <a:t>°</a:t>
            </a:r>
            <a:r>
              <a:rPr lang="en-US" dirty="0"/>
              <a:t>c</a:t>
            </a:r>
            <a:endParaRPr lang="en-AU" dirty="0"/>
          </a:p>
        </p:txBody>
      </p:sp>
    </p:spTree>
    <p:extLst>
      <p:ext uri="{BB962C8B-B14F-4D97-AF65-F5344CB8AC3E}">
        <p14:creationId xmlns:p14="http://schemas.microsoft.com/office/powerpoint/2010/main" val="3839789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0CEA-49D2-B307-6F9F-B7984929B67C}"/>
              </a:ext>
            </a:extLst>
          </p:cNvPr>
          <p:cNvSpPr>
            <a:spLocks noGrp="1"/>
          </p:cNvSpPr>
          <p:nvPr>
            <p:ph type="title"/>
          </p:nvPr>
        </p:nvSpPr>
        <p:spPr/>
        <p:txBody>
          <a:bodyPr/>
          <a:lstStyle/>
          <a:p>
            <a:r>
              <a:rPr lang="en-US" dirty="0"/>
              <a:t>MAXOD Heatmap </a:t>
            </a:r>
            <a:endParaRPr lang="en-AU" dirty="0"/>
          </a:p>
        </p:txBody>
      </p:sp>
      <p:pic>
        <p:nvPicPr>
          <p:cNvPr id="5" name="Content Placeholder 4">
            <a:extLst>
              <a:ext uri="{FF2B5EF4-FFF2-40B4-BE49-F238E27FC236}">
                <a16:creationId xmlns:a16="http://schemas.microsoft.com/office/drawing/2014/main" id="{E2DE4D86-5EDF-2DF5-482D-0AC757D780E5}"/>
              </a:ext>
            </a:extLst>
          </p:cNvPr>
          <p:cNvPicPr>
            <a:picLocks noGrp="1" noChangeAspect="1"/>
          </p:cNvPicPr>
          <p:nvPr>
            <p:ph idx="1"/>
          </p:nvPr>
        </p:nvPicPr>
        <p:blipFill>
          <a:blip r:embed="rId3"/>
          <a:stretch>
            <a:fillRect/>
          </a:stretch>
        </p:blipFill>
        <p:spPr>
          <a:xfrm>
            <a:off x="2132372" y="1929812"/>
            <a:ext cx="6911044" cy="4387485"/>
          </a:xfrm>
          <a:prstGeom prst="rect">
            <a:avLst/>
          </a:prstGeom>
        </p:spPr>
      </p:pic>
    </p:spTree>
    <p:extLst>
      <p:ext uri="{BB962C8B-B14F-4D97-AF65-F5344CB8AC3E}">
        <p14:creationId xmlns:p14="http://schemas.microsoft.com/office/powerpoint/2010/main" val="37197142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81E43-7B6D-94CF-1AAE-BEC13F20F79B}"/>
              </a:ext>
            </a:extLst>
          </p:cNvPr>
          <p:cNvSpPr>
            <a:spLocks noGrp="1"/>
          </p:cNvSpPr>
          <p:nvPr>
            <p:ph type="title"/>
          </p:nvPr>
        </p:nvSpPr>
        <p:spPr/>
        <p:txBody>
          <a:bodyPr/>
          <a:lstStyle/>
          <a:p>
            <a:r>
              <a:rPr lang="en-US" dirty="0"/>
              <a:t>MUMAX Heatmap </a:t>
            </a:r>
            <a:endParaRPr lang="en-AU" dirty="0"/>
          </a:p>
        </p:txBody>
      </p:sp>
      <p:pic>
        <p:nvPicPr>
          <p:cNvPr id="5" name="Content Placeholder 4">
            <a:extLst>
              <a:ext uri="{FF2B5EF4-FFF2-40B4-BE49-F238E27FC236}">
                <a16:creationId xmlns:a16="http://schemas.microsoft.com/office/drawing/2014/main" id="{CFD8C527-E6D2-70F3-FDC7-55754CC6EBB4}"/>
              </a:ext>
            </a:extLst>
          </p:cNvPr>
          <p:cNvPicPr>
            <a:picLocks noGrp="1" noChangeAspect="1"/>
          </p:cNvPicPr>
          <p:nvPr>
            <p:ph idx="1"/>
          </p:nvPr>
        </p:nvPicPr>
        <p:blipFill>
          <a:blip r:embed="rId3"/>
          <a:stretch>
            <a:fillRect/>
          </a:stretch>
        </p:blipFill>
        <p:spPr>
          <a:xfrm>
            <a:off x="2124159" y="1828800"/>
            <a:ext cx="6870533" cy="4351338"/>
          </a:xfrm>
          <a:prstGeom prst="rect">
            <a:avLst/>
          </a:prstGeom>
        </p:spPr>
      </p:pic>
    </p:spTree>
    <p:extLst>
      <p:ext uri="{BB962C8B-B14F-4D97-AF65-F5344CB8AC3E}">
        <p14:creationId xmlns:p14="http://schemas.microsoft.com/office/powerpoint/2010/main" val="4160441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E62FD-6E04-6C9B-1EBE-0A5C3DFC5637}"/>
              </a:ext>
            </a:extLst>
          </p:cNvPr>
          <p:cNvSpPr>
            <a:spLocks noGrp="1"/>
          </p:cNvSpPr>
          <p:nvPr>
            <p:ph type="title"/>
          </p:nvPr>
        </p:nvSpPr>
        <p:spPr/>
        <p:txBody>
          <a:bodyPr/>
          <a:lstStyle/>
          <a:p>
            <a:r>
              <a:rPr lang="en-US" dirty="0"/>
              <a:t>Initial Observations </a:t>
            </a:r>
            <a:endParaRPr lang="en-AU" dirty="0"/>
          </a:p>
        </p:txBody>
      </p:sp>
      <p:sp>
        <p:nvSpPr>
          <p:cNvPr id="3" name="Content Placeholder 2">
            <a:extLst>
              <a:ext uri="{FF2B5EF4-FFF2-40B4-BE49-F238E27FC236}">
                <a16:creationId xmlns:a16="http://schemas.microsoft.com/office/drawing/2014/main" id="{75CEAE73-A454-A5D9-BF0B-1BC190E98C83}"/>
              </a:ext>
            </a:extLst>
          </p:cNvPr>
          <p:cNvSpPr>
            <a:spLocks noGrp="1"/>
          </p:cNvSpPr>
          <p:nvPr>
            <p:ph idx="1"/>
          </p:nvPr>
        </p:nvSpPr>
        <p:spPr/>
        <p:txBody>
          <a:bodyPr/>
          <a:lstStyle/>
          <a:p>
            <a:r>
              <a:rPr lang="en-US" dirty="0"/>
              <a:t>At 48</a:t>
            </a:r>
            <a:r>
              <a:rPr lang="en-AU" dirty="0"/>
              <a:t> °</a:t>
            </a:r>
            <a:r>
              <a:rPr lang="en-US" dirty="0"/>
              <a:t>c nothing survives while mutants in M9 stop growing at 45</a:t>
            </a:r>
            <a:r>
              <a:rPr lang="en-AU" dirty="0"/>
              <a:t> °</a:t>
            </a:r>
            <a:r>
              <a:rPr lang="en-US" dirty="0"/>
              <a:t>c</a:t>
            </a:r>
          </a:p>
          <a:p>
            <a:r>
              <a:rPr lang="en-US" dirty="0"/>
              <a:t>Our mutations and WT seem to be heat resistant </a:t>
            </a:r>
          </a:p>
          <a:p>
            <a:r>
              <a:rPr lang="en-US" dirty="0"/>
              <a:t>It seems like rich media helps with growth at high temperature</a:t>
            </a:r>
          </a:p>
          <a:p>
            <a:endParaRPr lang="en-US" dirty="0"/>
          </a:p>
          <a:p>
            <a:endParaRPr lang="en-US" dirty="0"/>
          </a:p>
          <a:p>
            <a:endParaRPr lang="en-AU" dirty="0"/>
          </a:p>
        </p:txBody>
      </p:sp>
      <p:pic>
        <p:nvPicPr>
          <p:cNvPr id="4" name="Content Placeholder 4">
            <a:extLst>
              <a:ext uri="{FF2B5EF4-FFF2-40B4-BE49-F238E27FC236}">
                <a16:creationId xmlns:a16="http://schemas.microsoft.com/office/drawing/2014/main" id="{AA537DC7-E5B9-A834-95D0-495EE783B72D}"/>
              </a:ext>
            </a:extLst>
          </p:cNvPr>
          <p:cNvPicPr>
            <a:picLocks noChangeAspect="1"/>
          </p:cNvPicPr>
          <p:nvPr/>
        </p:nvPicPr>
        <p:blipFill>
          <a:blip r:embed="rId3"/>
          <a:stretch>
            <a:fillRect/>
          </a:stretch>
        </p:blipFill>
        <p:spPr>
          <a:xfrm>
            <a:off x="146818" y="3429000"/>
            <a:ext cx="5167961" cy="3280886"/>
          </a:xfrm>
          <a:prstGeom prst="rect">
            <a:avLst/>
          </a:prstGeom>
        </p:spPr>
      </p:pic>
      <p:pic>
        <p:nvPicPr>
          <p:cNvPr id="5" name="Content Placeholder 4">
            <a:extLst>
              <a:ext uri="{FF2B5EF4-FFF2-40B4-BE49-F238E27FC236}">
                <a16:creationId xmlns:a16="http://schemas.microsoft.com/office/drawing/2014/main" id="{FDB2D665-709B-BCFF-2936-15477C7D5B8D}"/>
              </a:ext>
            </a:extLst>
          </p:cNvPr>
          <p:cNvPicPr>
            <a:picLocks noChangeAspect="1"/>
          </p:cNvPicPr>
          <p:nvPr/>
        </p:nvPicPr>
        <p:blipFill>
          <a:blip r:embed="rId4"/>
          <a:stretch>
            <a:fillRect/>
          </a:stretch>
        </p:blipFill>
        <p:spPr>
          <a:xfrm>
            <a:off x="5754189" y="3390083"/>
            <a:ext cx="5400531" cy="3420337"/>
          </a:xfrm>
          <a:prstGeom prst="rect">
            <a:avLst/>
          </a:prstGeom>
        </p:spPr>
      </p:pic>
    </p:spTree>
    <p:extLst>
      <p:ext uri="{BB962C8B-B14F-4D97-AF65-F5344CB8AC3E}">
        <p14:creationId xmlns:p14="http://schemas.microsoft.com/office/powerpoint/2010/main" val="33088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2C49B-7743-4ECA-4DFC-2A36B9C11C83}"/>
              </a:ext>
            </a:extLst>
          </p:cNvPr>
          <p:cNvSpPr>
            <a:spLocks noGrp="1"/>
          </p:cNvSpPr>
          <p:nvPr>
            <p:ph type="title"/>
          </p:nvPr>
        </p:nvSpPr>
        <p:spPr/>
        <p:txBody>
          <a:bodyPr/>
          <a:lstStyle/>
          <a:p>
            <a:r>
              <a:rPr lang="en-US" dirty="0"/>
              <a:t>Chapter 2 </a:t>
            </a:r>
            <a:endParaRPr lang="en-AU" dirty="0"/>
          </a:p>
        </p:txBody>
      </p:sp>
      <p:sp>
        <p:nvSpPr>
          <p:cNvPr id="3" name="Content Placeholder 2">
            <a:extLst>
              <a:ext uri="{FF2B5EF4-FFF2-40B4-BE49-F238E27FC236}">
                <a16:creationId xmlns:a16="http://schemas.microsoft.com/office/drawing/2014/main" id="{FFD0EB59-5046-2900-FE7E-DA5B4AD35E16}"/>
              </a:ext>
            </a:extLst>
          </p:cNvPr>
          <p:cNvSpPr>
            <a:spLocks noGrp="1"/>
          </p:cNvSpPr>
          <p:nvPr>
            <p:ph idx="1"/>
          </p:nvPr>
        </p:nvSpPr>
        <p:spPr/>
        <p:txBody>
          <a:bodyPr/>
          <a:lstStyle/>
          <a:p>
            <a:r>
              <a:rPr lang="en-US" dirty="0"/>
              <a:t>Looking at why there is an uneven distribution of mutation rate in our RIF mutants</a:t>
            </a:r>
            <a:endParaRPr lang="en-AU" dirty="0"/>
          </a:p>
        </p:txBody>
      </p:sp>
    </p:spTree>
    <p:extLst>
      <p:ext uri="{BB962C8B-B14F-4D97-AF65-F5344CB8AC3E}">
        <p14:creationId xmlns:p14="http://schemas.microsoft.com/office/powerpoint/2010/main" val="2551635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37DB-4FA1-F2FE-5F48-EC8CCD83353A}"/>
              </a:ext>
            </a:extLst>
          </p:cNvPr>
          <p:cNvSpPr>
            <a:spLocks noGrp="1"/>
          </p:cNvSpPr>
          <p:nvPr>
            <p:ph type="title"/>
          </p:nvPr>
        </p:nvSpPr>
        <p:spPr/>
        <p:txBody>
          <a:bodyPr/>
          <a:lstStyle/>
          <a:p>
            <a:r>
              <a:rPr lang="en-US" dirty="0"/>
              <a:t>Background  </a:t>
            </a:r>
            <a:endParaRPr lang="en-AU" dirty="0"/>
          </a:p>
        </p:txBody>
      </p:sp>
      <p:sp>
        <p:nvSpPr>
          <p:cNvPr id="3" name="Content Placeholder 2">
            <a:extLst>
              <a:ext uri="{FF2B5EF4-FFF2-40B4-BE49-F238E27FC236}">
                <a16:creationId xmlns:a16="http://schemas.microsoft.com/office/drawing/2014/main" id="{534FCC26-E232-AF3A-5BB8-150BCF7ED7CF}"/>
              </a:ext>
            </a:extLst>
          </p:cNvPr>
          <p:cNvSpPr>
            <a:spLocks noGrp="1"/>
          </p:cNvSpPr>
          <p:nvPr>
            <p:ph idx="1"/>
          </p:nvPr>
        </p:nvSpPr>
        <p:spPr>
          <a:xfrm>
            <a:off x="0" y="2214154"/>
            <a:ext cx="7696206" cy="4119971"/>
          </a:xfrm>
        </p:spPr>
        <p:txBody>
          <a:bodyPr/>
          <a:lstStyle/>
          <a:p>
            <a:r>
              <a:rPr lang="en-US" dirty="0"/>
              <a:t>There seems to be an uneven distribution of mutations. </a:t>
            </a:r>
            <a:r>
              <a:rPr lang="en-AU" dirty="0"/>
              <a:t>Results from the E. coli, A. baylyi and L. plantarum screens show that some mutations are much more favoured than others or we simply see more of them </a:t>
            </a:r>
          </a:p>
          <a:p>
            <a:r>
              <a:rPr lang="en-AU" dirty="0"/>
              <a:t>Mutants that appear from mutant screens are stochastic </a:t>
            </a:r>
          </a:p>
          <a:p>
            <a:r>
              <a:rPr lang="en-AU" dirty="0"/>
              <a:t>I want to test to see if establishment is also stochastic or if there are certain factors during this phase that is causing the distribution that we see </a:t>
            </a:r>
          </a:p>
          <a:p>
            <a:endParaRPr lang="en-AU" dirty="0"/>
          </a:p>
        </p:txBody>
      </p:sp>
      <p:pic>
        <p:nvPicPr>
          <p:cNvPr id="5" name="Picture 4">
            <a:extLst>
              <a:ext uri="{FF2B5EF4-FFF2-40B4-BE49-F238E27FC236}">
                <a16:creationId xmlns:a16="http://schemas.microsoft.com/office/drawing/2014/main" id="{FA0D7431-6010-E1F1-25A6-7FC9349E6B9E}"/>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1684150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AD99A-664F-5DE6-6183-D779E8630786}"/>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DA16E06F-F081-53A3-84A4-2A6ED0ED5996}"/>
              </a:ext>
            </a:extLst>
          </p:cNvPr>
          <p:cNvSpPr>
            <a:spLocks noGrp="1"/>
          </p:cNvSpPr>
          <p:nvPr>
            <p:ph idx="1"/>
          </p:nvPr>
        </p:nvSpPr>
        <p:spPr>
          <a:xfrm>
            <a:off x="1261872" y="1828801"/>
            <a:ext cx="6262878" cy="4191000"/>
          </a:xfrm>
        </p:spPr>
        <p:txBody>
          <a:bodyPr/>
          <a:lstStyle/>
          <a:p>
            <a:r>
              <a:rPr lang="en-US" dirty="0"/>
              <a:t>Pick a rare mutant  </a:t>
            </a:r>
          </a:p>
          <a:p>
            <a:r>
              <a:rPr lang="en-US" dirty="0"/>
              <a:t>Pick an abundant mutant </a:t>
            </a:r>
          </a:p>
          <a:p>
            <a:r>
              <a:rPr lang="en-US" dirty="0"/>
              <a:t>Pick a mutant somewhere in the middle  </a:t>
            </a:r>
          </a:p>
          <a:p>
            <a:r>
              <a:rPr lang="en-US" dirty="0"/>
              <a:t>Pick the WT </a:t>
            </a:r>
          </a:p>
          <a:p>
            <a:r>
              <a:rPr lang="en-US" dirty="0"/>
              <a:t>Grow over many repetitions on LB and RIF plates              to see if there is a difference in the number of colonies that appear </a:t>
            </a:r>
            <a:endParaRPr lang="en-AU" dirty="0"/>
          </a:p>
        </p:txBody>
      </p:sp>
      <p:pic>
        <p:nvPicPr>
          <p:cNvPr id="4" name="Picture 3">
            <a:extLst>
              <a:ext uri="{FF2B5EF4-FFF2-40B4-BE49-F238E27FC236}">
                <a16:creationId xmlns:a16="http://schemas.microsoft.com/office/drawing/2014/main" id="{F52AA396-A85B-B182-1509-77A7F6B12182}"/>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4135181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2FA7-3528-B5F6-DCC3-6380A3F928B8}"/>
              </a:ext>
            </a:extLst>
          </p:cNvPr>
          <p:cNvSpPr>
            <a:spLocks noGrp="1"/>
          </p:cNvSpPr>
          <p:nvPr>
            <p:ph type="title"/>
          </p:nvPr>
        </p:nvSpPr>
        <p:spPr/>
        <p:txBody>
          <a:bodyPr/>
          <a:lstStyle/>
          <a:p>
            <a:r>
              <a:rPr lang="en-US" dirty="0"/>
              <a:t>Initial Experiment </a:t>
            </a:r>
            <a:endParaRPr lang="en-AU" dirty="0"/>
          </a:p>
        </p:txBody>
      </p:sp>
      <p:pic>
        <p:nvPicPr>
          <p:cNvPr id="8" name="Content Placeholder 7">
            <a:extLst>
              <a:ext uri="{FF2B5EF4-FFF2-40B4-BE49-F238E27FC236}">
                <a16:creationId xmlns:a16="http://schemas.microsoft.com/office/drawing/2014/main" id="{9EB8DF53-DD2A-7EC6-EEE9-2BA24FC5B16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rot="16200000">
            <a:off x="3759044" y="1270977"/>
            <a:ext cx="4673912" cy="6231884"/>
          </a:xfrm>
          <a:prstGeom prst="rect">
            <a:avLst/>
          </a:prstGeom>
        </p:spPr>
      </p:pic>
    </p:spTree>
    <p:extLst>
      <p:ext uri="{BB962C8B-B14F-4D97-AF65-F5344CB8AC3E}">
        <p14:creationId xmlns:p14="http://schemas.microsoft.com/office/powerpoint/2010/main" val="1613813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020F-9C20-B7A9-E41A-55AAE3D5476A}"/>
              </a:ext>
            </a:extLst>
          </p:cNvPr>
          <p:cNvSpPr>
            <a:spLocks noGrp="1"/>
          </p:cNvSpPr>
          <p:nvPr>
            <p:ph type="title"/>
          </p:nvPr>
        </p:nvSpPr>
        <p:spPr/>
        <p:txBody>
          <a:bodyPr/>
          <a:lstStyle/>
          <a:p>
            <a:r>
              <a:rPr lang="en-US" dirty="0"/>
              <a:t>What literature suggests</a:t>
            </a:r>
            <a:endParaRPr lang="en-AU" dirty="0"/>
          </a:p>
        </p:txBody>
      </p:sp>
      <p:sp>
        <p:nvSpPr>
          <p:cNvPr id="3" name="Content Placeholder 2">
            <a:extLst>
              <a:ext uri="{FF2B5EF4-FFF2-40B4-BE49-F238E27FC236}">
                <a16:creationId xmlns:a16="http://schemas.microsoft.com/office/drawing/2014/main" id="{DEB5D11C-73B4-CF12-50B3-6C4805004ADA}"/>
              </a:ext>
            </a:extLst>
          </p:cNvPr>
          <p:cNvSpPr>
            <a:spLocks noGrp="1"/>
          </p:cNvSpPr>
          <p:nvPr>
            <p:ph idx="1"/>
          </p:nvPr>
        </p:nvSpPr>
        <p:spPr/>
        <p:txBody>
          <a:bodyPr/>
          <a:lstStyle/>
          <a:p>
            <a:pPr lvl="0"/>
            <a:r>
              <a:rPr lang="en-US" dirty="0"/>
              <a:t>Stochasticity </a:t>
            </a:r>
            <a:endParaRPr lang="en-AU" dirty="0"/>
          </a:p>
          <a:p>
            <a:pPr lvl="0"/>
            <a:r>
              <a:rPr lang="en-US" dirty="0"/>
              <a:t>Inoculum size </a:t>
            </a:r>
            <a:endParaRPr lang="en-AU" dirty="0"/>
          </a:p>
          <a:p>
            <a:pPr lvl="0"/>
            <a:r>
              <a:rPr lang="en-AU" dirty="0"/>
              <a:t>High mutational accessibility </a:t>
            </a:r>
          </a:p>
          <a:p>
            <a:pPr lvl="0"/>
            <a:r>
              <a:rPr lang="en-AU" dirty="0"/>
              <a:t>Compensatory mutations</a:t>
            </a:r>
          </a:p>
          <a:p>
            <a:endParaRPr lang="en-AU" dirty="0"/>
          </a:p>
        </p:txBody>
      </p:sp>
      <p:pic>
        <p:nvPicPr>
          <p:cNvPr id="5" name="Picture 4">
            <a:extLst>
              <a:ext uri="{FF2B5EF4-FFF2-40B4-BE49-F238E27FC236}">
                <a16:creationId xmlns:a16="http://schemas.microsoft.com/office/drawing/2014/main" id="{D509EA64-CD86-7F76-4243-83A2503D14D2}"/>
              </a:ext>
            </a:extLst>
          </p:cNvPr>
          <p:cNvPicPr>
            <a:picLocks noChangeAspect="1"/>
          </p:cNvPicPr>
          <p:nvPr/>
        </p:nvPicPr>
        <p:blipFill>
          <a:blip r:embed="rId3"/>
          <a:stretch>
            <a:fillRect/>
          </a:stretch>
        </p:blipFill>
        <p:spPr>
          <a:xfrm>
            <a:off x="5936951" y="1691322"/>
            <a:ext cx="5198777" cy="5033736"/>
          </a:xfrm>
          <a:prstGeom prst="rect">
            <a:avLst/>
          </a:prstGeom>
        </p:spPr>
      </p:pic>
    </p:spTree>
    <p:extLst>
      <p:ext uri="{BB962C8B-B14F-4D97-AF65-F5344CB8AC3E}">
        <p14:creationId xmlns:p14="http://schemas.microsoft.com/office/powerpoint/2010/main" val="553690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BAAE90-231D-70F2-9B56-962B834D014F}"/>
              </a:ext>
            </a:extLst>
          </p:cNvPr>
          <p:cNvSpPr>
            <a:spLocks noGrp="1"/>
          </p:cNvSpPr>
          <p:nvPr>
            <p:ph idx="1"/>
          </p:nvPr>
        </p:nvSpPr>
        <p:spPr/>
        <p:txBody>
          <a:bodyPr/>
          <a:lstStyle/>
          <a:p>
            <a:pPr marL="0" indent="0">
              <a:buNone/>
            </a:pPr>
            <a:r>
              <a:rPr lang="en-US" dirty="0"/>
              <a:t>1. </a:t>
            </a:r>
            <a:r>
              <a:rPr lang="en-US" dirty="0" err="1"/>
              <a:t>Bolourchi</a:t>
            </a:r>
            <a:r>
              <a:rPr lang="en-US" dirty="0"/>
              <a:t>, N., Brown, C. R. P., Letten, A. D., &amp; </a:t>
            </a:r>
            <a:r>
              <a:rPr lang="en-US" dirty="0" err="1"/>
              <a:t>Engelstädter</a:t>
            </a:r>
            <a:r>
              <a:rPr lang="en-US" dirty="0"/>
              <a:t>, J. (2024). </a:t>
            </a:r>
            <a:r>
              <a:rPr lang="en-US" i="1" dirty="0"/>
              <a:t>Evolution and evolvability of rifampicin resistance across the bacterial tree of life</a:t>
            </a:r>
            <a:r>
              <a:rPr lang="en-US" dirty="0"/>
              <a:t>. Evolutionary Biology. </a:t>
            </a:r>
            <a:r>
              <a:rPr lang="en-US" dirty="0">
                <a:hlinkClick r:id="rId2"/>
              </a:rPr>
              <a:t>https://doi.org/10.1101/2024.11.05.622190</a:t>
            </a:r>
            <a:endParaRPr lang="en-US" dirty="0"/>
          </a:p>
          <a:p>
            <a:endParaRPr lang="en-AU" dirty="0"/>
          </a:p>
        </p:txBody>
      </p:sp>
    </p:spTree>
    <p:extLst>
      <p:ext uri="{BB962C8B-B14F-4D97-AF65-F5344CB8AC3E}">
        <p14:creationId xmlns:p14="http://schemas.microsoft.com/office/powerpoint/2010/main" val="6367684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D17A225-B875-DA94-C728-918628A198AC}"/>
              </a:ext>
            </a:extLst>
          </p:cNvPr>
          <p:cNvSpPr>
            <a:spLocks noGrp="1"/>
          </p:cNvSpPr>
          <p:nvPr>
            <p:ph type="title"/>
          </p:nvPr>
        </p:nvSpPr>
        <p:spPr>
          <a:xfrm>
            <a:off x="1261872" y="365760"/>
            <a:ext cx="9692640" cy="1325562"/>
          </a:xfrm>
        </p:spPr>
        <p:txBody>
          <a:bodyPr/>
          <a:lstStyle/>
          <a:p>
            <a:r>
              <a:rPr lang="en-US" dirty="0"/>
              <a:t>OD LB</a:t>
            </a:r>
            <a:endParaRPr lang="en-AU" dirty="0"/>
          </a:p>
        </p:txBody>
      </p:sp>
      <p:sp>
        <p:nvSpPr>
          <p:cNvPr id="8" name="Content Placeholder 7">
            <a:extLst>
              <a:ext uri="{FF2B5EF4-FFF2-40B4-BE49-F238E27FC236}">
                <a16:creationId xmlns:a16="http://schemas.microsoft.com/office/drawing/2014/main" id="{3143D5DB-B928-55FD-E5D5-BA6551306E1D}"/>
              </a:ext>
            </a:extLst>
          </p:cNvPr>
          <p:cNvSpPr>
            <a:spLocks noGrp="1"/>
          </p:cNvSpPr>
          <p:nvPr>
            <p:ph idx="1"/>
          </p:nvPr>
        </p:nvSpPr>
        <p:spPr/>
        <p:txBody>
          <a:bodyPr/>
          <a:lstStyle/>
          <a:p>
            <a:endParaRPr lang="en-AU"/>
          </a:p>
        </p:txBody>
      </p:sp>
      <p:pic>
        <p:nvPicPr>
          <p:cNvPr id="10" name="Picture 9">
            <a:extLst>
              <a:ext uri="{FF2B5EF4-FFF2-40B4-BE49-F238E27FC236}">
                <a16:creationId xmlns:a16="http://schemas.microsoft.com/office/drawing/2014/main" id="{76900700-8C8C-B673-8F12-57B4E655DBC6}"/>
              </a:ext>
            </a:extLst>
          </p:cNvPr>
          <p:cNvPicPr>
            <a:picLocks noChangeAspect="1"/>
          </p:cNvPicPr>
          <p:nvPr/>
        </p:nvPicPr>
        <p:blipFill>
          <a:blip r:embed="rId3"/>
          <a:stretch>
            <a:fillRect/>
          </a:stretch>
        </p:blipFill>
        <p:spPr>
          <a:xfrm>
            <a:off x="1103811" y="1691322"/>
            <a:ext cx="9379131" cy="4926636"/>
          </a:xfrm>
          <a:prstGeom prst="rect">
            <a:avLst/>
          </a:prstGeom>
        </p:spPr>
      </p:pic>
    </p:spTree>
    <p:extLst>
      <p:ext uri="{BB962C8B-B14F-4D97-AF65-F5344CB8AC3E}">
        <p14:creationId xmlns:p14="http://schemas.microsoft.com/office/powerpoint/2010/main" val="18204708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C730-BD99-2B19-3280-D8BFCB3AE2A7}"/>
              </a:ext>
            </a:extLst>
          </p:cNvPr>
          <p:cNvSpPr>
            <a:spLocks noGrp="1"/>
          </p:cNvSpPr>
          <p:nvPr>
            <p:ph type="title"/>
          </p:nvPr>
        </p:nvSpPr>
        <p:spPr/>
        <p:txBody>
          <a:bodyPr/>
          <a:lstStyle/>
          <a:p>
            <a:r>
              <a:rPr lang="en-US" dirty="0"/>
              <a:t>OD M9</a:t>
            </a:r>
            <a:endParaRPr lang="en-AU" dirty="0"/>
          </a:p>
        </p:txBody>
      </p:sp>
      <p:pic>
        <p:nvPicPr>
          <p:cNvPr id="5" name="Content Placeholder 4">
            <a:extLst>
              <a:ext uri="{FF2B5EF4-FFF2-40B4-BE49-F238E27FC236}">
                <a16:creationId xmlns:a16="http://schemas.microsoft.com/office/drawing/2014/main" id="{BC295B73-9CC6-ABDF-C2FB-4585EE0C9DBB}"/>
              </a:ext>
            </a:extLst>
          </p:cNvPr>
          <p:cNvPicPr>
            <a:picLocks noGrp="1" noChangeAspect="1"/>
          </p:cNvPicPr>
          <p:nvPr>
            <p:ph idx="1"/>
          </p:nvPr>
        </p:nvPicPr>
        <p:blipFill>
          <a:blip r:embed="rId2"/>
          <a:stretch>
            <a:fillRect/>
          </a:stretch>
        </p:blipFill>
        <p:spPr>
          <a:xfrm>
            <a:off x="1156062" y="1755760"/>
            <a:ext cx="9438213" cy="5005676"/>
          </a:xfrm>
          <a:prstGeom prst="rect">
            <a:avLst/>
          </a:prstGeom>
        </p:spPr>
      </p:pic>
    </p:spTree>
    <p:extLst>
      <p:ext uri="{BB962C8B-B14F-4D97-AF65-F5344CB8AC3E}">
        <p14:creationId xmlns:p14="http://schemas.microsoft.com/office/powerpoint/2010/main" val="40884499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7A658-75C0-F871-2CA1-675D5953E9C4}"/>
              </a:ext>
            </a:extLst>
          </p:cNvPr>
          <p:cNvSpPr>
            <a:spLocks noGrp="1"/>
          </p:cNvSpPr>
          <p:nvPr>
            <p:ph type="title"/>
          </p:nvPr>
        </p:nvSpPr>
        <p:spPr/>
        <p:txBody>
          <a:bodyPr/>
          <a:lstStyle/>
          <a:p>
            <a:r>
              <a:rPr lang="en-US" dirty="0"/>
              <a:t>MUMAX LB</a:t>
            </a:r>
            <a:endParaRPr lang="en-AU" dirty="0"/>
          </a:p>
        </p:txBody>
      </p:sp>
      <p:sp>
        <p:nvSpPr>
          <p:cNvPr id="3" name="Content Placeholder 2">
            <a:extLst>
              <a:ext uri="{FF2B5EF4-FFF2-40B4-BE49-F238E27FC236}">
                <a16:creationId xmlns:a16="http://schemas.microsoft.com/office/drawing/2014/main" id="{4D2762E0-DA82-D3C6-FAE2-B03197765EDE}"/>
              </a:ext>
            </a:extLst>
          </p:cNvPr>
          <p:cNvSpPr>
            <a:spLocks noGrp="1"/>
          </p:cNvSpPr>
          <p:nvPr>
            <p:ph idx="1"/>
          </p:nvPr>
        </p:nvSpPr>
        <p:spPr/>
        <p:txBody>
          <a:bodyPr/>
          <a:lstStyle/>
          <a:p>
            <a:endParaRPr lang="en-AU"/>
          </a:p>
        </p:txBody>
      </p:sp>
      <p:pic>
        <p:nvPicPr>
          <p:cNvPr id="4" name="Content Placeholder 4">
            <a:extLst>
              <a:ext uri="{FF2B5EF4-FFF2-40B4-BE49-F238E27FC236}">
                <a16:creationId xmlns:a16="http://schemas.microsoft.com/office/drawing/2014/main" id="{59D71150-06E7-3EE0-8DF9-D560C3F6E86E}"/>
              </a:ext>
            </a:extLst>
          </p:cNvPr>
          <p:cNvPicPr>
            <a:picLocks noChangeAspect="1"/>
          </p:cNvPicPr>
          <p:nvPr/>
        </p:nvPicPr>
        <p:blipFill>
          <a:blip r:embed="rId2"/>
          <a:stretch>
            <a:fillRect/>
          </a:stretch>
        </p:blipFill>
        <p:spPr>
          <a:xfrm>
            <a:off x="886756" y="1663993"/>
            <a:ext cx="9472090" cy="4997087"/>
          </a:xfrm>
          <a:prstGeom prst="rect">
            <a:avLst/>
          </a:prstGeom>
        </p:spPr>
      </p:pic>
    </p:spTree>
    <p:extLst>
      <p:ext uri="{BB962C8B-B14F-4D97-AF65-F5344CB8AC3E}">
        <p14:creationId xmlns:p14="http://schemas.microsoft.com/office/powerpoint/2010/main" val="17755540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E50FB-E4C8-D52E-B0FE-BB45A3C57A83}"/>
              </a:ext>
            </a:extLst>
          </p:cNvPr>
          <p:cNvSpPr>
            <a:spLocks noGrp="1"/>
          </p:cNvSpPr>
          <p:nvPr>
            <p:ph type="title"/>
          </p:nvPr>
        </p:nvSpPr>
        <p:spPr/>
        <p:txBody>
          <a:bodyPr/>
          <a:lstStyle/>
          <a:p>
            <a:r>
              <a:rPr lang="en-US" dirty="0"/>
              <a:t>MUMAX M9</a:t>
            </a:r>
            <a:endParaRPr lang="en-AU" dirty="0"/>
          </a:p>
        </p:txBody>
      </p:sp>
      <p:pic>
        <p:nvPicPr>
          <p:cNvPr id="9" name="Content Placeholder 8">
            <a:extLst>
              <a:ext uri="{FF2B5EF4-FFF2-40B4-BE49-F238E27FC236}">
                <a16:creationId xmlns:a16="http://schemas.microsoft.com/office/drawing/2014/main" id="{6ECC9292-2714-2014-CC8D-34BFEF263240}"/>
              </a:ext>
            </a:extLst>
          </p:cNvPr>
          <p:cNvPicPr>
            <a:picLocks noGrp="1" noChangeAspect="1"/>
          </p:cNvPicPr>
          <p:nvPr>
            <p:ph idx="1"/>
          </p:nvPr>
        </p:nvPicPr>
        <p:blipFill>
          <a:blip r:embed="rId2"/>
          <a:stretch>
            <a:fillRect/>
          </a:stretch>
        </p:blipFill>
        <p:spPr>
          <a:xfrm>
            <a:off x="1049872" y="1789611"/>
            <a:ext cx="9165282" cy="4835029"/>
          </a:xfrm>
          <a:prstGeom prst="rect">
            <a:avLst/>
          </a:prstGeom>
        </p:spPr>
      </p:pic>
    </p:spTree>
    <p:extLst>
      <p:ext uri="{BB962C8B-B14F-4D97-AF65-F5344CB8AC3E}">
        <p14:creationId xmlns:p14="http://schemas.microsoft.com/office/powerpoint/2010/main" val="44625361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1506</TotalTime>
  <Words>1230</Words>
  <Application>Microsoft Office PowerPoint</Application>
  <PresentationFormat>Widescreen</PresentationFormat>
  <Paragraphs>105</Paragraphs>
  <Slides>20</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Century Schoolbook</vt:lpstr>
      <vt:lpstr>Wingdings 2</vt:lpstr>
      <vt:lpstr>View</vt:lpstr>
      <vt:lpstr>Research Update </vt:lpstr>
      <vt:lpstr>Chapter 1 </vt:lpstr>
      <vt:lpstr>Design </vt:lpstr>
      <vt:lpstr>Initial findings </vt:lpstr>
      <vt:lpstr>45°c</vt:lpstr>
      <vt:lpstr>48°c</vt:lpstr>
      <vt:lpstr>22°c</vt:lpstr>
      <vt:lpstr>MAXOD Heatmap </vt:lpstr>
      <vt:lpstr>MUMAX Heatmap </vt:lpstr>
      <vt:lpstr>Initial Observations </vt:lpstr>
      <vt:lpstr>Chapter 2 </vt:lpstr>
      <vt:lpstr>Background  </vt:lpstr>
      <vt:lpstr>Design </vt:lpstr>
      <vt:lpstr>Initial Experiment </vt:lpstr>
      <vt:lpstr>What literature suggests</vt:lpstr>
      <vt:lpstr>PowerPoint Presentation</vt:lpstr>
      <vt:lpstr>OD LB</vt:lpstr>
      <vt:lpstr>OD M9</vt:lpstr>
      <vt:lpstr>MUMAX LB</vt:lpstr>
      <vt:lpstr>MUMAX M9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Ziqing Liu</dc:creator>
  <cp:lastModifiedBy>Ziqing Liu</cp:lastModifiedBy>
  <cp:revision>2</cp:revision>
  <dcterms:created xsi:type="dcterms:W3CDTF">2026-04-28T23:57:04Z</dcterms:created>
  <dcterms:modified xsi:type="dcterms:W3CDTF">2026-05-15T03:39:51Z</dcterms:modified>
</cp:coreProperties>
</file>