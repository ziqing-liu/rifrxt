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9" r:id="rId11"/>
    <p:sldId id="265" r:id="rId12"/>
    <p:sldId id="266" r:id="rId13"/>
    <p:sldId id="267" r:id="rId14"/>
    <p:sldId id="268" r:id="rId15"/>
    <p:sldId id="270" r:id="rId16"/>
    <p:sldId id="271" r:id="rId17"/>
    <p:sldId id="272" r:id="rId18"/>
    <p:sldId id="273" r:id="rId19"/>
    <p:sldId id="277"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E6FB4F6-F798-4ED9-99E3-1574F431BF44}" v="3" dt="2026-05-12T07:16:00.82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91162" autoAdjust="0"/>
  </p:normalViewPr>
  <p:slideViewPr>
    <p:cSldViewPr snapToGrid="0">
      <p:cViewPr varScale="1">
        <p:scale>
          <a:sx n="101" d="100"/>
          <a:sy n="101" d="100"/>
        </p:scale>
        <p:origin x="930"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iqing Liu" userId="20113ce3-4e8c-4eaa-a792-613b3e52886a" providerId="ADAL" clId="{7647F6DA-84E6-4065-910E-AC1B0A07A858}"/>
    <pc:docChg chg="undo custSel addSld delSld modSld sldOrd">
      <pc:chgData name="Ziqing Liu" userId="20113ce3-4e8c-4eaa-a792-613b3e52886a" providerId="ADAL" clId="{7647F6DA-84E6-4065-910E-AC1B0A07A858}" dt="2026-05-12T07:15:59.870" v="3718" actId="20577"/>
      <pc:docMkLst>
        <pc:docMk/>
      </pc:docMkLst>
      <pc:sldChg chg="modNotesTx">
        <pc:chgData name="Ziqing Liu" userId="20113ce3-4e8c-4eaa-a792-613b3e52886a" providerId="ADAL" clId="{7647F6DA-84E6-4065-910E-AC1B0A07A858}" dt="2026-04-30T06:11:44.363" v="978" actId="20577"/>
        <pc:sldMkLst>
          <pc:docMk/>
          <pc:sldMk cId="2040666385" sldId="257"/>
        </pc:sldMkLst>
      </pc:sldChg>
      <pc:sldChg chg="modSp mod modNotesTx">
        <pc:chgData name="Ziqing Liu" userId="20113ce3-4e8c-4eaa-a792-613b3e52886a" providerId="ADAL" clId="{7647F6DA-84E6-4065-910E-AC1B0A07A858}" dt="2026-05-01T03:28:55.049" v="3389" actId="20577"/>
        <pc:sldMkLst>
          <pc:docMk/>
          <pc:sldMk cId="3571827075" sldId="258"/>
        </pc:sldMkLst>
        <pc:spChg chg="mod">
          <ac:chgData name="Ziqing Liu" userId="20113ce3-4e8c-4eaa-a792-613b3e52886a" providerId="ADAL" clId="{7647F6DA-84E6-4065-910E-AC1B0A07A858}" dt="2026-05-01T03:05:20.530" v="3308" actId="20577"/>
          <ac:spMkLst>
            <pc:docMk/>
            <pc:sldMk cId="3571827075" sldId="258"/>
            <ac:spMk id="3" creationId="{CFDBA41F-E832-2EAA-7EFE-45CC239BAE62}"/>
          </ac:spMkLst>
        </pc:spChg>
      </pc:sldChg>
      <pc:sldChg chg="modSp mod modNotesTx">
        <pc:chgData name="Ziqing Liu" userId="20113ce3-4e8c-4eaa-a792-613b3e52886a" providerId="ADAL" clId="{7647F6DA-84E6-4065-910E-AC1B0A07A858}" dt="2026-05-01T03:05:46.001" v="3309" actId="20577"/>
        <pc:sldMkLst>
          <pc:docMk/>
          <pc:sldMk cId="1452976489" sldId="259"/>
        </pc:sldMkLst>
        <pc:spChg chg="mod">
          <ac:chgData name="Ziqing Liu" userId="20113ce3-4e8c-4eaa-a792-613b3e52886a" providerId="ADAL" clId="{7647F6DA-84E6-4065-910E-AC1B0A07A858}" dt="2026-05-01T03:05:46.001" v="3309" actId="20577"/>
          <ac:spMkLst>
            <pc:docMk/>
            <pc:sldMk cId="1452976489" sldId="259"/>
            <ac:spMk id="3" creationId="{7409183D-F892-067B-76CC-5D0764E122D5}"/>
          </ac:spMkLst>
        </pc:spChg>
      </pc:sldChg>
      <pc:sldChg chg="modNotesTx">
        <pc:chgData name="Ziqing Liu" userId="20113ce3-4e8c-4eaa-a792-613b3e52886a" providerId="ADAL" clId="{7647F6DA-84E6-4065-910E-AC1B0A07A858}" dt="2026-04-30T06:16:50.993" v="1497" actId="20577"/>
        <pc:sldMkLst>
          <pc:docMk/>
          <pc:sldMk cId="1532048993" sldId="260"/>
        </pc:sldMkLst>
      </pc:sldChg>
      <pc:sldChg chg="modNotesTx">
        <pc:chgData name="Ziqing Liu" userId="20113ce3-4e8c-4eaa-a792-613b3e52886a" providerId="ADAL" clId="{7647F6DA-84E6-4065-910E-AC1B0A07A858}" dt="2026-04-30T06:17:09.191" v="1565" actId="20577"/>
        <pc:sldMkLst>
          <pc:docMk/>
          <pc:sldMk cId="559528190" sldId="261"/>
        </pc:sldMkLst>
      </pc:sldChg>
      <pc:sldChg chg="modNotesTx">
        <pc:chgData name="Ziqing Liu" userId="20113ce3-4e8c-4eaa-a792-613b3e52886a" providerId="ADAL" clId="{7647F6DA-84E6-4065-910E-AC1B0A07A858}" dt="2026-04-30T06:17:35.774" v="1605" actId="20577"/>
        <pc:sldMkLst>
          <pc:docMk/>
          <pc:sldMk cId="3839789162" sldId="262"/>
        </pc:sldMkLst>
      </pc:sldChg>
      <pc:sldChg chg="modSp mod">
        <pc:chgData name="Ziqing Liu" userId="20113ce3-4e8c-4eaa-a792-613b3e52886a" providerId="ADAL" clId="{7647F6DA-84E6-4065-910E-AC1B0A07A858}" dt="2026-04-30T06:18:56.984" v="1610" actId="14100"/>
        <pc:sldMkLst>
          <pc:docMk/>
          <pc:sldMk cId="3719714297" sldId="263"/>
        </pc:sldMkLst>
        <pc:picChg chg="mod">
          <ac:chgData name="Ziqing Liu" userId="20113ce3-4e8c-4eaa-a792-613b3e52886a" providerId="ADAL" clId="{7647F6DA-84E6-4065-910E-AC1B0A07A858}" dt="2026-04-30T06:18:56.984" v="1610" actId="14100"/>
          <ac:picMkLst>
            <pc:docMk/>
            <pc:sldMk cId="3719714297" sldId="263"/>
            <ac:picMk id="5" creationId="{E2DE4D86-5EDF-2DF5-482D-0AC757D780E5}"/>
          </ac:picMkLst>
        </pc:picChg>
      </pc:sldChg>
      <pc:sldChg chg="modSp mod modNotesTx">
        <pc:chgData name="Ziqing Liu" userId="20113ce3-4e8c-4eaa-a792-613b3e52886a" providerId="ADAL" clId="{7647F6DA-84E6-4065-910E-AC1B0A07A858}" dt="2026-05-01T02:56:03.269" v="2862" actId="20577"/>
        <pc:sldMkLst>
          <pc:docMk/>
          <pc:sldMk cId="1820470890" sldId="265"/>
        </pc:sldMkLst>
        <pc:spChg chg="mod">
          <ac:chgData name="Ziqing Liu" userId="20113ce3-4e8c-4eaa-a792-613b3e52886a" providerId="ADAL" clId="{7647F6DA-84E6-4065-910E-AC1B0A07A858}" dt="2026-04-30T01:24:04.487" v="515" actId="20577"/>
          <ac:spMkLst>
            <pc:docMk/>
            <pc:sldMk cId="1820470890" sldId="265"/>
            <ac:spMk id="6" creationId="{5D17A225-B875-DA94-C728-918628A198AC}"/>
          </ac:spMkLst>
        </pc:spChg>
      </pc:sldChg>
      <pc:sldChg chg="modSp mod">
        <pc:chgData name="Ziqing Liu" userId="20113ce3-4e8c-4eaa-a792-613b3e52886a" providerId="ADAL" clId="{7647F6DA-84E6-4065-910E-AC1B0A07A858}" dt="2026-04-30T01:24:09.434" v="521" actId="20577"/>
        <pc:sldMkLst>
          <pc:docMk/>
          <pc:sldMk cId="4088449915" sldId="266"/>
        </pc:sldMkLst>
        <pc:spChg chg="mod">
          <ac:chgData name="Ziqing Liu" userId="20113ce3-4e8c-4eaa-a792-613b3e52886a" providerId="ADAL" clId="{7647F6DA-84E6-4065-910E-AC1B0A07A858}" dt="2026-04-30T01:24:09.434" v="521" actId="20577"/>
          <ac:spMkLst>
            <pc:docMk/>
            <pc:sldMk cId="4088449915" sldId="266"/>
            <ac:spMk id="2" creationId="{58C8C730-BD99-2B19-3280-D8BFCB3AE2A7}"/>
          </ac:spMkLst>
        </pc:spChg>
      </pc:sldChg>
      <pc:sldChg chg="modSp mod">
        <pc:chgData name="Ziqing Liu" userId="20113ce3-4e8c-4eaa-a792-613b3e52886a" providerId="ADAL" clId="{7647F6DA-84E6-4065-910E-AC1B0A07A858}" dt="2026-04-30T01:24:15.284" v="527" actId="20577"/>
        <pc:sldMkLst>
          <pc:docMk/>
          <pc:sldMk cId="1775554001" sldId="267"/>
        </pc:sldMkLst>
        <pc:spChg chg="mod">
          <ac:chgData name="Ziqing Liu" userId="20113ce3-4e8c-4eaa-a792-613b3e52886a" providerId="ADAL" clId="{7647F6DA-84E6-4065-910E-AC1B0A07A858}" dt="2026-04-30T01:24:15.284" v="527" actId="20577"/>
          <ac:spMkLst>
            <pc:docMk/>
            <pc:sldMk cId="1775554001" sldId="267"/>
            <ac:spMk id="2" creationId="{E447A658-75C0-F871-2CA1-675D5953E9C4}"/>
          </ac:spMkLst>
        </pc:spChg>
      </pc:sldChg>
      <pc:sldChg chg="modSp mod ord">
        <pc:chgData name="Ziqing Liu" userId="20113ce3-4e8c-4eaa-a792-613b3e52886a" providerId="ADAL" clId="{7647F6DA-84E6-4065-910E-AC1B0A07A858}" dt="2026-04-30T01:24:20.987" v="533" actId="20577"/>
        <pc:sldMkLst>
          <pc:docMk/>
          <pc:sldMk cId="446253618" sldId="268"/>
        </pc:sldMkLst>
        <pc:spChg chg="mod">
          <ac:chgData name="Ziqing Liu" userId="20113ce3-4e8c-4eaa-a792-613b3e52886a" providerId="ADAL" clId="{7647F6DA-84E6-4065-910E-AC1B0A07A858}" dt="2026-04-30T01:24:20.987" v="533" actId="20577"/>
          <ac:spMkLst>
            <pc:docMk/>
            <pc:sldMk cId="446253618" sldId="268"/>
            <ac:spMk id="2" creationId="{702E50FB-E4C8-D52E-B0FE-BB45A3C57A83}"/>
          </ac:spMkLst>
        </pc:spChg>
      </pc:sldChg>
      <pc:sldChg chg="modSp mod modNotesTx">
        <pc:chgData name="Ziqing Liu" userId="20113ce3-4e8c-4eaa-a792-613b3e52886a" providerId="ADAL" clId="{7647F6DA-84E6-4065-910E-AC1B0A07A858}" dt="2026-05-12T07:15:59.870" v="3718" actId="20577"/>
        <pc:sldMkLst>
          <pc:docMk/>
          <pc:sldMk cId="3308895348" sldId="269"/>
        </pc:sldMkLst>
        <pc:spChg chg="mod">
          <ac:chgData name="Ziqing Liu" userId="20113ce3-4e8c-4eaa-a792-613b3e52886a" providerId="ADAL" clId="{7647F6DA-84E6-4065-910E-AC1B0A07A858}" dt="2026-05-01T03:06:17.439" v="3311" actId="20577"/>
          <ac:spMkLst>
            <pc:docMk/>
            <pc:sldMk cId="3308895348" sldId="269"/>
            <ac:spMk id="3" creationId="{75CEAE73-A454-A5D9-BF0B-1BC190E98C83}"/>
          </ac:spMkLst>
        </pc:spChg>
      </pc:sldChg>
      <pc:sldChg chg="modSp mod">
        <pc:chgData name="Ziqing Liu" userId="20113ce3-4e8c-4eaa-a792-613b3e52886a" providerId="ADAL" clId="{7647F6DA-84E6-4065-910E-AC1B0A07A858}" dt="2026-05-01T02:42:20.047" v="2238" actId="20577"/>
        <pc:sldMkLst>
          <pc:docMk/>
          <pc:sldMk cId="2551635289" sldId="270"/>
        </pc:sldMkLst>
        <pc:spChg chg="mod">
          <ac:chgData name="Ziqing Liu" userId="20113ce3-4e8c-4eaa-a792-613b3e52886a" providerId="ADAL" clId="{7647F6DA-84E6-4065-910E-AC1B0A07A858}" dt="2026-05-01T02:42:20.047" v="2238" actId="20577"/>
          <ac:spMkLst>
            <pc:docMk/>
            <pc:sldMk cId="2551635289" sldId="270"/>
            <ac:spMk id="3" creationId="{FFD0EB59-5046-2900-FE7E-DA5B4AD35E16}"/>
          </ac:spMkLst>
        </pc:spChg>
      </pc:sldChg>
      <pc:sldChg chg="modSp mod modNotesTx">
        <pc:chgData name="Ziqing Liu" userId="20113ce3-4e8c-4eaa-a792-613b3e52886a" providerId="ADAL" clId="{7647F6DA-84E6-4065-910E-AC1B0A07A858}" dt="2026-05-12T07:12:57.748" v="3680" actId="5793"/>
        <pc:sldMkLst>
          <pc:docMk/>
          <pc:sldMk cId="1684150992" sldId="271"/>
        </pc:sldMkLst>
        <pc:spChg chg="mod">
          <ac:chgData name="Ziqing Liu" userId="20113ce3-4e8c-4eaa-a792-613b3e52886a" providerId="ADAL" clId="{7647F6DA-84E6-4065-910E-AC1B0A07A858}" dt="2026-05-01T02:49:46.752" v="2393" actId="20577"/>
          <ac:spMkLst>
            <pc:docMk/>
            <pc:sldMk cId="1684150992" sldId="271"/>
            <ac:spMk id="2" creationId="{A06B37DB-4FA1-F2FE-5F48-EC8CCD83353A}"/>
          </ac:spMkLst>
        </pc:spChg>
        <pc:spChg chg="mod">
          <ac:chgData name="Ziqing Liu" userId="20113ce3-4e8c-4eaa-a792-613b3e52886a" providerId="ADAL" clId="{7647F6DA-84E6-4065-910E-AC1B0A07A858}" dt="2026-05-12T07:12:57.748" v="3680" actId="5793"/>
          <ac:spMkLst>
            <pc:docMk/>
            <pc:sldMk cId="1684150992" sldId="271"/>
            <ac:spMk id="3" creationId="{534FCC26-E232-AF3A-5BB8-150BCF7ED7CF}"/>
          </ac:spMkLst>
        </pc:spChg>
      </pc:sldChg>
      <pc:sldChg chg="addSp modSp mod modNotesTx">
        <pc:chgData name="Ziqing Liu" userId="20113ce3-4e8c-4eaa-a792-613b3e52886a" providerId="ADAL" clId="{7647F6DA-84E6-4065-910E-AC1B0A07A858}" dt="2026-05-01T03:06:52.840" v="3321" actId="20577"/>
        <pc:sldMkLst>
          <pc:docMk/>
          <pc:sldMk cId="4135181532" sldId="272"/>
        </pc:sldMkLst>
        <pc:spChg chg="mod">
          <ac:chgData name="Ziqing Liu" userId="20113ce3-4e8c-4eaa-a792-613b3e52886a" providerId="ADAL" clId="{7647F6DA-84E6-4065-910E-AC1B0A07A858}" dt="2026-05-01T03:06:52.840" v="3321" actId="20577"/>
          <ac:spMkLst>
            <pc:docMk/>
            <pc:sldMk cId="4135181532" sldId="272"/>
            <ac:spMk id="3" creationId="{DA16E06F-F081-53A3-84A4-2A6ED0ED5996}"/>
          </ac:spMkLst>
        </pc:spChg>
        <pc:picChg chg="add mod">
          <ac:chgData name="Ziqing Liu" userId="20113ce3-4e8c-4eaa-a792-613b3e52886a" providerId="ADAL" clId="{7647F6DA-84E6-4065-910E-AC1B0A07A858}" dt="2026-04-30T01:13:36.995" v="38"/>
          <ac:picMkLst>
            <pc:docMk/>
            <pc:sldMk cId="4135181532" sldId="272"/>
            <ac:picMk id="4" creationId="{F52AA396-A85B-B182-1509-77A7F6B12182}"/>
          </ac:picMkLst>
        </pc:picChg>
      </pc:sldChg>
      <pc:sldChg chg="addSp delSp modSp mod modNotesTx">
        <pc:chgData name="Ziqing Liu" userId="20113ce3-4e8c-4eaa-a792-613b3e52886a" providerId="ADAL" clId="{7647F6DA-84E6-4065-910E-AC1B0A07A858}" dt="2026-05-12T07:14:47.983" v="3711" actId="20577"/>
        <pc:sldMkLst>
          <pc:docMk/>
          <pc:sldMk cId="161381395" sldId="273"/>
        </pc:sldMkLst>
        <pc:spChg chg="mod">
          <ac:chgData name="Ziqing Liu" userId="20113ce3-4e8c-4eaa-a792-613b3e52886a" providerId="ADAL" clId="{7647F6DA-84E6-4065-910E-AC1B0A07A858}" dt="2026-05-12T07:14:47.983" v="3711" actId="20577"/>
          <ac:spMkLst>
            <pc:docMk/>
            <pc:sldMk cId="161381395" sldId="273"/>
            <ac:spMk id="2" creationId="{B18E2FA7-3528-B5F6-DCC3-6380A3F928B8}"/>
          </ac:spMkLst>
        </pc:spChg>
        <pc:spChg chg="add del mod">
          <ac:chgData name="Ziqing Liu" userId="20113ce3-4e8c-4eaa-a792-613b3e52886a" providerId="ADAL" clId="{7647F6DA-84E6-4065-910E-AC1B0A07A858}" dt="2026-05-12T07:14:28.874" v="3684"/>
          <ac:spMkLst>
            <pc:docMk/>
            <pc:sldMk cId="161381395" sldId="273"/>
            <ac:spMk id="4" creationId="{6BA039DC-B37E-8045-53DB-770B04AF2189}"/>
          </ac:spMkLst>
        </pc:spChg>
        <pc:picChg chg="add del mod ord">
          <ac:chgData name="Ziqing Liu" userId="20113ce3-4e8c-4eaa-a792-613b3e52886a" providerId="ADAL" clId="{7647F6DA-84E6-4065-910E-AC1B0A07A858}" dt="2026-05-12T07:14:26.285" v="3681" actId="478"/>
          <ac:picMkLst>
            <pc:docMk/>
            <pc:sldMk cId="161381395" sldId="273"/>
            <ac:picMk id="5" creationId="{BE7C069A-95D2-3FAE-BBC5-44E21A62F67B}"/>
          </ac:picMkLst>
        </pc:picChg>
        <pc:picChg chg="add del mod">
          <ac:chgData name="Ziqing Liu" userId="20113ce3-4e8c-4eaa-a792-613b3e52886a" providerId="ADAL" clId="{7647F6DA-84E6-4065-910E-AC1B0A07A858}" dt="2026-05-12T07:14:27.587" v="3682" actId="478"/>
          <ac:picMkLst>
            <pc:docMk/>
            <pc:sldMk cId="161381395" sldId="273"/>
            <ac:picMk id="7" creationId="{AE4623AB-D728-CE76-5F3B-F9CF9CF88544}"/>
          </ac:picMkLst>
        </pc:picChg>
        <pc:picChg chg="add mod ord">
          <ac:chgData name="Ziqing Liu" userId="20113ce3-4e8c-4eaa-a792-613b3e52886a" providerId="ADAL" clId="{7647F6DA-84E6-4065-910E-AC1B0A07A858}" dt="2026-05-12T07:14:38.599" v="3687" actId="1076"/>
          <ac:picMkLst>
            <pc:docMk/>
            <pc:sldMk cId="161381395" sldId="273"/>
            <ac:picMk id="8" creationId="{9EB8DF53-DD2A-7EC6-EEE9-2BA24FC5B165}"/>
          </ac:picMkLst>
        </pc:picChg>
      </pc:sldChg>
      <pc:sldChg chg="new">
        <pc:chgData name="Ziqing Liu" userId="20113ce3-4e8c-4eaa-a792-613b3e52886a" providerId="ADAL" clId="{7647F6DA-84E6-4065-910E-AC1B0A07A858}" dt="2026-05-01T02:18:54.361" v="2228" actId="680"/>
        <pc:sldMkLst>
          <pc:docMk/>
          <pc:sldMk cId="553690055" sldId="27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EF466A-A959-4E0E-8024-BDD72A80DBF2}" type="datetimeFigureOut">
              <a:rPr lang="en-AU" smtClean="0"/>
              <a:t>12/05/2026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E2FBA2-9175-4A3F-A6D1-7B9260A1E964}" type="slidenum">
              <a:rPr lang="en-AU" smtClean="0"/>
              <a:t>‹#›</a:t>
            </a:fld>
            <a:endParaRPr lang="en-AU"/>
          </a:p>
        </p:txBody>
      </p:sp>
    </p:spTree>
    <p:extLst>
      <p:ext uri="{BB962C8B-B14F-4D97-AF65-F5344CB8AC3E}">
        <p14:creationId xmlns:p14="http://schemas.microsoft.com/office/powerpoint/2010/main" val="33815779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LB is  rich and M9 is minimal </a:t>
            </a:r>
          </a:p>
          <a:p>
            <a:r>
              <a:rPr lang="en-AU" sz="1200" kern="1200" dirty="0">
                <a:solidFill>
                  <a:schemeClr val="tx1"/>
                </a:solidFill>
                <a:effectLst/>
                <a:latin typeface="+mn-lt"/>
                <a:ea typeface="+mn-ea"/>
                <a:cs typeface="+mn-cs"/>
              </a:rPr>
              <a:t>review I will define fitness effect as the effect a mutation has on an organism’s ability to survive in a given environment. This definition is broad and inclusive but most importantly does not propose an assumption of whether it is good or bad. Conversely, cost of resistance is defined as the price an organism pays to survive that is usually in the reduction of fitness in an environment due to factors like antibiotics, pesticides, and toxins. With the definitions I have listed above in mind the main issue we have with the term cost of resistance is that it is too narrow and that it is too much of an assumption often made too early. This is because if we have already </a:t>
            </a:r>
            <a:r>
              <a:rPr lang="en-AU" sz="1200" kern="1200" dirty="0" err="1">
                <a:solidFill>
                  <a:schemeClr val="tx1"/>
                </a:solidFill>
                <a:effectLst/>
                <a:latin typeface="+mn-lt"/>
                <a:ea typeface="+mn-ea"/>
                <a:cs typeface="+mn-cs"/>
              </a:rPr>
              <a:t>labled</a:t>
            </a:r>
            <a:r>
              <a:rPr lang="en-AU" sz="1200" kern="1200" dirty="0">
                <a:solidFill>
                  <a:schemeClr val="tx1"/>
                </a:solidFill>
                <a:effectLst/>
                <a:latin typeface="+mn-lt"/>
                <a:ea typeface="+mn-ea"/>
                <a:cs typeface="+mn-cs"/>
              </a:rPr>
              <a:t> an effect as a “cost” we are already assuming it is inherently negative when in reality this “cost” that we think we see in our specific treated environment could be neutral or even beneficial in another environment.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2</a:t>
            </a:fld>
            <a:endParaRPr lang="en-AU"/>
          </a:p>
        </p:txBody>
      </p:sp>
    </p:spTree>
    <p:extLst>
      <p:ext uri="{BB962C8B-B14F-4D97-AF65-F5344CB8AC3E}">
        <p14:creationId xmlns:p14="http://schemas.microsoft.com/office/powerpoint/2010/main" val="6387244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how we set up the </a:t>
            </a:r>
            <a:r>
              <a:rPr lang="en-US" dirty="0" err="1"/>
              <a:t>epxeiremnt</a:t>
            </a:r>
            <a:r>
              <a:rPr lang="en-US" dirty="0"/>
              <a:t> was that we test mutants under 1 temperature in 2 media. How we do this is we split a 96 well plate in 2 and After we </a:t>
            </a:r>
            <a:r>
              <a:rPr lang="en-US"/>
              <a:t>exclude the </a:t>
            </a:r>
            <a:r>
              <a:rPr lang="en-US" dirty="0"/>
              <a:t>border there are 60 wells left then if we blank 2 one </a:t>
            </a:r>
            <a:r>
              <a:rPr lang="en-US" dirty="0" err="1"/>
              <a:t>ofr</a:t>
            </a:r>
            <a:r>
              <a:rPr lang="en-US" dirty="0"/>
              <a:t> m9 one for </a:t>
            </a:r>
            <a:r>
              <a:rPr lang="en-US" dirty="0" err="1"/>
              <a:t>lb</a:t>
            </a:r>
            <a:r>
              <a:rPr lang="en-US" dirty="0"/>
              <a:t> it will give us 58 wells which nicely leaves us with 29 wells per growth media which fits nicely with my 28 mutants and WT. This way we can test the effect of temperature on our mutant across the two different media.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3</a:t>
            </a:fld>
            <a:endParaRPr lang="en-AU"/>
          </a:p>
        </p:txBody>
      </p:sp>
    </p:spTree>
    <p:extLst>
      <p:ext uri="{BB962C8B-B14F-4D97-AF65-F5344CB8AC3E}">
        <p14:creationId xmlns:p14="http://schemas.microsoft.com/office/powerpoint/2010/main" val="29188004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in mind the top half is m9 and the bottom half is LB. As expected LB grew much better than m9 however they grew too well at 42c for this temperature to be considered stressful  </a:t>
            </a:r>
          </a:p>
          <a:p>
            <a:endParaRPr lang="en-US" dirty="0"/>
          </a:p>
          <a:p>
            <a:r>
              <a:rPr lang="en-US" dirty="0"/>
              <a:t>Andrew mention you can see the sharp stop once while in LB its much more smooth slope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4</a:t>
            </a:fld>
            <a:endParaRPr lang="en-AU"/>
          </a:p>
        </p:txBody>
      </p:sp>
    </p:spTree>
    <p:extLst>
      <p:ext uri="{BB962C8B-B14F-4D97-AF65-F5344CB8AC3E}">
        <p14:creationId xmlns:p14="http://schemas.microsoft.com/office/powerpoint/2010/main" val="1020688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think upped the temp to 45 and from what we can see the bacteria in m9 has completely stopped growing however LB still looks too good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5</a:t>
            </a:fld>
            <a:endParaRPr lang="en-AU"/>
          </a:p>
        </p:txBody>
      </p:sp>
    </p:spTree>
    <p:extLst>
      <p:ext uri="{BB962C8B-B14F-4D97-AF65-F5344CB8AC3E}">
        <p14:creationId xmlns:p14="http://schemas.microsoft.com/office/powerpoint/2010/main" val="32001306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I changed the temp to 48 and we finally see no growth.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6</a:t>
            </a:fld>
            <a:endParaRPr lang="en-AU"/>
          </a:p>
        </p:txBody>
      </p:sp>
    </p:spTree>
    <p:extLst>
      <p:ext uri="{BB962C8B-B14F-4D97-AF65-F5344CB8AC3E}">
        <p14:creationId xmlns:p14="http://schemas.microsoft.com/office/powerpoint/2010/main" val="6286221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might attempt this in winter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7</a:t>
            </a:fld>
            <a:endParaRPr lang="en-AU"/>
          </a:p>
        </p:txBody>
      </p:sp>
    </p:spTree>
    <p:extLst>
      <p:ext uri="{BB962C8B-B14F-4D97-AF65-F5344CB8AC3E}">
        <p14:creationId xmlns:p14="http://schemas.microsoft.com/office/powerpoint/2010/main" val="29395114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reach saturation at 30-37 in LB and 42-37-30 in M9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8</a:t>
            </a:fld>
            <a:endParaRPr lang="en-AU"/>
          </a:p>
        </p:txBody>
      </p:sp>
    </p:spTree>
    <p:extLst>
      <p:ext uri="{BB962C8B-B14F-4D97-AF65-F5344CB8AC3E}">
        <p14:creationId xmlns:p14="http://schemas.microsoft.com/office/powerpoint/2010/main" val="14144302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Sweet spot for growth is between 37 and 42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9</a:t>
            </a:fld>
            <a:endParaRPr lang="en-AU"/>
          </a:p>
        </p:txBody>
      </p:sp>
    </p:spTree>
    <p:extLst>
      <p:ext uri="{BB962C8B-B14F-4D97-AF65-F5344CB8AC3E}">
        <p14:creationId xmlns:p14="http://schemas.microsoft.com/office/powerpoint/2010/main" val="29223176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OD is highest for M9 at 42c which is not traditionally optimal Even though the mutants are growing better in LB than M9 its interesting that the optimal for LB seems to be at 30-37c while m9 it seems to be 42 and maybe 37. the high </a:t>
            </a:r>
            <a:r>
              <a:rPr lang="en-US" dirty="0" err="1"/>
              <a:t>mumax</a:t>
            </a:r>
            <a:r>
              <a:rPr lang="en-US" dirty="0"/>
              <a:t> for LB at 42 is not translating to OD (even though our mutants can grow at 45 in LB it is seems to prefer 30-37 while although mutants don’t grow in M9 at 45 it seems to prefer 42c)</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At 42 LB has a high </a:t>
            </a:r>
            <a:r>
              <a:rPr lang="en-US" b="0" dirty="0" err="1"/>
              <a:t>mumax</a:t>
            </a:r>
            <a:r>
              <a:rPr lang="en-US" b="0" dirty="0"/>
              <a:t> but low OD which might be stress response as when under stress some bacteria can grow fast but ultimately cannot sustain it, resulting in low final yield. Meanhile although the </a:t>
            </a:r>
            <a:r>
              <a:rPr lang="en-US" b="0" dirty="0" err="1"/>
              <a:t>mumax</a:t>
            </a:r>
            <a:r>
              <a:rPr lang="en-US" b="0" dirty="0"/>
              <a:t> is low at 30c the OD is high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r>
              <a:rPr lang="en-AU" sz="1200" b="1" kern="1200" dirty="0">
                <a:solidFill>
                  <a:schemeClr val="tx1"/>
                </a:solidFill>
                <a:effectLst/>
                <a:latin typeface="+mn-lt"/>
                <a:ea typeface="+mn-ea"/>
                <a:cs typeface="+mn-cs"/>
              </a:rPr>
              <a:t>our results show that our mutations mostly grow the same as WT</a:t>
            </a:r>
            <a:endParaRPr lang="en-AU" sz="1200" kern="1200" dirty="0">
              <a:solidFill>
                <a:schemeClr val="tx1"/>
              </a:solidFill>
              <a:effectLst/>
              <a:latin typeface="+mn-lt"/>
              <a:ea typeface="+mn-ea"/>
              <a:cs typeface="+mn-cs"/>
            </a:endParaRPr>
          </a:p>
          <a:p>
            <a:r>
              <a:rPr lang="en-AU" sz="1200" b="1" kern="1200" dirty="0" err="1">
                <a:solidFill>
                  <a:schemeClr val="tx1"/>
                </a:solidFill>
                <a:effectLst/>
                <a:latin typeface="+mn-lt"/>
                <a:ea typeface="+mn-ea"/>
                <a:cs typeface="+mn-cs"/>
              </a:rPr>
              <a:t>rpoB</a:t>
            </a:r>
            <a:r>
              <a:rPr lang="en-AU" sz="1200" b="1" kern="1200" dirty="0">
                <a:solidFill>
                  <a:schemeClr val="tx1"/>
                </a:solidFill>
                <a:effectLst/>
                <a:latin typeface="+mn-lt"/>
                <a:ea typeface="+mn-ea"/>
                <a:cs typeface="+mn-cs"/>
              </a:rPr>
              <a:t> does not provide benefit because WT grew just as well without it??</a:t>
            </a:r>
            <a:endParaRPr lang="en-AU" sz="1200" kern="1200" dirty="0">
              <a:solidFill>
                <a:schemeClr val="tx1"/>
              </a:solidFill>
              <a:effectLst/>
              <a:latin typeface="+mn-lt"/>
              <a:ea typeface="+mn-ea"/>
              <a:cs typeface="+mn-cs"/>
            </a:endParaRPr>
          </a:p>
          <a:p>
            <a:r>
              <a:rPr lang="en-AU" sz="1200" b="1" kern="1200" dirty="0">
                <a:solidFill>
                  <a:schemeClr val="tx1"/>
                </a:solidFill>
                <a:effectLst/>
                <a:latin typeface="+mn-lt"/>
                <a:ea typeface="+mn-ea"/>
                <a:cs typeface="+mn-cs"/>
              </a:rPr>
              <a:t>Other side is that we expect that </a:t>
            </a:r>
            <a:r>
              <a:rPr lang="en-AU" sz="1200" b="1" kern="1200" dirty="0" err="1">
                <a:solidFill>
                  <a:schemeClr val="tx1"/>
                </a:solidFill>
                <a:effectLst/>
                <a:latin typeface="+mn-lt"/>
                <a:ea typeface="+mn-ea"/>
                <a:cs typeface="+mn-cs"/>
              </a:rPr>
              <a:t>rpoB</a:t>
            </a:r>
            <a:r>
              <a:rPr lang="en-AU" sz="1200" b="1" kern="1200" dirty="0">
                <a:solidFill>
                  <a:schemeClr val="tx1"/>
                </a:solidFill>
                <a:effectLst/>
                <a:latin typeface="+mn-lt"/>
                <a:ea typeface="+mn-ea"/>
                <a:cs typeface="+mn-cs"/>
              </a:rPr>
              <a:t> mutations will be deleterious at a stressful temperature without RIF, but it seems to be fine </a:t>
            </a:r>
            <a:endParaRPr lang="en-AU" sz="1200" kern="1200" dirty="0">
              <a:solidFill>
                <a:schemeClr val="tx1"/>
              </a:solidFill>
              <a:effectLst/>
              <a:latin typeface="+mn-lt"/>
              <a:ea typeface="+mn-ea"/>
              <a:cs typeface="+mn-cs"/>
            </a:endParaRPr>
          </a:p>
          <a:p>
            <a:r>
              <a:rPr lang="en-AU" sz="1200" b="1" kern="1200" dirty="0">
                <a:solidFill>
                  <a:schemeClr val="tx1"/>
                </a:solidFill>
                <a:effectLst/>
                <a:latin typeface="+mn-lt"/>
                <a:ea typeface="+mn-ea"/>
                <a:cs typeface="+mn-cs"/>
              </a:rPr>
              <a:t>So while it does not provide extra benefit it seems to not be a burden on the bacteria </a:t>
            </a:r>
            <a:endParaRPr lang="en-AU" sz="1200" kern="1200" dirty="0">
              <a:solidFill>
                <a:schemeClr val="tx1"/>
              </a:solidFill>
              <a:effectLst/>
              <a:latin typeface="+mn-lt"/>
              <a:ea typeface="+mn-ea"/>
              <a:cs typeface="+mn-cs"/>
            </a:endParaRPr>
          </a:p>
          <a:p>
            <a:r>
              <a:rPr lang="en-AU" sz="1200" b="1" kern="1200" dirty="0">
                <a:solidFill>
                  <a:schemeClr val="tx1"/>
                </a:solidFill>
                <a:effectLst/>
                <a:latin typeface="+mn-lt"/>
                <a:ea typeface="+mn-ea"/>
                <a:cs typeface="+mn-cs"/>
              </a:rPr>
              <a:t>Seems like </a:t>
            </a:r>
            <a:r>
              <a:rPr lang="en-AU" sz="1200" b="1" kern="1200" dirty="0" err="1">
                <a:solidFill>
                  <a:schemeClr val="tx1"/>
                </a:solidFill>
                <a:effectLst/>
                <a:latin typeface="+mn-lt"/>
                <a:ea typeface="+mn-ea"/>
                <a:cs typeface="+mn-cs"/>
              </a:rPr>
              <a:t>rpoB</a:t>
            </a:r>
            <a:r>
              <a:rPr lang="en-AU" sz="1200" b="1" kern="1200" dirty="0">
                <a:solidFill>
                  <a:schemeClr val="tx1"/>
                </a:solidFill>
                <a:effectLst/>
                <a:latin typeface="+mn-lt"/>
                <a:ea typeface="+mn-ea"/>
                <a:cs typeface="+mn-cs"/>
              </a:rPr>
              <a:t> mutations are neither beneficial or deleterious which in itself is interesting </a:t>
            </a:r>
            <a:endParaRPr lang="en-AU" sz="1200" kern="1200" dirty="0">
              <a:solidFill>
                <a:schemeClr val="tx1"/>
              </a:solidFill>
              <a:effectLst/>
              <a:latin typeface="+mn-lt"/>
              <a:ea typeface="+mn-ea"/>
              <a:cs typeface="+mn-cs"/>
            </a:endParaRPr>
          </a:p>
          <a:p>
            <a:r>
              <a:rPr lang="en-AU" sz="1200" b="1" kern="1200" dirty="0">
                <a:solidFill>
                  <a:schemeClr val="tx1"/>
                </a:solidFill>
                <a:effectLst/>
                <a:latin typeface="+mn-lt"/>
                <a:ea typeface="+mn-ea"/>
                <a:cs typeface="+mn-cs"/>
              </a:rPr>
              <a:t>Some nuance like M12</a:t>
            </a:r>
            <a:endParaRPr lang="en-AU"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10</a:t>
            </a:fld>
            <a:endParaRPr lang="en-AU"/>
          </a:p>
        </p:txBody>
      </p:sp>
    </p:spTree>
    <p:extLst>
      <p:ext uri="{BB962C8B-B14F-4D97-AF65-F5344CB8AC3E}">
        <p14:creationId xmlns:p14="http://schemas.microsoft.com/office/powerpoint/2010/main" val="36866751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 line is the average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11</a:t>
            </a:fld>
            <a:endParaRPr lang="en-AU"/>
          </a:p>
        </p:txBody>
      </p:sp>
    </p:spTree>
    <p:extLst>
      <p:ext uri="{BB962C8B-B14F-4D97-AF65-F5344CB8AC3E}">
        <p14:creationId xmlns:p14="http://schemas.microsoft.com/office/powerpoint/2010/main" val="31029773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table </a:t>
            </a:r>
          </a:p>
          <a:p>
            <a:pPr marL="0" marR="0" lvl="0" indent="0" algn="l" defTabSz="914400" rtl="0" eaLnBrk="1" fontAlgn="auto" latinLnBrk="0" hangingPunct="1">
              <a:lnSpc>
                <a:spcPct val="100000"/>
              </a:lnSpc>
              <a:spcBef>
                <a:spcPts val="0"/>
              </a:spcBef>
              <a:spcAft>
                <a:spcPts val="0"/>
              </a:spcAft>
              <a:buClrTx/>
              <a:buSzTx/>
              <a:buFontTx/>
              <a:buNone/>
              <a:tabLst/>
              <a:defRPr/>
            </a:pPr>
            <a:r>
              <a:rPr lang="en-AU" dirty="0"/>
              <a:t>The hypothesis is that even though the rare mutations are resistant the cost might be too high so that they are dying </a:t>
            </a:r>
          </a:p>
          <a:p>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16</a:t>
            </a:fld>
            <a:endParaRPr lang="en-AU"/>
          </a:p>
        </p:txBody>
      </p:sp>
    </p:spTree>
    <p:extLst>
      <p:ext uri="{BB962C8B-B14F-4D97-AF65-F5344CB8AC3E}">
        <p14:creationId xmlns:p14="http://schemas.microsoft.com/office/powerpoint/2010/main" val="25042085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test if this is true …</a:t>
            </a:r>
          </a:p>
          <a:p>
            <a:r>
              <a:rPr lang="en-US" dirty="0"/>
              <a:t>Testing to see if there is correlation between mutation rate and survivability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17</a:t>
            </a:fld>
            <a:endParaRPr lang="en-AU"/>
          </a:p>
        </p:txBody>
      </p:sp>
    </p:spTree>
    <p:extLst>
      <p:ext uri="{BB962C8B-B14F-4D97-AF65-F5344CB8AC3E}">
        <p14:creationId xmlns:p14="http://schemas.microsoft.com/office/powerpoint/2010/main" val="14002844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Ideally we see the mutants with the highest mutation rate to have the most number of colonies and the rare mutants to have much or less  as they are all dead (hopefully this supports the idea that the reason we see so many of the same mutation pop up is because it managed to live longer than the rare mutations </a:t>
            </a:r>
          </a:p>
          <a:p>
            <a:endParaRPr lang="en-US" dirty="0"/>
          </a:p>
          <a:p>
            <a:r>
              <a:rPr lang="en-US" dirty="0"/>
              <a:t>I don’t know if this will be the case but ill start the experiment next week</a:t>
            </a:r>
          </a:p>
          <a:p>
            <a:pPr rtl="0" fontAlgn="t"/>
            <a:r>
              <a:rPr lang="en-AU" sz="1200" kern="1200" dirty="0">
                <a:solidFill>
                  <a:schemeClr val="tx1"/>
                </a:solidFill>
                <a:effectLst/>
                <a:latin typeface="+mn-lt"/>
                <a:ea typeface="+mn-ea"/>
                <a:cs typeface="+mn-cs"/>
              </a:rPr>
              <a:t>Codon accessibility                                                        </a:t>
            </a:r>
          </a:p>
          <a:p>
            <a:pPr rtl="0" fontAlgn="t"/>
            <a:r>
              <a:rPr lang="en-AU" sz="1200" kern="1200" dirty="0">
                <a:solidFill>
                  <a:schemeClr val="tx1"/>
                </a:solidFill>
                <a:effectLst/>
                <a:latin typeface="+mn-lt"/>
                <a:ea typeface="+mn-ea"/>
                <a:cs typeface="+mn-cs"/>
              </a:rPr>
              <a:t>High resistance, low fitness cost</a:t>
            </a:r>
          </a:p>
          <a:p>
            <a:pPr rtl="0" fontAlgn="t"/>
            <a:r>
              <a:rPr lang="en-AU" sz="1200" kern="1200" dirty="0">
                <a:solidFill>
                  <a:schemeClr val="tx1"/>
                </a:solidFill>
                <a:effectLst/>
                <a:latin typeface="+mn-lt"/>
                <a:ea typeface="+mn-ea"/>
                <a:cs typeface="+mn-cs"/>
              </a:rPr>
              <a:t>Compensatory evolution</a:t>
            </a:r>
          </a:p>
          <a:p>
            <a:pPr rtl="0" fontAlgn="t"/>
            <a:r>
              <a:rPr lang="en-AU" sz="1200" kern="1200" dirty="0">
                <a:solidFill>
                  <a:schemeClr val="tx1"/>
                </a:solidFill>
                <a:effectLst/>
                <a:latin typeface="+mn-lt"/>
                <a:ea typeface="+mn-ea"/>
                <a:cs typeface="+mn-cs"/>
              </a:rPr>
              <a:t>Transmission advantage</a:t>
            </a:r>
          </a:p>
          <a:p>
            <a:endParaRPr lang="en-AU" dirty="0"/>
          </a:p>
          <a:p>
            <a:pPr rtl="0" fontAlgn="t"/>
            <a:r>
              <a:rPr lang="en-AU" sz="1200" kern="1200" dirty="0">
                <a:solidFill>
                  <a:schemeClr val="tx1"/>
                </a:solidFill>
                <a:effectLst/>
                <a:latin typeface="+mn-lt"/>
                <a:ea typeface="+mn-ea"/>
                <a:cs typeface="+mn-cs"/>
              </a:rPr>
              <a:t>TCG→TTG is a single-step mutation unique to MTB</a:t>
            </a:r>
          </a:p>
          <a:p>
            <a:pPr rtl="0" fontAlgn="t"/>
            <a:r>
              <a:rPr lang="en-AU" sz="1200" kern="1200" dirty="0">
                <a:solidFill>
                  <a:schemeClr val="tx1"/>
                </a:solidFill>
                <a:effectLst/>
                <a:latin typeface="+mn-lt"/>
                <a:ea typeface="+mn-ea"/>
                <a:cs typeface="+mn-cs"/>
              </a:rPr>
              <a:t>S531L gives high MIC but impairs growth less than 526/516</a:t>
            </a:r>
          </a:p>
          <a:p>
            <a:pPr rtl="0" fontAlgn="t"/>
            <a:r>
              <a:rPr lang="en-AU" sz="1200" kern="1200" dirty="0">
                <a:solidFill>
                  <a:schemeClr val="tx1"/>
                </a:solidFill>
                <a:effectLst/>
                <a:latin typeface="+mn-lt"/>
                <a:ea typeface="+mn-ea"/>
                <a:cs typeface="+mn-cs"/>
              </a:rPr>
              <a:t>S531L uniquely recruits </a:t>
            </a:r>
            <a:r>
              <a:rPr lang="en-AU" sz="1200" kern="1200" dirty="0" err="1">
                <a:solidFill>
                  <a:schemeClr val="tx1"/>
                </a:solidFill>
                <a:effectLst/>
                <a:latin typeface="+mn-lt"/>
                <a:ea typeface="+mn-ea"/>
                <a:cs typeface="+mn-cs"/>
              </a:rPr>
              <a:t>rpoA</a:t>
            </a:r>
            <a:r>
              <a:rPr lang="en-AU" sz="1200" kern="1200" dirty="0">
                <a:solidFill>
                  <a:schemeClr val="tx1"/>
                </a:solidFill>
                <a:effectLst/>
                <a:latin typeface="+mn-lt"/>
                <a:ea typeface="+mn-ea"/>
                <a:cs typeface="+mn-cs"/>
              </a:rPr>
              <a:t>/C compensatory mutations</a:t>
            </a:r>
          </a:p>
          <a:p>
            <a:pPr rtl="0" fontAlgn="t"/>
            <a:r>
              <a:rPr lang="en-AU" sz="1200" kern="1200" dirty="0">
                <a:solidFill>
                  <a:schemeClr val="tx1"/>
                </a:solidFill>
                <a:effectLst/>
                <a:latin typeface="+mn-lt"/>
                <a:ea typeface="+mn-ea"/>
                <a:cs typeface="+mn-cs"/>
              </a:rPr>
              <a:t>Compensated S531L strains spread clonally</a:t>
            </a:r>
          </a:p>
          <a:p>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18</a:t>
            </a:fld>
            <a:endParaRPr lang="en-AU"/>
          </a:p>
        </p:txBody>
      </p:sp>
    </p:spTree>
    <p:extLst>
      <p:ext uri="{BB962C8B-B14F-4D97-AF65-F5344CB8AC3E}">
        <p14:creationId xmlns:p14="http://schemas.microsoft.com/office/powerpoint/2010/main" val="19813945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E7611B22-EA13-474B-83BA-8A12F66AADAF}" type="datetimeFigureOut">
              <a:rPr lang="en-AU" smtClean="0"/>
              <a:t>12/05/2026</a:t>
            </a:fld>
            <a:endParaRPr lang="en-AU"/>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AU"/>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5A7A6B84-712C-4447-9CE1-C6658B4CC8CE}" type="slidenum">
              <a:rPr lang="en-AU" smtClean="0"/>
              <a:t>‹#›</a:t>
            </a:fld>
            <a:endParaRPr lang="en-AU"/>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AU"/>
          </a:p>
        </p:txBody>
      </p:sp>
    </p:spTree>
    <p:extLst>
      <p:ext uri="{BB962C8B-B14F-4D97-AF65-F5344CB8AC3E}">
        <p14:creationId xmlns:p14="http://schemas.microsoft.com/office/powerpoint/2010/main" val="777320210"/>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7611B22-EA13-474B-83BA-8A12F66AADAF}" type="datetimeFigureOut">
              <a:rPr lang="en-AU" smtClean="0"/>
              <a:t>12/05/2026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27267629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7611B22-EA13-474B-83BA-8A12F66AADAF}" type="datetimeFigureOut">
              <a:rPr lang="en-AU" smtClean="0"/>
              <a:t>12/05/2026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5A7A6B84-712C-4447-9CE1-C6658B4CC8CE}" type="slidenum">
              <a:rPr lang="en-AU" smtClean="0"/>
              <a:t>‹#›</a:t>
            </a:fld>
            <a:endParaRPr lang="en-AU"/>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9653915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7611B22-EA13-474B-83BA-8A12F66AADAF}" type="datetimeFigureOut">
              <a:rPr lang="en-AU" smtClean="0"/>
              <a:t>12/05/2026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36638767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7611B22-EA13-474B-83BA-8A12F66AADAF}" type="datetimeFigureOut">
              <a:rPr lang="en-AU" smtClean="0"/>
              <a:t>12/05/2026</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35774096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7611B22-EA13-474B-83BA-8A12F66AADAF}" type="datetimeFigureOut">
              <a:rPr lang="en-AU" smtClean="0"/>
              <a:t>12/05/2026</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34077042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7611B22-EA13-474B-83BA-8A12F66AADAF}" type="datetimeFigureOut">
              <a:rPr lang="en-AU" smtClean="0"/>
              <a:t>12/05/2026</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21105735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7611B22-EA13-474B-83BA-8A12F66AADAF}" type="datetimeFigureOut">
              <a:rPr lang="en-AU" smtClean="0"/>
              <a:t>12/05/2026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8431000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7611B22-EA13-474B-83BA-8A12F66AADAF}" type="datetimeFigureOut">
              <a:rPr lang="en-AU" smtClean="0"/>
              <a:t>12/05/2026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30002851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7611B22-EA13-474B-83BA-8A12F66AADAF}" type="datetimeFigureOut">
              <a:rPr lang="en-AU" smtClean="0"/>
              <a:t>12/05/2026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10657019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7611B22-EA13-474B-83BA-8A12F66AADAF}" type="datetimeFigureOut">
              <a:rPr lang="en-AU" smtClean="0"/>
              <a:t>12/05/2026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31327019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AU"/>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E7611B22-EA13-474B-83BA-8A12F66AADAF}" type="datetimeFigureOut">
              <a:rPr lang="en-AU" smtClean="0"/>
              <a:t>12/05/2026</a:t>
            </a:fld>
            <a:endParaRPr lang="en-AU"/>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en-AU"/>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5A7A6B84-712C-4447-9CE1-C6658B4CC8CE}" type="slidenum">
              <a:rPr lang="en-AU" smtClean="0"/>
              <a:t>‹#›</a:t>
            </a:fld>
            <a:endParaRPr lang="en-AU"/>
          </a:p>
        </p:txBody>
      </p:sp>
    </p:spTree>
    <p:extLst>
      <p:ext uri="{BB962C8B-B14F-4D97-AF65-F5344CB8AC3E}">
        <p14:creationId xmlns:p14="http://schemas.microsoft.com/office/powerpoint/2010/main" val="370872640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F0A804-B0AB-8799-A597-19D0395CD384}"/>
              </a:ext>
            </a:extLst>
          </p:cNvPr>
          <p:cNvSpPr>
            <a:spLocks noGrp="1"/>
          </p:cNvSpPr>
          <p:nvPr>
            <p:ph type="ctrTitle"/>
          </p:nvPr>
        </p:nvSpPr>
        <p:spPr/>
        <p:txBody>
          <a:bodyPr/>
          <a:lstStyle/>
          <a:p>
            <a:r>
              <a:rPr lang="en-US" dirty="0"/>
              <a:t>Research Update </a:t>
            </a:r>
            <a:endParaRPr lang="en-AU" dirty="0"/>
          </a:p>
        </p:txBody>
      </p:sp>
      <p:sp>
        <p:nvSpPr>
          <p:cNvPr id="3" name="Subtitle 2">
            <a:extLst>
              <a:ext uri="{FF2B5EF4-FFF2-40B4-BE49-F238E27FC236}">
                <a16:creationId xmlns:a16="http://schemas.microsoft.com/office/drawing/2014/main" id="{9C7B2356-2320-DDCE-5543-C9B60EC3A997}"/>
              </a:ext>
            </a:extLst>
          </p:cNvPr>
          <p:cNvSpPr>
            <a:spLocks noGrp="1"/>
          </p:cNvSpPr>
          <p:nvPr>
            <p:ph type="subTitle" idx="1"/>
          </p:nvPr>
        </p:nvSpPr>
        <p:spPr/>
        <p:txBody>
          <a:bodyPr/>
          <a:lstStyle/>
          <a:p>
            <a:r>
              <a:rPr lang="en-US" dirty="0"/>
              <a:t>Edward Liu 01/05/2026 </a:t>
            </a:r>
            <a:endParaRPr lang="en-AU" dirty="0"/>
          </a:p>
        </p:txBody>
      </p:sp>
    </p:spTree>
    <p:extLst>
      <p:ext uri="{BB962C8B-B14F-4D97-AF65-F5344CB8AC3E}">
        <p14:creationId xmlns:p14="http://schemas.microsoft.com/office/powerpoint/2010/main" val="11751043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EA34F-6776-B085-331E-74C0279DCB4D}"/>
              </a:ext>
            </a:extLst>
          </p:cNvPr>
          <p:cNvSpPr>
            <a:spLocks noGrp="1"/>
          </p:cNvSpPr>
          <p:nvPr>
            <p:ph type="title"/>
          </p:nvPr>
        </p:nvSpPr>
        <p:spPr/>
        <p:txBody>
          <a:bodyPr/>
          <a:lstStyle/>
          <a:p>
            <a:r>
              <a:rPr lang="en-US" dirty="0"/>
              <a:t>Chapter 1 </a:t>
            </a:r>
            <a:endParaRPr lang="en-AU" dirty="0"/>
          </a:p>
        </p:txBody>
      </p:sp>
      <p:sp>
        <p:nvSpPr>
          <p:cNvPr id="3" name="Content Placeholder 2">
            <a:extLst>
              <a:ext uri="{FF2B5EF4-FFF2-40B4-BE49-F238E27FC236}">
                <a16:creationId xmlns:a16="http://schemas.microsoft.com/office/drawing/2014/main" id="{CA4F29F4-AEB2-D0FB-3CE6-20070AD29B70}"/>
              </a:ext>
            </a:extLst>
          </p:cNvPr>
          <p:cNvSpPr>
            <a:spLocks noGrp="1"/>
          </p:cNvSpPr>
          <p:nvPr>
            <p:ph idx="1"/>
          </p:nvPr>
        </p:nvSpPr>
        <p:spPr/>
        <p:txBody>
          <a:bodyPr/>
          <a:lstStyle/>
          <a:p>
            <a:r>
              <a:rPr lang="en-US" dirty="0"/>
              <a:t>Looking at the fitness effect of E. coli with </a:t>
            </a:r>
            <a:r>
              <a:rPr lang="en-US" dirty="0" err="1"/>
              <a:t>rpoB</a:t>
            </a:r>
            <a:r>
              <a:rPr lang="en-US" dirty="0"/>
              <a:t> mutations from our lab </a:t>
            </a:r>
          </a:p>
          <a:p>
            <a:r>
              <a:rPr lang="en-US" dirty="0"/>
              <a:t>Growing them across a wide temperature spectrum ideally from 22</a:t>
            </a:r>
            <a:r>
              <a:rPr lang="en-AU" dirty="0"/>
              <a:t>°c</a:t>
            </a:r>
            <a:r>
              <a:rPr lang="en-US" dirty="0"/>
              <a:t>-42</a:t>
            </a:r>
            <a:r>
              <a:rPr lang="en-AU" dirty="0"/>
              <a:t>°c</a:t>
            </a:r>
          </a:p>
          <a:p>
            <a:r>
              <a:rPr lang="en-AU" dirty="0"/>
              <a:t>Also across two types of media LB and M9 </a:t>
            </a:r>
            <a:endParaRPr lang="en-US" dirty="0"/>
          </a:p>
          <a:p>
            <a:endParaRPr lang="en-US" dirty="0"/>
          </a:p>
          <a:p>
            <a:endParaRPr lang="en-AU" dirty="0"/>
          </a:p>
        </p:txBody>
      </p:sp>
    </p:spTree>
    <p:extLst>
      <p:ext uri="{BB962C8B-B14F-4D97-AF65-F5344CB8AC3E}">
        <p14:creationId xmlns:p14="http://schemas.microsoft.com/office/powerpoint/2010/main" val="20406663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4B637-53FF-EF31-1E67-5F6056B77117}"/>
              </a:ext>
            </a:extLst>
          </p:cNvPr>
          <p:cNvSpPr>
            <a:spLocks noGrp="1"/>
          </p:cNvSpPr>
          <p:nvPr>
            <p:ph type="title"/>
          </p:nvPr>
        </p:nvSpPr>
        <p:spPr/>
        <p:txBody>
          <a:bodyPr/>
          <a:lstStyle/>
          <a:p>
            <a:r>
              <a:rPr lang="en-US" dirty="0"/>
              <a:t>Design </a:t>
            </a:r>
            <a:endParaRPr lang="en-AU" dirty="0"/>
          </a:p>
        </p:txBody>
      </p:sp>
      <p:sp>
        <p:nvSpPr>
          <p:cNvPr id="3" name="Content Placeholder 2">
            <a:extLst>
              <a:ext uri="{FF2B5EF4-FFF2-40B4-BE49-F238E27FC236}">
                <a16:creationId xmlns:a16="http://schemas.microsoft.com/office/drawing/2014/main" id="{CFDBA41F-E832-2EAA-7EFE-45CC239BAE62}"/>
              </a:ext>
            </a:extLst>
          </p:cNvPr>
          <p:cNvSpPr>
            <a:spLocks noGrp="1"/>
          </p:cNvSpPr>
          <p:nvPr>
            <p:ph idx="1"/>
          </p:nvPr>
        </p:nvSpPr>
        <p:spPr/>
        <p:txBody>
          <a:bodyPr/>
          <a:lstStyle/>
          <a:p>
            <a:r>
              <a:rPr lang="en-US" dirty="0"/>
              <a:t>Picked 28 mutants and the WT to test </a:t>
            </a:r>
          </a:p>
          <a:p>
            <a:pPr marL="0" indent="0">
              <a:buNone/>
            </a:pPr>
            <a:endParaRPr lang="en-US" dirty="0"/>
          </a:p>
          <a:p>
            <a:endParaRPr lang="en-US" dirty="0"/>
          </a:p>
          <a:p>
            <a:endParaRPr lang="en-US" dirty="0"/>
          </a:p>
          <a:p>
            <a:endParaRPr lang="en-US" dirty="0"/>
          </a:p>
          <a:p>
            <a:endParaRPr lang="en-US" dirty="0"/>
          </a:p>
          <a:p>
            <a:endParaRPr lang="en-AU" dirty="0"/>
          </a:p>
        </p:txBody>
      </p:sp>
      <p:pic>
        <p:nvPicPr>
          <p:cNvPr id="5" name="Picture 4">
            <a:extLst>
              <a:ext uri="{FF2B5EF4-FFF2-40B4-BE49-F238E27FC236}">
                <a16:creationId xmlns:a16="http://schemas.microsoft.com/office/drawing/2014/main" id="{CDB297E6-9427-8FC9-52E9-2B5FAAF992D7}"/>
              </a:ext>
            </a:extLst>
          </p:cNvPr>
          <p:cNvPicPr>
            <a:picLocks noChangeAspect="1"/>
          </p:cNvPicPr>
          <p:nvPr/>
        </p:nvPicPr>
        <p:blipFill>
          <a:blip r:embed="rId3"/>
          <a:stretch>
            <a:fillRect/>
          </a:stretch>
        </p:blipFill>
        <p:spPr>
          <a:xfrm>
            <a:off x="992701" y="2785379"/>
            <a:ext cx="5506070" cy="3826718"/>
          </a:xfrm>
          <a:prstGeom prst="rect">
            <a:avLst/>
          </a:prstGeom>
        </p:spPr>
      </p:pic>
      <p:pic>
        <p:nvPicPr>
          <p:cNvPr id="7" name="Picture 6">
            <a:extLst>
              <a:ext uri="{FF2B5EF4-FFF2-40B4-BE49-F238E27FC236}">
                <a16:creationId xmlns:a16="http://schemas.microsoft.com/office/drawing/2014/main" id="{B36CEB3D-BE1E-EAFA-D579-485596E55D33}"/>
              </a:ext>
            </a:extLst>
          </p:cNvPr>
          <p:cNvPicPr>
            <a:picLocks noChangeAspect="1"/>
          </p:cNvPicPr>
          <p:nvPr/>
        </p:nvPicPr>
        <p:blipFill>
          <a:blip r:embed="rId4"/>
          <a:stretch>
            <a:fillRect/>
          </a:stretch>
        </p:blipFill>
        <p:spPr>
          <a:xfrm>
            <a:off x="9431306" y="59095"/>
            <a:ext cx="1767993" cy="5342083"/>
          </a:xfrm>
          <a:prstGeom prst="rect">
            <a:avLst/>
          </a:prstGeom>
        </p:spPr>
      </p:pic>
    </p:spTree>
    <p:extLst>
      <p:ext uri="{BB962C8B-B14F-4D97-AF65-F5344CB8AC3E}">
        <p14:creationId xmlns:p14="http://schemas.microsoft.com/office/powerpoint/2010/main" val="35718270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E2F456-B6AE-57CA-6BDC-043DD89096AA}"/>
              </a:ext>
            </a:extLst>
          </p:cNvPr>
          <p:cNvSpPr>
            <a:spLocks noGrp="1"/>
          </p:cNvSpPr>
          <p:nvPr>
            <p:ph type="title"/>
          </p:nvPr>
        </p:nvSpPr>
        <p:spPr/>
        <p:txBody>
          <a:bodyPr/>
          <a:lstStyle/>
          <a:p>
            <a:r>
              <a:rPr lang="en-US" dirty="0"/>
              <a:t>Initial findings </a:t>
            </a:r>
            <a:endParaRPr lang="en-AU" dirty="0"/>
          </a:p>
        </p:txBody>
      </p:sp>
      <p:sp>
        <p:nvSpPr>
          <p:cNvPr id="3" name="Content Placeholder 2">
            <a:extLst>
              <a:ext uri="{FF2B5EF4-FFF2-40B4-BE49-F238E27FC236}">
                <a16:creationId xmlns:a16="http://schemas.microsoft.com/office/drawing/2014/main" id="{7409183D-F892-067B-76CC-5D0764E122D5}"/>
              </a:ext>
            </a:extLst>
          </p:cNvPr>
          <p:cNvSpPr>
            <a:spLocks noGrp="1"/>
          </p:cNvSpPr>
          <p:nvPr>
            <p:ph idx="1"/>
          </p:nvPr>
        </p:nvSpPr>
        <p:spPr/>
        <p:txBody>
          <a:bodyPr/>
          <a:lstStyle/>
          <a:p>
            <a:r>
              <a:rPr lang="en-US" dirty="0"/>
              <a:t>I first tested the temperature ranges that we thought would be constitute as heat stress for E. coli (42</a:t>
            </a:r>
            <a:r>
              <a:rPr lang="en-AU" dirty="0"/>
              <a:t>°c) </a:t>
            </a:r>
          </a:p>
        </p:txBody>
      </p:sp>
      <p:pic>
        <p:nvPicPr>
          <p:cNvPr id="5" name="Picture 4">
            <a:extLst>
              <a:ext uri="{FF2B5EF4-FFF2-40B4-BE49-F238E27FC236}">
                <a16:creationId xmlns:a16="http://schemas.microsoft.com/office/drawing/2014/main" id="{E095E2FD-5464-5E47-C3B4-26BB068BDFF6}"/>
              </a:ext>
            </a:extLst>
          </p:cNvPr>
          <p:cNvPicPr>
            <a:picLocks noChangeAspect="1"/>
          </p:cNvPicPr>
          <p:nvPr/>
        </p:nvPicPr>
        <p:blipFill>
          <a:blip r:embed="rId3"/>
          <a:stretch>
            <a:fillRect/>
          </a:stretch>
        </p:blipFill>
        <p:spPr>
          <a:xfrm>
            <a:off x="197756" y="2723034"/>
            <a:ext cx="10815539" cy="3821457"/>
          </a:xfrm>
          <a:prstGeom prst="rect">
            <a:avLst/>
          </a:prstGeom>
        </p:spPr>
      </p:pic>
      <p:pic>
        <p:nvPicPr>
          <p:cNvPr id="6" name="Picture 5">
            <a:extLst>
              <a:ext uri="{FF2B5EF4-FFF2-40B4-BE49-F238E27FC236}">
                <a16:creationId xmlns:a16="http://schemas.microsoft.com/office/drawing/2014/main" id="{3A75B851-3C79-9715-F071-8462E31C103D}"/>
              </a:ext>
            </a:extLst>
          </p:cNvPr>
          <p:cNvPicPr>
            <a:picLocks noChangeAspect="1"/>
          </p:cNvPicPr>
          <p:nvPr/>
        </p:nvPicPr>
        <p:blipFill>
          <a:blip r:embed="rId4"/>
          <a:stretch>
            <a:fillRect/>
          </a:stretch>
        </p:blipFill>
        <p:spPr>
          <a:xfrm>
            <a:off x="8836946" y="60146"/>
            <a:ext cx="2343334" cy="1628617"/>
          </a:xfrm>
          <a:prstGeom prst="rect">
            <a:avLst/>
          </a:prstGeom>
        </p:spPr>
      </p:pic>
    </p:spTree>
    <p:extLst>
      <p:ext uri="{BB962C8B-B14F-4D97-AF65-F5344CB8AC3E}">
        <p14:creationId xmlns:p14="http://schemas.microsoft.com/office/powerpoint/2010/main" val="14529764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50BC4-5EF0-EC6E-5158-98FFF8AD50DB}"/>
              </a:ext>
            </a:extLst>
          </p:cNvPr>
          <p:cNvSpPr>
            <a:spLocks noGrp="1"/>
          </p:cNvSpPr>
          <p:nvPr>
            <p:ph type="title"/>
          </p:nvPr>
        </p:nvSpPr>
        <p:spPr/>
        <p:txBody>
          <a:bodyPr/>
          <a:lstStyle/>
          <a:p>
            <a:r>
              <a:rPr lang="en-US" dirty="0"/>
              <a:t>45</a:t>
            </a:r>
            <a:r>
              <a:rPr lang="en-AU" dirty="0"/>
              <a:t>°c</a:t>
            </a:r>
          </a:p>
        </p:txBody>
      </p:sp>
      <p:pic>
        <p:nvPicPr>
          <p:cNvPr id="5" name="Content Placeholder 4">
            <a:extLst>
              <a:ext uri="{FF2B5EF4-FFF2-40B4-BE49-F238E27FC236}">
                <a16:creationId xmlns:a16="http://schemas.microsoft.com/office/drawing/2014/main" id="{1EE6A7FD-F14F-19CE-3AF2-48B4865D2926}"/>
              </a:ext>
            </a:extLst>
          </p:cNvPr>
          <p:cNvPicPr>
            <a:picLocks noGrp="1" noChangeAspect="1"/>
          </p:cNvPicPr>
          <p:nvPr>
            <p:ph idx="1"/>
          </p:nvPr>
        </p:nvPicPr>
        <p:blipFill>
          <a:blip r:embed="rId3"/>
          <a:stretch>
            <a:fillRect/>
          </a:stretch>
        </p:blipFill>
        <p:spPr>
          <a:xfrm>
            <a:off x="180398" y="2364202"/>
            <a:ext cx="10956994" cy="3762278"/>
          </a:xfrm>
          <a:prstGeom prst="rect">
            <a:avLst/>
          </a:prstGeom>
        </p:spPr>
      </p:pic>
      <p:pic>
        <p:nvPicPr>
          <p:cNvPr id="6" name="Picture 5">
            <a:extLst>
              <a:ext uri="{FF2B5EF4-FFF2-40B4-BE49-F238E27FC236}">
                <a16:creationId xmlns:a16="http://schemas.microsoft.com/office/drawing/2014/main" id="{BC3D9C59-36A0-93E1-9740-530880BB59C1}"/>
              </a:ext>
            </a:extLst>
          </p:cNvPr>
          <p:cNvPicPr>
            <a:picLocks noChangeAspect="1"/>
          </p:cNvPicPr>
          <p:nvPr/>
        </p:nvPicPr>
        <p:blipFill>
          <a:blip r:embed="rId4"/>
          <a:stretch>
            <a:fillRect/>
          </a:stretch>
        </p:blipFill>
        <p:spPr>
          <a:xfrm>
            <a:off x="8941448" y="0"/>
            <a:ext cx="2343334" cy="1628617"/>
          </a:xfrm>
          <a:prstGeom prst="rect">
            <a:avLst/>
          </a:prstGeom>
        </p:spPr>
      </p:pic>
    </p:spTree>
    <p:extLst>
      <p:ext uri="{BB962C8B-B14F-4D97-AF65-F5344CB8AC3E}">
        <p14:creationId xmlns:p14="http://schemas.microsoft.com/office/powerpoint/2010/main" val="15320489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CA296F-77F0-CD6D-CA4D-8936D03BFA8C}"/>
              </a:ext>
            </a:extLst>
          </p:cNvPr>
          <p:cNvSpPr>
            <a:spLocks noGrp="1"/>
          </p:cNvSpPr>
          <p:nvPr>
            <p:ph type="title"/>
          </p:nvPr>
        </p:nvSpPr>
        <p:spPr/>
        <p:txBody>
          <a:bodyPr/>
          <a:lstStyle/>
          <a:p>
            <a:r>
              <a:rPr lang="en-US" dirty="0"/>
              <a:t>48</a:t>
            </a:r>
            <a:r>
              <a:rPr lang="en-AU" dirty="0"/>
              <a:t>°</a:t>
            </a:r>
            <a:r>
              <a:rPr lang="en-US" dirty="0"/>
              <a:t>c</a:t>
            </a:r>
            <a:endParaRPr lang="en-AU" dirty="0"/>
          </a:p>
        </p:txBody>
      </p:sp>
      <p:pic>
        <p:nvPicPr>
          <p:cNvPr id="5" name="Content Placeholder 4">
            <a:extLst>
              <a:ext uri="{FF2B5EF4-FFF2-40B4-BE49-F238E27FC236}">
                <a16:creationId xmlns:a16="http://schemas.microsoft.com/office/drawing/2014/main" id="{7E490B89-BE9E-BADB-24B4-131F2CD1026D}"/>
              </a:ext>
            </a:extLst>
          </p:cNvPr>
          <p:cNvPicPr>
            <a:picLocks noGrp="1" noChangeAspect="1"/>
          </p:cNvPicPr>
          <p:nvPr>
            <p:ph idx="1"/>
          </p:nvPr>
        </p:nvPicPr>
        <p:blipFill>
          <a:blip r:embed="rId3"/>
          <a:stretch>
            <a:fillRect/>
          </a:stretch>
        </p:blipFill>
        <p:spPr>
          <a:xfrm>
            <a:off x="608286" y="2873829"/>
            <a:ext cx="10204200" cy="3540034"/>
          </a:xfrm>
          <a:prstGeom prst="rect">
            <a:avLst/>
          </a:prstGeom>
        </p:spPr>
      </p:pic>
      <p:pic>
        <p:nvPicPr>
          <p:cNvPr id="6" name="Picture 5">
            <a:extLst>
              <a:ext uri="{FF2B5EF4-FFF2-40B4-BE49-F238E27FC236}">
                <a16:creationId xmlns:a16="http://schemas.microsoft.com/office/drawing/2014/main" id="{8DB487F5-7184-2CC0-247C-6107D5BF06EA}"/>
              </a:ext>
            </a:extLst>
          </p:cNvPr>
          <p:cNvPicPr>
            <a:picLocks noChangeAspect="1"/>
          </p:cNvPicPr>
          <p:nvPr/>
        </p:nvPicPr>
        <p:blipFill>
          <a:blip r:embed="rId4"/>
          <a:stretch>
            <a:fillRect/>
          </a:stretch>
        </p:blipFill>
        <p:spPr>
          <a:xfrm>
            <a:off x="8941448" y="0"/>
            <a:ext cx="2343334" cy="1628617"/>
          </a:xfrm>
          <a:prstGeom prst="rect">
            <a:avLst/>
          </a:prstGeom>
        </p:spPr>
      </p:pic>
    </p:spTree>
    <p:extLst>
      <p:ext uri="{BB962C8B-B14F-4D97-AF65-F5344CB8AC3E}">
        <p14:creationId xmlns:p14="http://schemas.microsoft.com/office/powerpoint/2010/main" val="5595281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AD76FE-0287-D488-9701-D795E888DCC9}"/>
              </a:ext>
            </a:extLst>
          </p:cNvPr>
          <p:cNvSpPr>
            <a:spLocks noGrp="1"/>
          </p:cNvSpPr>
          <p:nvPr>
            <p:ph type="title"/>
          </p:nvPr>
        </p:nvSpPr>
        <p:spPr/>
        <p:txBody>
          <a:bodyPr/>
          <a:lstStyle/>
          <a:p>
            <a:r>
              <a:rPr lang="en-US" dirty="0"/>
              <a:t>22</a:t>
            </a:r>
            <a:r>
              <a:rPr lang="en-AU" dirty="0"/>
              <a:t>°</a:t>
            </a:r>
            <a:r>
              <a:rPr lang="en-US" dirty="0"/>
              <a:t>c</a:t>
            </a:r>
            <a:endParaRPr lang="en-AU" dirty="0"/>
          </a:p>
        </p:txBody>
      </p:sp>
      <p:sp>
        <p:nvSpPr>
          <p:cNvPr id="3" name="Content Placeholder 2">
            <a:extLst>
              <a:ext uri="{FF2B5EF4-FFF2-40B4-BE49-F238E27FC236}">
                <a16:creationId xmlns:a16="http://schemas.microsoft.com/office/drawing/2014/main" id="{DE2C9C34-887F-533A-DB17-2DDA04692945}"/>
              </a:ext>
            </a:extLst>
          </p:cNvPr>
          <p:cNvSpPr>
            <a:spLocks noGrp="1"/>
          </p:cNvSpPr>
          <p:nvPr>
            <p:ph idx="1"/>
          </p:nvPr>
        </p:nvSpPr>
        <p:spPr/>
        <p:txBody>
          <a:bodyPr/>
          <a:lstStyle/>
          <a:p>
            <a:r>
              <a:rPr lang="en-US" dirty="0"/>
              <a:t>I then tested the lower end of my temperature spectrum</a:t>
            </a:r>
          </a:p>
          <a:p>
            <a:r>
              <a:rPr lang="en-US" dirty="0"/>
              <a:t>But we found out its between 26</a:t>
            </a:r>
            <a:r>
              <a:rPr lang="en-AU" dirty="0"/>
              <a:t>°</a:t>
            </a:r>
            <a:r>
              <a:rPr lang="en-US" dirty="0"/>
              <a:t>c -28</a:t>
            </a:r>
            <a:r>
              <a:rPr lang="en-AU" dirty="0"/>
              <a:t>°</a:t>
            </a:r>
            <a:r>
              <a:rPr lang="en-US" dirty="0"/>
              <a:t>c in the lab</a:t>
            </a:r>
            <a:endParaRPr lang="en-AU" dirty="0"/>
          </a:p>
        </p:txBody>
      </p:sp>
    </p:spTree>
    <p:extLst>
      <p:ext uri="{BB962C8B-B14F-4D97-AF65-F5344CB8AC3E}">
        <p14:creationId xmlns:p14="http://schemas.microsoft.com/office/powerpoint/2010/main" val="38397891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730CEA-49D2-B307-6F9F-B7984929B67C}"/>
              </a:ext>
            </a:extLst>
          </p:cNvPr>
          <p:cNvSpPr>
            <a:spLocks noGrp="1"/>
          </p:cNvSpPr>
          <p:nvPr>
            <p:ph type="title"/>
          </p:nvPr>
        </p:nvSpPr>
        <p:spPr/>
        <p:txBody>
          <a:bodyPr/>
          <a:lstStyle/>
          <a:p>
            <a:r>
              <a:rPr lang="en-US" dirty="0"/>
              <a:t>MAXOD Heatmap </a:t>
            </a:r>
            <a:endParaRPr lang="en-AU" dirty="0"/>
          </a:p>
        </p:txBody>
      </p:sp>
      <p:pic>
        <p:nvPicPr>
          <p:cNvPr id="5" name="Content Placeholder 4">
            <a:extLst>
              <a:ext uri="{FF2B5EF4-FFF2-40B4-BE49-F238E27FC236}">
                <a16:creationId xmlns:a16="http://schemas.microsoft.com/office/drawing/2014/main" id="{E2DE4D86-5EDF-2DF5-482D-0AC757D780E5}"/>
              </a:ext>
            </a:extLst>
          </p:cNvPr>
          <p:cNvPicPr>
            <a:picLocks noGrp="1" noChangeAspect="1"/>
          </p:cNvPicPr>
          <p:nvPr>
            <p:ph idx="1"/>
          </p:nvPr>
        </p:nvPicPr>
        <p:blipFill>
          <a:blip r:embed="rId3"/>
          <a:stretch>
            <a:fillRect/>
          </a:stretch>
        </p:blipFill>
        <p:spPr>
          <a:xfrm>
            <a:off x="2132372" y="1929812"/>
            <a:ext cx="6911044" cy="4387485"/>
          </a:xfrm>
          <a:prstGeom prst="rect">
            <a:avLst/>
          </a:prstGeom>
        </p:spPr>
      </p:pic>
    </p:spTree>
    <p:extLst>
      <p:ext uri="{BB962C8B-B14F-4D97-AF65-F5344CB8AC3E}">
        <p14:creationId xmlns:p14="http://schemas.microsoft.com/office/powerpoint/2010/main" val="37197142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D81E43-7B6D-94CF-1AAE-BEC13F20F79B}"/>
              </a:ext>
            </a:extLst>
          </p:cNvPr>
          <p:cNvSpPr>
            <a:spLocks noGrp="1"/>
          </p:cNvSpPr>
          <p:nvPr>
            <p:ph type="title"/>
          </p:nvPr>
        </p:nvSpPr>
        <p:spPr/>
        <p:txBody>
          <a:bodyPr/>
          <a:lstStyle/>
          <a:p>
            <a:r>
              <a:rPr lang="en-US" dirty="0"/>
              <a:t>MUMAX Heatmap </a:t>
            </a:r>
            <a:endParaRPr lang="en-AU" dirty="0"/>
          </a:p>
        </p:txBody>
      </p:sp>
      <p:pic>
        <p:nvPicPr>
          <p:cNvPr id="5" name="Content Placeholder 4">
            <a:extLst>
              <a:ext uri="{FF2B5EF4-FFF2-40B4-BE49-F238E27FC236}">
                <a16:creationId xmlns:a16="http://schemas.microsoft.com/office/drawing/2014/main" id="{CFD8C527-E6D2-70F3-FDC7-55754CC6EBB4}"/>
              </a:ext>
            </a:extLst>
          </p:cNvPr>
          <p:cNvPicPr>
            <a:picLocks noGrp="1" noChangeAspect="1"/>
          </p:cNvPicPr>
          <p:nvPr>
            <p:ph idx="1"/>
          </p:nvPr>
        </p:nvPicPr>
        <p:blipFill>
          <a:blip r:embed="rId3"/>
          <a:stretch>
            <a:fillRect/>
          </a:stretch>
        </p:blipFill>
        <p:spPr>
          <a:xfrm>
            <a:off x="2124159" y="1828800"/>
            <a:ext cx="6870533" cy="4351338"/>
          </a:xfrm>
          <a:prstGeom prst="rect">
            <a:avLst/>
          </a:prstGeom>
        </p:spPr>
      </p:pic>
    </p:spTree>
    <p:extLst>
      <p:ext uri="{BB962C8B-B14F-4D97-AF65-F5344CB8AC3E}">
        <p14:creationId xmlns:p14="http://schemas.microsoft.com/office/powerpoint/2010/main" val="41604415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AE62FD-6E04-6C9B-1EBE-0A5C3DFC5637}"/>
              </a:ext>
            </a:extLst>
          </p:cNvPr>
          <p:cNvSpPr>
            <a:spLocks noGrp="1"/>
          </p:cNvSpPr>
          <p:nvPr>
            <p:ph type="title"/>
          </p:nvPr>
        </p:nvSpPr>
        <p:spPr/>
        <p:txBody>
          <a:bodyPr/>
          <a:lstStyle/>
          <a:p>
            <a:r>
              <a:rPr lang="en-US" dirty="0"/>
              <a:t>Initial Observations </a:t>
            </a:r>
            <a:endParaRPr lang="en-AU" dirty="0"/>
          </a:p>
        </p:txBody>
      </p:sp>
      <p:sp>
        <p:nvSpPr>
          <p:cNvPr id="3" name="Content Placeholder 2">
            <a:extLst>
              <a:ext uri="{FF2B5EF4-FFF2-40B4-BE49-F238E27FC236}">
                <a16:creationId xmlns:a16="http://schemas.microsoft.com/office/drawing/2014/main" id="{75CEAE73-A454-A5D9-BF0B-1BC190E98C83}"/>
              </a:ext>
            </a:extLst>
          </p:cNvPr>
          <p:cNvSpPr>
            <a:spLocks noGrp="1"/>
          </p:cNvSpPr>
          <p:nvPr>
            <p:ph idx="1"/>
          </p:nvPr>
        </p:nvSpPr>
        <p:spPr/>
        <p:txBody>
          <a:bodyPr/>
          <a:lstStyle/>
          <a:p>
            <a:r>
              <a:rPr lang="en-US" dirty="0"/>
              <a:t>As expected at 48</a:t>
            </a:r>
            <a:r>
              <a:rPr lang="en-AU" dirty="0"/>
              <a:t> °</a:t>
            </a:r>
            <a:r>
              <a:rPr lang="en-US" dirty="0"/>
              <a:t>c nothing survives while mutants in M9 stop growing at 45</a:t>
            </a:r>
            <a:r>
              <a:rPr lang="en-AU" dirty="0"/>
              <a:t> °</a:t>
            </a:r>
            <a:r>
              <a:rPr lang="en-US" dirty="0"/>
              <a:t>c</a:t>
            </a:r>
          </a:p>
          <a:p>
            <a:r>
              <a:rPr lang="en-US" dirty="0"/>
              <a:t>Our mutations and WT seem to be heat resistant </a:t>
            </a:r>
          </a:p>
          <a:p>
            <a:r>
              <a:rPr lang="en-US" dirty="0"/>
              <a:t>It seems like rich media helps with growth at high temperature</a:t>
            </a:r>
          </a:p>
          <a:p>
            <a:endParaRPr lang="en-US" dirty="0"/>
          </a:p>
          <a:p>
            <a:endParaRPr lang="en-US" dirty="0"/>
          </a:p>
          <a:p>
            <a:endParaRPr lang="en-AU" dirty="0"/>
          </a:p>
        </p:txBody>
      </p:sp>
      <p:pic>
        <p:nvPicPr>
          <p:cNvPr id="4" name="Content Placeholder 4">
            <a:extLst>
              <a:ext uri="{FF2B5EF4-FFF2-40B4-BE49-F238E27FC236}">
                <a16:creationId xmlns:a16="http://schemas.microsoft.com/office/drawing/2014/main" id="{AA537DC7-E5B9-A834-95D0-495EE783B72D}"/>
              </a:ext>
            </a:extLst>
          </p:cNvPr>
          <p:cNvPicPr>
            <a:picLocks noChangeAspect="1"/>
          </p:cNvPicPr>
          <p:nvPr/>
        </p:nvPicPr>
        <p:blipFill>
          <a:blip r:embed="rId3"/>
          <a:stretch>
            <a:fillRect/>
          </a:stretch>
        </p:blipFill>
        <p:spPr>
          <a:xfrm>
            <a:off x="146818" y="3429000"/>
            <a:ext cx="5167961" cy="3280886"/>
          </a:xfrm>
          <a:prstGeom prst="rect">
            <a:avLst/>
          </a:prstGeom>
        </p:spPr>
      </p:pic>
      <p:pic>
        <p:nvPicPr>
          <p:cNvPr id="5" name="Content Placeholder 4">
            <a:extLst>
              <a:ext uri="{FF2B5EF4-FFF2-40B4-BE49-F238E27FC236}">
                <a16:creationId xmlns:a16="http://schemas.microsoft.com/office/drawing/2014/main" id="{FDB2D665-709B-BCFF-2936-15477C7D5B8D}"/>
              </a:ext>
            </a:extLst>
          </p:cNvPr>
          <p:cNvPicPr>
            <a:picLocks noChangeAspect="1"/>
          </p:cNvPicPr>
          <p:nvPr/>
        </p:nvPicPr>
        <p:blipFill>
          <a:blip r:embed="rId4"/>
          <a:stretch>
            <a:fillRect/>
          </a:stretch>
        </p:blipFill>
        <p:spPr>
          <a:xfrm>
            <a:off x="5754189" y="3390083"/>
            <a:ext cx="5400531" cy="3420337"/>
          </a:xfrm>
          <a:prstGeom prst="rect">
            <a:avLst/>
          </a:prstGeom>
        </p:spPr>
      </p:pic>
    </p:spTree>
    <p:extLst>
      <p:ext uri="{BB962C8B-B14F-4D97-AF65-F5344CB8AC3E}">
        <p14:creationId xmlns:p14="http://schemas.microsoft.com/office/powerpoint/2010/main" val="33088953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5D17A225-B875-DA94-C728-918628A198AC}"/>
              </a:ext>
            </a:extLst>
          </p:cNvPr>
          <p:cNvSpPr>
            <a:spLocks noGrp="1"/>
          </p:cNvSpPr>
          <p:nvPr>
            <p:ph type="title"/>
          </p:nvPr>
        </p:nvSpPr>
        <p:spPr>
          <a:xfrm>
            <a:off x="1261872" y="365760"/>
            <a:ext cx="9692640" cy="1325562"/>
          </a:xfrm>
        </p:spPr>
        <p:txBody>
          <a:bodyPr/>
          <a:lstStyle/>
          <a:p>
            <a:r>
              <a:rPr lang="en-US" dirty="0"/>
              <a:t>OD LB</a:t>
            </a:r>
            <a:endParaRPr lang="en-AU" dirty="0"/>
          </a:p>
        </p:txBody>
      </p:sp>
      <p:sp>
        <p:nvSpPr>
          <p:cNvPr id="8" name="Content Placeholder 7">
            <a:extLst>
              <a:ext uri="{FF2B5EF4-FFF2-40B4-BE49-F238E27FC236}">
                <a16:creationId xmlns:a16="http://schemas.microsoft.com/office/drawing/2014/main" id="{3143D5DB-B928-55FD-E5D5-BA6551306E1D}"/>
              </a:ext>
            </a:extLst>
          </p:cNvPr>
          <p:cNvSpPr>
            <a:spLocks noGrp="1"/>
          </p:cNvSpPr>
          <p:nvPr>
            <p:ph idx="1"/>
          </p:nvPr>
        </p:nvSpPr>
        <p:spPr/>
        <p:txBody>
          <a:bodyPr/>
          <a:lstStyle/>
          <a:p>
            <a:endParaRPr lang="en-AU"/>
          </a:p>
        </p:txBody>
      </p:sp>
      <p:pic>
        <p:nvPicPr>
          <p:cNvPr id="10" name="Picture 9">
            <a:extLst>
              <a:ext uri="{FF2B5EF4-FFF2-40B4-BE49-F238E27FC236}">
                <a16:creationId xmlns:a16="http://schemas.microsoft.com/office/drawing/2014/main" id="{76900700-8C8C-B673-8F12-57B4E655DBC6}"/>
              </a:ext>
            </a:extLst>
          </p:cNvPr>
          <p:cNvPicPr>
            <a:picLocks noChangeAspect="1"/>
          </p:cNvPicPr>
          <p:nvPr/>
        </p:nvPicPr>
        <p:blipFill>
          <a:blip r:embed="rId3"/>
          <a:stretch>
            <a:fillRect/>
          </a:stretch>
        </p:blipFill>
        <p:spPr>
          <a:xfrm>
            <a:off x="1103811" y="1691322"/>
            <a:ext cx="9379131" cy="4926636"/>
          </a:xfrm>
          <a:prstGeom prst="rect">
            <a:avLst/>
          </a:prstGeom>
        </p:spPr>
      </p:pic>
    </p:spTree>
    <p:extLst>
      <p:ext uri="{BB962C8B-B14F-4D97-AF65-F5344CB8AC3E}">
        <p14:creationId xmlns:p14="http://schemas.microsoft.com/office/powerpoint/2010/main" val="18204708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C8C730-BD99-2B19-3280-D8BFCB3AE2A7}"/>
              </a:ext>
            </a:extLst>
          </p:cNvPr>
          <p:cNvSpPr>
            <a:spLocks noGrp="1"/>
          </p:cNvSpPr>
          <p:nvPr>
            <p:ph type="title"/>
          </p:nvPr>
        </p:nvSpPr>
        <p:spPr/>
        <p:txBody>
          <a:bodyPr/>
          <a:lstStyle/>
          <a:p>
            <a:r>
              <a:rPr lang="en-US" dirty="0"/>
              <a:t>OD M9</a:t>
            </a:r>
            <a:endParaRPr lang="en-AU" dirty="0"/>
          </a:p>
        </p:txBody>
      </p:sp>
      <p:pic>
        <p:nvPicPr>
          <p:cNvPr id="5" name="Content Placeholder 4">
            <a:extLst>
              <a:ext uri="{FF2B5EF4-FFF2-40B4-BE49-F238E27FC236}">
                <a16:creationId xmlns:a16="http://schemas.microsoft.com/office/drawing/2014/main" id="{BC295B73-9CC6-ABDF-C2FB-4585EE0C9DBB}"/>
              </a:ext>
            </a:extLst>
          </p:cNvPr>
          <p:cNvPicPr>
            <a:picLocks noGrp="1" noChangeAspect="1"/>
          </p:cNvPicPr>
          <p:nvPr>
            <p:ph idx="1"/>
          </p:nvPr>
        </p:nvPicPr>
        <p:blipFill>
          <a:blip r:embed="rId2"/>
          <a:stretch>
            <a:fillRect/>
          </a:stretch>
        </p:blipFill>
        <p:spPr>
          <a:xfrm>
            <a:off x="1156062" y="1755760"/>
            <a:ext cx="9438213" cy="5005676"/>
          </a:xfrm>
          <a:prstGeom prst="rect">
            <a:avLst/>
          </a:prstGeom>
        </p:spPr>
      </p:pic>
    </p:spTree>
    <p:extLst>
      <p:ext uri="{BB962C8B-B14F-4D97-AF65-F5344CB8AC3E}">
        <p14:creationId xmlns:p14="http://schemas.microsoft.com/office/powerpoint/2010/main" val="40884499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47A658-75C0-F871-2CA1-675D5953E9C4}"/>
              </a:ext>
            </a:extLst>
          </p:cNvPr>
          <p:cNvSpPr>
            <a:spLocks noGrp="1"/>
          </p:cNvSpPr>
          <p:nvPr>
            <p:ph type="title"/>
          </p:nvPr>
        </p:nvSpPr>
        <p:spPr/>
        <p:txBody>
          <a:bodyPr/>
          <a:lstStyle/>
          <a:p>
            <a:r>
              <a:rPr lang="en-US" dirty="0"/>
              <a:t>MUMAX LB</a:t>
            </a:r>
            <a:endParaRPr lang="en-AU" dirty="0"/>
          </a:p>
        </p:txBody>
      </p:sp>
      <p:sp>
        <p:nvSpPr>
          <p:cNvPr id="3" name="Content Placeholder 2">
            <a:extLst>
              <a:ext uri="{FF2B5EF4-FFF2-40B4-BE49-F238E27FC236}">
                <a16:creationId xmlns:a16="http://schemas.microsoft.com/office/drawing/2014/main" id="{4D2762E0-DA82-D3C6-FAE2-B03197765EDE}"/>
              </a:ext>
            </a:extLst>
          </p:cNvPr>
          <p:cNvSpPr>
            <a:spLocks noGrp="1"/>
          </p:cNvSpPr>
          <p:nvPr>
            <p:ph idx="1"/>
          </p:nvPr>
        </p:nvSpPr>
        <p:spPr/>
        <p:txBody>
          <a:bodyPr/>
          <a:lstStyle/>
          <a:p>
            <a:endParaRPr lang="en-AU"/>
          </a:p>
        </p:txBody>
      </p:sp>
      <p:pic>
        <p:nvPicPr>
          <p:cNvPr id="4" name="Content Placeholder 4">
            <a:extLst>
              <a:ext uri="{FF2B5EF4-FFF2-40B4-BE49-F238E27FC236}">
                <a16:creationId xmlns:a16="http://schemas.microsoft.com/office/drawing/2014/main" id="{59D71150-06E7-3EE0-8DF9-D560C3F6E86E}"/>
              </a:ext>
            </a:extLst>
          </p:cNvPr>
          <p:cNvPicPr>
            <a:picLocks noChangeAspect="1"/>
          </p:cNvPicPr>
          <p:nvPr/>
        </p:nvPicPr>
        <p:blipFill>
          <a:blip r:embed="rId2"/>
          <a:stretch>
            <a:fillRect/>
          </a:stretch>
        </p:blipFill>
        <p:spPr>
          <a:xfrm>
            <a:off x="886756" y="1663993"/>
            <a:ext cx="9472090" cy="4997087"/>
          </a:xfrm>
          <a:prstGeom prst="rect">
            <a:avLst/>
          </a:prstGeom>
        </p:spPr>
      </p:pic>
    </p:spTree>
    <p:extLst>
      <p:ext uri="{BB962C8B-B14F-4D97-AF65-F5344CB8AC3E}">
        <p14:creationId xmlns:p14="http://schemas.microsoft.com/office/powerpoint/2010/main" val="17755540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E50FB-E4C8-D52E-B0FE-BB45A3C57A83}"/>
              </a:ext>
            </a:extLst>
          </p:cNvPr>
          <p:cNvSpPr>
            <a:spLocks noGrp="1"/>
          </p:cNvSpPr>
          <p:nvPr>
            <p:ph type="title"/>
          </p:nvPr>
        </p:nvSpPr>
        <p:spPr/>
        <p:txBody>
          <a:bodyPr/>
          <a:lstStyle/>
          <a:p>
            <a:r>
              <a:rPr lang="en-US" dirty="0"/>
              <a:t>MUMAX M9</a:t>
            </a:r>
            <a:endParaRPr lang="en-AU" dirty="0"/>
          </a:p>
        </p:txBody>
      </p:sp>
      <p:pic>
        <p:nvPicPr>
          <p:cNvPr id="9" name="Content Placeholder 8">
            <a:extLst>
              <a:ext uri="{FF2B5EF4-FFF2-40B4-BE49-F238E27FC236}">
                <a16:creationId xmlns:a16="http://schemas.microsoft.com/office/drawing/2014/main" id="{6ECC9292-2714-2014-CC8D-34BFEF263240}"/>
              </a:ext>
            </a:extLst>
          </p:cNvPr>
          <p:cNvPicPr>
            <a:picLocks noGrp="1" noChangeAspect="1"/>
          </p:cNvPicPr>
          <p:nvPr>
            <p:ph idx="1"/>
          </p:nvPr>
        </p:nvPicPr>
        <p:blipFill>
          <a:blip r:embed="rId2"/>
          <a:stretch>
            <a:fillRect/>
          </a:stretch>
        </p:blipFill>
        <p:spPr>
          <a:xfrm>
            <a:off x="1049872" y="1789611"/>
            <a:ext cx="9165282" cy="4835029"/>
          </a:xfrm>
          <a:prstGeom prst="rect">
            <a:avLst/>
          </a:prstGeom>
        </p:spPr>
      </p:pic>
    </p:spTree>
    <p:extLst>
      <p:ext uri="{BB962C8B-B14F-4D97-AF65-F5344CB8AC3E}">
        <p14:creationId xmlns:p14="http://schemas.microsoft.com/office/powerpoint/2010/main" val="4462536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72C49B-7743-4ECA-4DFC-2A36B9C11C83}"/>
              </a:ext>
            </a:extLst>
          </p:cNvPr>
          <p:cNvSpPr>
            <a:spLocks noGrp="1"/>
          </p:cNvSpPr>
          <p:nvPr>
            <p:ph type="title"/>
          </p:nvPr>
        </p:nvSpPr>
        <p:spPr/>
        <p:txBody>
          <a:bodyPr/>
          <a:lstStyle/>
          <a:p>
            <a:r>
              <a:rPr lang="en-US" dirty="0"/>
              <a:t>Chapter 2 </a:t>
            </a:r>
            <a:endParaRPr lang="en-AU" dirty="0"/>
          </a:p>
        </p:txBody>
      </p:sp>
      <p:sp>
        <p:nvSpPr>
          <p:cNvPr id="3" name="Content Placeholder 2">
            <a:extLst>
              <a:ext uri="{FF2B5EF4-FFF2-40B4-BE49-F238E27FC236}">
                <a16:creationId xmlns:a16="http://schemas.microsoft.com/office/drawing/2014/main" id="{FFD0EB59-5046-2900-FE7E-DA5B4AD35E16}"/>
              </a:ext>
            </a:extLst>
          </p:cNvPr>
          <p:cNvSpPr>
            <a:spLocks noGrp="1"/>
          </p:cNvSpPr>
          <p:nvPr>
            <p:ph idx="1"/>
          </p:nvPr>
        </p:nvSpPr>
        <p:spPr/>
        <p:txBody>
          <a:bodyPr/>
          <a:lstStyle/>
          <a:p>
            <a:r>
              <a:rPr lang="en-US" dirty="0"/>
              <a:t>Looking at the mortality of RIFR mutants when plated on RIF plates and if it correlates with mutation rates</a:t>
            </a:r>
            <a:endParaRPr lang="en-AU" dirty="0"/>
          </a:p>
        </p:txBody>
      </p:sp>
    </p:spTree>
    <p:extLst>
      <p:ext uri="{BB962C8B-B14F-4D97-AF65-F5344CB8AC3E}">
        <p14:creationId xmlns:p14="http://schemas.microsoft.com/office/powerpoint/2010/main" val="25516352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6B37DB-4FA1-F2FE-5F48-EC8CCD83353A}"/>
              </a:ext>
            </a:extLst>
          </p:cNvPr>
          <p:cNvSpPr>
            <a:spLocks noGrp="1"/>
          </p:cNvSpPr>
          <p:nvPr>
            <p:ph type="title"/>
          </p:nvPr>
        </p:nvSpPr>
        <p:spPr/>
        <p:txBody>
          <a:bodyPr/>
          <a:lstStyle/>
          <a:p>
            <a:r>
              <a:rPr lang="en-US" dirty="0"/>
              <a:t>Background  </a:t>
            </a:r>
            <a:endParaRPr lang="en-AU" dirty="0"/>
          </a:p>
        </p:txBody>
      </p:sp>
      <p:sp>
        <p:nvSpPr>
          <p:cNvPr id="3" name="Content Placeholder 2">
            <a:extLst>
              <a:ext uri="{FF2B5EF4-FFF2-40B4-BE49-F238E27FC236}">
                <a16:creationId xmlns:a16="http://schemas.microsoft.com/office/drawing/2014/main" id="{534FCC26-E232-AF3A-5BB8-150BCF7ED7CF}"/>
              </a:ext>
            </a:extLst>
          </p:cNvPr>
          <p:cNvSpPr>
            <a:spLocks noGrp="1"/>
          </p:cNvSpPr>
          <p:nvPr>
            <p:ph idx="1"/>
          </p:nvPr>
        </p:nvSpPr>
        <p:spPr>
          <a:xfrm>
            <a:off x="0" y="2214154"/>
            <a:ext cx="7696206" cy="4119971"/>
          </a:xfrm>
        </p:spPr>
        <p:txBody>
          <a:bodyPr/>
          <a:lstStyle/>
          <a:p>
            <a:r>
              <a:rPr lang="en-US" dirty="0"/>
              <a:t>There is an uneven distribution of mutations that we see,</a:t>
            </a:r>
            <a:r>
              <a:rPr lang="en-AU" dirty="0"/>
              <a:t> results from the E. coli, A. </a:t>
            </a:r>
            <a:r>
              <a:rPr lang="en-AU" dirty="0" err="1"/>
              <a:t>baylyi</a:t>
            </a:r>
            <a:r>
              <a:rPr lang="en-AU" dirty="0"/>
              <a:t> and L. plantarum screens shows that some mutations are much more favoured than others or we simply see more of them </a:t>
            </a:r>
          </a:p>
          <a:p>
            <a:r>
              <a:rPr lang="en-AU" dirty="0"/>
              <a:t>Mutants isolated from mutant screes are stochastic </a:t>
            </a:r>
          </a:p>
          <a:p>
            <a:r>
              <a:rPr lang="en-AU" dirty="0"/>
              <a:t>The initial establishment of a certain mutant is stochastic </a:t>
            </a:r>
          </a:p>
          <a:p>
            <a:r>
              <a:rPr lang="en-AU" dirty="0"/>
              <a:t>The final selection for the mutant is unevenly distributed </a:t>
            </a:r>
          </a:p>
          <a:p>
            <a:endParaRPr lang="en-AU" dirty="0"/>
          </a:p>
        </p:txBody>
      </p:sp>
      <p:pic>
        <p:nvPicPr>
          <p:cNvPr id="5" name="Picture 4">
            <a:extLst>
              <a:ext uri="{FF2B5EF4-FFF2-40B4-BE49-F238E27FC236}">
                <a16:creationId xmlns:a16="http://schemas.microsoft.com/office/drawing/2014/main" id="{FA0D7431-6010-E1F1-25A6-7FC9349E6B9E}"/>
              </a:ext>
            </a:extLst>
          </p:cNvPr>
          <p:cNvPicPr>
            <a:picLocks noChangeAspect="1"/>
          </p:cNvPicPr>
          <p:nvPr/>
        </p:nvPicPr>
        <p:blipFill>
          <a:blip r:embed="rId3"/>
          <a:stretch>
            <a:fillRect/>
          </a:stretch>
        </p:blipFill>
        <p:spPr>
          <a:xfrm>
            <a:off x="7696206" y="78377"/>
            <a:ext cx="3433829" cy="6609806"/>
          </a:xfrm>
          <a:prstGeom prst="rect">
            <a:avLst/>
          </a:prstGeom>
        </p:spPr>
      </p:pic>
    </p:spTree>
    <p:extLst>
      <p:ext uri="{BB962C8B-B14F-4D97-AF65-F5344CB8AC3E}">
        <p14:creationId xmlns:p14="http://schemas.microsoft.com/office/powerpoint/2010/main" val="16841509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AD99A-664F-5DE6-6183-D779E8630786}"/>
              </a:ext>
            </a:extLst>
          </p:cNvPr>
          <p:cNvSpPr>
            <a:spLocks noGrp="1"/>
          </p:cNvSpPr>
          <p:nvPr>
            <p:ph type="title"/>
          </p:nvPr>
        </p:nvSpPr>
        <p:spPr/>
        <p:txBody>
          <a:bodyPr/>
          <a:lstStyle/>
          <a:p>
            <a:r>
              <a:rPr lang="en-US" dirty="0"/>
              <a:t>Design </a:t>
            </a:r>
            <a:endParaRPr lang="en-AU" dirty="0"/>
          </a:p>
        </p:txBody>
      </p:sp>
      <p:sp>
        <p:nvSpPr>
          <p:cNvPr id="3" name="Content Placeholder 2">
            <a:extLst>
              <a:ext uri="{FF2B5EF4-FFF2-40B4-BE49-F238E27FC236}">
                <a16:creationId xmlns:a16="http://schemas.microsoft.com/office/drawing/2014/main" id="{DA16E06F-F081-53A3-84A4-2A6ED0ED5996}"/>
              </a:ext>
            </a:extLst>
          </p:cNvPr>
          <p:cNvSpPr>
            <a:spLocks noGrp="1"/>
          </p:cNvSpPr>
          <p:nvPr>
            <p:ph idx="1"/>
          </p:nvPr>
        </p:nvSpPr>
        <p:spPr/>
        <p:txBody>
          <a:bodyPr/>
          <a:lstStyle/>
          <a:p>
            <a:r>
              <a:rPr lang="en-US" dirty="0"/>
              <a:t>Pick a rare mutant  </a:t>
            </a:r>
          </a:p>
          <a:p>
            <a:r>
              <a:rPr lang="en-US" dirty="0"/>
              <a:t>Pick an abundant mutant </a:t>
            </a:r>
          </a:p>
          <a:p>
            <a:r>
              <a:rPr lang="en-US" dirty="0"/>
              <a:t>Pick a mutant somewhere in the middle  </a:t>
            </a:r>
          </a:p>
          <a:p>
            <a:r>
              <a:rPr lang="en-US" dirty="0"/>
              <a:t>Pick the WT </a:t>
            </a:r>
          </a:p>
          <a:p>
            <a:r>
              <a:rPr lang="en-US" dirty="0"/>
              <a:t>Grow over many repetitions and see if there is a               difference in difference in the number of colonies </a:t>
            </a:r>
            <a:endParaRPr lang="en-AU" dirty="0"/>
          </a:p>
        </p:txBody>
      </p:sp>
      <p:pic>
        <p:nvPicPr>
          <p:cNvPr id="4" name="Picture 3">
            <a:extLst>
              <a:ext uri="{FF2B5EF4-FFF2-40B4-BE49-F238E27FC236}">
                <a16:creationId xmlns:a16="http://schemas.microsoft.com/office/drawing/2014/main" id="{F52AA396-A85B-B182-1509-77A7F6B12182}"/>
              </a:ext>
            </a:extLst>
          </p:cNvPr>
          <p:cNvPicPr>
            <a:picLocks noChangeAspect="1"/>
          </p:cNvPicPr>
          <p:nvPr/>
        </p:nvPicPr>
        <p:blipFill>
          <a:blip r:embed="rId3"/>
          <a:stretch>
            <a:fillRect/>
          </a:stretch>
        </p:blipFill>
        <p:spPr>
          <a:xfrm>
            <a:off x="7696206" y="78377"/>
            <a:ext cx="3433829" cy="6609806"/>
          </a:xfrm>
          <a:prstGeom prst="rect">
            <a:avLst/>
          </a:prstGeom>
        </p:spPr>
      </p:pic>
    </p:spTree>
    <p:extLst>
      <p:ext uri="{BB962C8B-B14F-4D97-AF65-F5344CB8AC3E}">
        <p14:creationId xmlns:p14="http://schemas.microsoft.com/office/powerpoint/2010/main" val="41351815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E2FA7-3528-B5F6-DCC3-6380A3F928B8}"/>
              </a:ext>
            </a:extLst>
          </p:cNvPr>
          <p:cNvSpPr>
            <a:spLocks noGrp="1"/>
          </p:cNvSpPr>
          <p:nvPr>
            <p:ph type="title"/>
          </p:nvPr>
        </p:nvSpPr>
        <p:spPr/>
        <p:txBody>
          <a:bodyPr/>
          <a:lstStyle/>
          <a:p>
            <a:r>
              <a:rPr lang="en-US" dirty="0"/>
              <a:t>Initial Experiment </a:t>
            </a:r>
            <a:endParaRPr lang="en-AU" dirty="0"/>
          </a:p>
        </p:txBody>
      </p:sp>
      <p:pic>
        <p:nvPicPr>
          <p:cNvPr id="8" name="Content Placeholder 7">
            <a:extLst>
              <a:ext uri="{FF2B5EF4-FFF2-40B4-BE49-F238E27FC236}">
                <a16:creationId xmlns:a16="http://schemas.microsoft.com/office/drawing/2014/main" id="{9EB8DF53-DD2A-7EC6-EEE9-2BA24FC5B165}"/>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rot="16200000">
            <a:off x="3759044" y="1270977"/>
            <a:ext cx="4673912" cy="6231884"/>
          </a:xfrm>
          <a:prstGeom prst="rect">
            <a:avLst/>
          </a:prstGeom>
        </p:spPr>
      </p:pic>
    </p:spTree>
    <p:extLst>
      <p:ext uri="{BB962C8B-B14F-4D97-AF65-F5344CB8AC3E}">
        <p14:creationId xmlns:p14="http://schemas.microsoft.com/office/powerpoint/2010/main" val="1613813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B5020F-9C20-B7A9-E41A-55AAE3D5476A}"/>
              </a:ext>
            </a:extLst>
          </p:cNvPr>
          <p:cNvSpPr>
            <a:spLocks noGrp="1"/>
          </p:cNvSpPr>
          <p:nvPr>
            <p:ph type="title"/>
          </p:nvPr>
        </p:nvSpPr>
        <p:spPr/>
        <p:txBody>
          <a:bodyPr/>
          <a:lstStyle/>
          <a:p>
            <a:endParaRPr lang="en-AU"/>
          </a:p>
        </p:txBody>
      </p:sp>
      <p:sp>
        <p:nvSpPr>
          <p:cNvPr id="3" name="Content Placeholder 2">
            <a:extLst>
              <a:ext uri="{FF2B5EF4-FFF2-40B4-BE49-F238E27FC236}">
                <a16:creationId xmlns:a16="http://schemas.microsoft.com/office/drawing/2014/main" id="{DEB5D11C-73B4-CF12-50B3-6C4805004ADA}"/>
              </a:ext>
            </a:extLst>
          </p:cNvPr>
          <p:cNvSpPr>
            <a:spLocks noGrp="1"/>
          </p:cNvSpPr>
          <p:nvPr>
            <p:ph idx="1"/>
          </p:nvPr>
        </p:nvSpPr>
        <p:spPr/>
        <p:txBody>
          <a:bodyPr/>
          <a:lstStyle/>
          <a:p>
            <a:endParaRPr lang="en-AU"/>
          </a:p>
        </p:txBody>
      </p:sp>
    </p:spTree>
    <p:extLst>
      <p:ext uri="{BB962C8B-B14F-4D97-AF65-F5344CB8AC3E}">
        <p14:creationId xmlns:p14="http://schemas.microsoft.com/office/powerpoint/2010/main" val="553690055"/>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1303</TotalTime>
  <Words>1104</Words>
  <Application>Microsoft Office PowerPoint</Application>
  <PresentationFormat>Widescreen</PresentationFormat>
  <Paragraphs>94</Paragraphs>
  <Slides>19</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Arial</vt:lpstr>
      <vt:lpstr>Calibri</vt:lpstr>
      <vt:lpstr>Century Schoolbook</vt:lpstr>
      <vt:lpstr>Wingdings 2</vt:lpstr>
      <vt:lpstr>View</vt:lpstr>
      <vt:lpstr>Research Update </vt:lpstr>
      <vt:lpstr>Chapter 1 </vt:lpstr>
      <vt:lpstr>Design </vt:lpstr>
      <vt:lpstr>Initial findings </vt:lpstr>
      <vt:lpstr>45°c</vt:lpstr>
      <vt:lpstr>48°c</vt:lpstr>
      <vt:lpstr>22°c</vt:lpstr>
      <vt:lpstr>MAXOD Heatmap </vt:lpstr>
      <vt:lpstr>MUMAX Heatmap </vt:lpstr>
      <vt:lpstr>Initial Observations </vt:lpstr>
      <vt:lpstr>OD LB</vt:lpstr>
      <vt:lpstr>OD M9</vt:lpstr>
      <vt:lpstr>MUMAX LB</vt:lpstr>
      <vt:lpstr>MUMAX M9</vt:lpstr>
      <vt:lpstr>Chapter 2 </vt:lpstr>
      <vt:lpstr>Background  </vt:lpstr>
      <vt:lpstr>Design </vt:lpstr>
      <vt:lpstr>Initial Experiment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Ziqing Liu</dc:creator>
  <cp:lastModifiedBy>Ziqing Liu</cp:lastModifiedBy>
  <cp:revision>2</cp:revision>
  <dcterms:created xsi:type="dcterms:W3CDTF">2026-04-28T23:57:04Z</dcterms:created>
  <dcterms:modified xsi:type="dcterms:W3CDTF">2026-05-12T07:16:05Z</dcterms:modified>
</cp:coreProperties>
</file>