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9" r:id="rId11"/>
    <p:sldId id="265" r:id="rId12"/>
    <p:sldId id="266" r:id="rId13"/>
    <p:sldId id="267" r:id="rId14"/>
    <p:sldId id="268"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6FB4F6-F798-4ED9-99E3-1574F431BF44}" v="4" dt="2026-04-30T06:03:51.83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05" d="100"/>
          <a:sy n="105" d="100"/>
        </p:scale>
        <p:origin x="77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iqing Liu" userId="20113ce3-4e8c-4eaa-a792-613b3e52886a" providerId="ADAL" clId="{7647F6DA-84E6-4065-910E-AC1B0A07A858}"/>
    <pc:docChg chg="custSel addSld modSld sldOrd">
      <pc:chgData name="Ziqing Liu" userId="20113ce3-4e8c-4eaa-a792-613b3e52886a" providerId="ADAL" clId="{7647F6DA-84E6-4065-910E-AC1B0A07A858}" dt="2026-04-30T06:06:11.835" v="977" actId="20577"/>
      <pc:docMkLst>
        <pc:docMk/>
      </pc:docMkLst>
      <pc:sldChg chg="modSp mod">
        <pc:chgData name="Ziqing Liu" userId="20113ce3-4e8c-4eaa-a792-613b3e52886a" providerId="ADAL" clId="{7647F6DA-84E6-4065-910E-AC1B0A07A858}" dt="2026-04-30T01:24:04.487" v="515" actId="20577"/>
        <pc:sldMkLst>
          <pc:docMk/>
          <pc:sldMk cId="1820470890" sldId="265"/>
        </pc:sldMkLst>
        <pc:spChg chg="mod">
          <ac:chgData name="Ziqing Liu" userId="20113ce3-4e8c-4eaa-a792-613b3e52886a" providerId="ADAL" clId="{7647F6DA-84E6-4065-910E-AC1B0A07A858}" dt="2026-04-30T01:24:04.487" v="515" actId="20577"/>
          <ac:spMkLst>
            <pc:docMk/>
            <pc:sldMk cId="1820470890" sldId="265"/>
            <ac:spMk id="6" creationId="{5D17A225-B875-DA94-C728-918628A198AC}"/>
          </ac:spMkLst>
        </pc:spChg>
      </pc:sldChg>
      <pc:sldChg chg="modSp mod">
        <pc:chgData name="Ziqing Liu" userId="20113ce3-4e8c-4eaa-a792-613b3e52886a" providerId="ADAL" clId="{7647F6DA-84E6-4065-910E-AC1B0A07A858}" dt="2026-04-30T01:24:09.434" v="521" actId="20577"/>
        <pc:sldMkLst>
          <pc:docMk/>
          <pc:sldMk cId="4088449915" sldId="266"/>
        </pc:sldMkLst>
        <pc:spChg chg="mod">
          <ac:chgData name="Ziqing Liu" userId="20113ce3-4e8c-4eaa-a792-613b3e52886a" providerId="ADAL" clId="{7647F6DA-84E6-4065-910E-AC1B0A07A858}" dt="2026-04-30T01:24:09.434" v="521" actId="20577"/>
          <ac:spMkLst>
            <pc:docMk/>
            <pc:sldMk cId="4088449915" sldId="266"/>
            <ac:spMk id="2" creationId="{58C8C730-BD99-2B19-3280-D8BFCB3AE2A7}"/>
          </ac:spMkLst>
        </pc:spChg>
      </pc:sldChg>
      <pc:sldChg chg="modSp mod">
        <pc:chgData name="Ziqing Liu" userId="20113ce3-4e8c-4eaa-a792-613b3e52886a" providerId="ADAL" clId="{7647F6DA-84E6-4065-910E-AC1B0A07A858}" dt="2026-04-30T01:24:15.284" v="527" actId="20577"/>
        <pc:sldMkLst>
          <pc:docMk/>
          <pc:sldMk cId="1775554001" sldId="267"/>
        </pc:sldMkLst>
        <pc:spChg chg="mod">
          <ac:chgData name="Ziqing Liu" userId="20113ce3-4e8c-4eaa-a792-613b3e52886a" providerId="ADAL" clId="{7647F6DA-84E6-4065-910E-AC1B0A07A858}" dt="2026-04-30T01:24:15.284" v="527" actId="20577"/>
          <ac:spMkLst>
            <pc:docMk/>
            <pc:sldMk cId="1775554001" sldId="267"/>
            <ac:spMk id="2" creationId="{E447A658-75C0-F871-2CA1-675D5953E9C4}"/>
          </ac:spMkLst>
        </pc:spChg>
      </pc:sldChg>
      <pc:sldChg chg="modSp mod ord">
        <pc:chgData name="Ziqing Liu" userId="20113ce3-4e8c-4eaa-a792-613b3e52886a" providerId="ADAL" clId="{7647F6DA-84E6-4065-910E-AC1B0A07A858}" dt="2026-04-30T01:24:20.987" v="533" actId="20577"/>
        <pc:sldMkLst>
          <pc:docMk/>
          <pc:sldMk cId="446253618" sldId="268"/>
        </pc:sldMkLst>
        <pc:spChg chg="mod">
          <ac:chgData name="Ziqing Liu" userId="20113ce3-4e8c-4eaa-a792-613b3e52886a" providerId="ADAL" clId="{7647F6DA-84E6-4065-910E-AC1B0A07A858}" dt="2026-04-30T01:24:20.987" v="533" actId="20577"/>
          <ac:spMkLst>
            <pc:docMk/>
            <pc:sldMk cId="446253618" sldId="268"/>
            <ac:spMk id="2" creationId="{702E50FB-E4C8-D52E-B0FE-BB45A3C57A83}"/>
          </ac:spMkLst>
        </pc:spChg>
      </pc:sldChg>
      <pc:sldChg chg="modSp mod modNotesTx">
        <pc:chgData name="Ziqing Liu" userId="20113ce3-4e8c-4eaa-a792-613b3e52886a" providerId="ADAL" clId="{7647F6DA-84E6-4065-910E-AC1B0A07A858}" dt="2026-04-30T06:06:11.835" v="977" actId="20577"/>
        <pc:sldMkLst>
          <pc:docMk/>
          <pc:sldMk cId="3308895348" sldId="269"/>
        </pc:sldMkLst>
        <pc:spChg chg="mod">
          <ac:chgData name="Ziqing Liu" userId="20113ce3-4e8c-4eaa-a792-613b3e52886a" providerId="ADAL" clId="{7647F6DA-84E6-4065-910E-AC1B0A07A858}" dt="2026-04-30T05:20:19.553" v="848" actId="20577"/>
          <ac:spMkLst>
            <pc:docMk/>
            <pc:sldMk cId="3308895348" sldId="269"/>
            <ac:spMk id="3" creationId="{75CEAE73-A454-A5D9-BF0B-1BC190E98C83}"/>
          </ac:spMkLst>
        </pc:spChg>
      </pc:sldChg>
      <pc:sldChg chg="addSp modSp mod">
        <pc:chgData name="Ziqing Liu" userId="20113ce3-4e8c-4eaa-a792-613b3e52886a" providerId="ADAL" clId="{7647F6DA-84E6-4065-910E-AC1B0A07A858}" dt="2026-04-30T01:27:55.759" v="847" actId="20577"/>
        <pc:sldMkLst>
          <pc:docMk/>
          <pc:sldMk cId="4135181532" sldId="272"/>
        </pc:sldMkLst>
        <pc:spChg chg="mod">
          <ac:chgData name="Ziqing Liu" userId="20113ce3-4e8c-4eaa-a792-613b3e52886a" providerId="ADAL" clId="{7647F6DA-84E6-4065-910E-AC1B0A07A858}" dt="2026-04-30T01:27:55.759" v="847" actId="20577"/>
          <ac:spMkLst>
            <pc:docMk/>
            <pc:sldMk cId="4135181532" sldId="272"/>
            <ac:spMk id="3" creationId="{DA16E06F-F081-53A3-84A4-2A6ED0ED5996}"/>
          </ac:spMkLst>
        </pc:spChg>
        <pc:picChg chg="add mod">
          <ac:chgData name="Ziqing Liu" userId="20113ce3-4e8c-4eaa-a792-613b3e52886a" providerId="ADAL" clId="{7647F6DA-84E6-4065-910E-AC1B0A07A858}" dt="2026-04-30T01:13:36.995" v="38"/>
          <ac:picMkLst>
            <pc:docMk/>
            <pc:sldMk cId="4135181532" sldId="272"/>
            <ac:picMk id="4" creationId="{F52AA396-A85B-B182-1509-77A7F6B12182}"/>
          </ac:picMkLst>
        </pc:picChg>
      </pc:sldChg>
      <pc:sldChg chg="addSp delSp modSp mod modNotesTx">
        <pc:chgData name="Ziqing Liu" userId="20113ce3-4e8c-4eaa-a792-613b3e52886a" providerId="ADAL" clId="{7647F6DA-84E6-4065-910E-AC1B0A07A858}" dt="2026-04-30T01:20:36.536" v="506" actId="20577"/>
        <pc:sldMkLst>
          <pc:docMk/>
          <pc:sldMk cId="161381395" sldId="273"/>
        </pc:sldMkLst>
        <pc:spChg chg="mod">
          <ac:chgData name="Ziqing Liu" userId="20113ce3-4e8c-4eaa-a792-613b3e52886a" providerId="ADAL" clId="{7647F6DA-84E6-4065-910E-AC1B0A07A858}" dt="2026-04-30T01:15:54.194" v="335" actId="20577"/>
          <ac:spMkLst>
            <pc:docMk/>
            <pc:sldMk cId="161381395" sldId="273"/>
            <ac:spMk id="2" creationId="{B18E2FA7-3528-B5F6-DCC3-6380A3F928B8}"/>
          </ac:spMkLst>
        </pc:spChg>
        <pc:spChg chg="del">
          <ac:chgData name="Ziqing Liu" userId="20113ce3-4e8c-4eaa-a792-613b3e52886a" providerId="ADAL" clId="{7647F6DA-84E6-4065-910E-AC1B0A07A858}" dt="2026-04-30T01:17:09.600" v="337"/>
          <ac:spMkLst>
            <pc:docMk/>
            <pc:sldMk cId="161381395" sldId="273"/>
            <ac:spMk id="3" creationId="{D6C33FBA-97FF-53A8-80E1-1C2D3DDB1C6D}"/>
          </ac:spMkLst>
        </pc:spChg>
        <pc:picChg chg="add mod ord">
          <ac:chgData name="Ziqing Liu" userId="20113ce3-4e8c-4eaa-a792-613b3e52886a" providerId="ADAL" clId="{7647F6DA-84E6-4065-910E-AC1B0A07A858}" dt="2026-04-30T01:18:51.746" v="344" actId="14100"/>
          <ac:picMkLst>
            <pc:docMk/>
            <pc:sldMk cId="161381395" sldId="273"/>
            <ac:picMk id="5" creationId="{BE7C069A-95D2-3FAE-BBC5-44E21A62F67B}"/>
          </ac:picMkLst>
        </pc:picChg>
        <pc:picChg chg="add mod">
          <ac:chgData name="Ziqing Liu" userId="20113ce3-4e8c-4eaa-a792-613b3e52886a" providerId="ADAL" clId="{7647F6DA-84E6-4065-910E-AC1B0A07A858}" dt="2026-04-30T01:18:55.779" v="345" actId="14100"/>
          <ac:picMkLst>
            <pc:docMk/>
            <pc:sldMk cId="161381395" sldId="273"/>
            <ac:picMk id="7" creationId="{AE4623AB-D728-CE76-5F3B-F9CF9CF88544}"/>
          </ac:picMkLst>
        </pc:picChg>
      </pc:sldChg>
      <pc:sldChg chg="modSp new mod modNotesTx">
        <pc:chgData name="Ziqing Liu" userId="20113ce3-4e8c-4eaa-a792-613b3e52886a" providerId="ADAL" clId="{7647F6DA-84E6-4065-910E-AC1B0A07A858}" dt="2026-04-30T06:04:04.422" v="905" actId="20577"/>
        <pc:sldMkLst>
          <pc:docMk/>
          <pc:sldMk cId="455754772" sldId="274"/>
        </pc:sldMkLst>
        <pc:spChg chg="mod">
          <ac:chgData name="Ziqing Liu" userId="20113ce3-4e8c-4eaa-a792-613b3e52886a" providerId="ADAL" clId="{7647F6DA-84E6-4065-910E-AC1B0A07A858}" dt="2026-04-30T06:02:09.121" v="858" actId="20577"/>
          <ac:spMkLst>
            <pc:docMk/>
            <pc:sldMk cId="455754772" sldId="274"/>
            <ac:spMk id="2" creationId="{C7BCD7D5-2B28-6982-7EE9-338E4AA3B59B}"/>
          </ac:spMkLst>
        </pc:spChg>
        <pc:spChg chg="mod">
          <ac:chgData name="Ziqing Liu" userId="20113ce3-4e8c-4eaa-a792-613b3e52886a" providerId="ADAL" clId="{7647F6DA-84E6-4065-910E-AC1B0A07A858}" dt="2026-04-30T06:03:52.129" v="867" actId="20577"/>
          <ac:spMkLst>
            <pc:docMk/>
            <pc:sldMk cId="455754772" sldId="274"/>
            <ac:spMk id="3" creationId="{9E86C13D-4EAC-8FE4-2F30-571731C0BE30}"/>
          </ac:spMkLst>
        </pc:spChg>
      </pc:sldChg>
      <pc:sldChg chg="new">
        <pc:chgData name="Ziqing Liu" userId="20113ce3-4e8c-4eaa-a792-613b3e52886a" providerId="ADAL" clId="{7647F6DA-84E6-4065-910E-AC1B0A07A858}" dt="2026-04-30T01:20:43.470" v="508" actId="680"/>
        <pc:sldMkLst>
          <pc:docMk/>
          <pc:sldMk cId="727055526" sldId="275"/>
        </pc:sldMkLst>
      </pc:sldChg>
      <pc:sldChg chg="new">
        <pc:chgData name="Ziqing Liu" userId="20113ce3-4e8c-4eaa-a792-613b3e52886a" providerId="ADAL" clId="{7647F6DA-84E6-4065-910E-AC1B0A07A858}" dt="2026-04-30T01:20:44.044" v="509" actId="680"/>
        <pc:sldMkLst>
          <pc:docMk/>
          <pc:sldMk cId="2788196891" sldId="2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EF466A-A959-4E0E-8024-BDD72A80DBF2}" type="datetimeFigureOut">
              <a:rPr lang="en-AU" smtClean="0"/>
              <a:t>30/04/2026</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E2FBA2-9175-4A3F-A6D1-7B9260A1E964}" type="slidenum">
              <a:rPr lang="en-AU" smtClean="0"/>
              <a:t>‹#›</a:t>
            </a:fld>
            <a:endParaRPr lang="en-AU"/>
          </a:p>
        </p:txBody>
      </p:sp>
    </p:spTree>
    <p:extLst>
      <p:ext uri="{BB962C8B-B14F-4D97-AF65-F5344CB8AC3E}">
        <p14:creationId xmlns:p14="http://schemas.microsoft.com/office/powerpoint/2010/main" val="33815779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LB is  rich and M9 is minimal </a:t>
            </a:r>
            <a:endParaRPr lang="en-AU" dirty="0"/>
          </a:p>
        </p:txBody>
      </p:sp>
      <p:sp>
        <p:nvSpPr>
          <p:cNvPr id="4" name="Slide Number Placeholder 3"/>
          <p:cNvSpPr>
            <a:spLocks noGrp="1"/>
          </p:cNvSpPr>
          <p:nvPr>
            <p:ph type="sldNum" sz="quarter" idx="5"/>
          </p:nvPr>
        </p:nvSpPr>
        <p:spPr/>
        <p:txBody>
          <a:bodyPr/>
          <a:lstStyle/>
          <a:p>
            <a:fld id="{FAE2FBA2-9175-4A3F-A6D1-7B9260A1E964}" type="slidenum">
              <a:rPr lang="en-AU" smtClean="0"/>
              <a:t>2</a:t>
            </a:fld>
            <a:endParaRPr lang="en-AU"/>
          </a:p>
        </p:txBody>
      </p:sp>
    </p:spTree>
    <p:extLst>
      <p:ext uri="{BB962C8B-B14F-4D97-AF65-F5344CB8AC3E}">
        <p14:creationId xmlns:p14="http://schemas.microsoft.com/office/powerpoint/2010/main" val="6387244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split a 96 well plate in 2 and After blank wells there are 60 wells 2 are blank 58 which nicely leaves us with 29 wells per growth media. This way we can test the effect of temperature on our mutant </a:t>
            </a:r>
            <a:r>
              <a:rPr lang="en-US" dirty="0" err="1"/>
              <a:t>accorss</a:t>
            </a:r>
            <a:r>
              <a:rPr lang="en-US" dirty="0"/>
              <a:t> the two different media </a:t>
            </a:r>
            <a:endParaRPr lang="en-AU" dirty="0"/>
          </a:p>
        </p:txBody>
      </p:sp>
      <p:sp>
        <p:nvSpPr>
          <p:cNvPr id="4" name="Slide Number Placeholder 3"/>
          <p:cNvSpPr>
            <a:spLocks noGrp="1"/>
          </p:cNvSpPr>
          <p:nvPr>
            <p:ph type="sldNum" sz="quarter" idx="5"/>
          </p:nvPr>
        </p:nvSpPr>
        <p:spPr/>
        <p:txBody>
          <a:bodyPr/>
          <a:lstStyle/>
          <a:p>
            <a:fld id="{FAE2FBA2-9175-4A3F-A6D1-7B9260A1E964}" type="slidenum">
              <a:rPr lang="en-AU" smtClean="0"/>
              <a:t>3</a:t>
            </a:fld>
            <a:endParaRPr lang="en-AU"/>
          </a:p>
        </p:txBody>
      </p:sp>
    </p:spTree>
    <p:extLst>
      <p:ext uri="{BB962C8B-B14F-4D97-AF65-F5344CB8AC3E}">
        <p14:creationId xmlns:p14="http://schemas.microsoft.com/office/powerpoint/2010/main" val="29188004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reach saturation at 30-37 in LB and 42-37-30 in M9  </a:t>
            </a:r>
            <a:endParaRPr lang="en-AU" dirty="0"/>
          </a:p>
        </p:txBody>
      </p:sp>
      <p:sp>
        <p:nvSpPr>
          <p:cNvPr id="4" name="Slide Number Placeholder 3"/>
          <p:cNvSpPr>
            <a:spLocks noGrp="1"/>
          </p:cNvSpPr>
          <p:nvPr>
            <p:ph type="sldNum" sz="quarter" idx="5"/>
          </p:nvPr>
        </p:nvSpPr>
        <p:spPr/>
        <p:txBody>
          <a:bodyPr/>
          <a:lstStyle/>
          <a:p>
            <a:fld id="{FAE2FBA2-9175-4A3F-A6D1-7B9260A1E964}" type="slidenum">
              <a:rPr lang="en-AU" smtClean="0"/>
              <a:t>8</a:t>
            </a:fld>
            <a:endParaRPr lang="en-AU"/>
          </a:p>
        </p:txBody>
      </p:sp>
    </p:spTree>
    <p:extLst>
      <p:ext uri="{BB962C8B-B14F-4D97-AF65-F5344CB8AC3E}">
        <p14:creationId xmlns:p14="http://schemas.microsoft.com/office/powerpoint/2010/main" val="14144302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Sweet spot for growth is between 37 and 42 </a:t>
            </a:r>
            <a:endParaRPr lang="en-AU" dirty="0"/>
          </a:p>
        </p:txBody>
      </p:sp>
      <p:sp>
        <p:nvSpPr>
          <p:cNvPr id="4" name="Slide Number Placeholder 3"/>
          <p:cNvSpPr>
            <a:spLocks noGrp="1"/>
          </p:cNvSpPr>
          <p:nvPr>
            <p:ph type="sldNum" sz="quarter" idx="5"/>
          </p:nvPr>
        </p:nvSpPr>
        <p:spPr/>
        <p:txBody>
          <a:bodyPr/>
          <a:lstStyle/>
          <a:p>
            <a:fld id="{FAE2FBA2-9175-4A3F-A6D1-7B9260A1E964}" type="slidenum">
              <a:rPr lang="en-AU" smtClean="0"/>
              <a:t>9</a:t>
            </a:fld>
            <a:endParaRPr lang="en-AU"/>
          </a:p>
        </p:txBody>
      </p:sp>
    </p:spTree>
    <p:extLst>
      <p:ext uri="{BB962C8B-B14F-4D97-AF65-F5344CB8AC3E}">
        <p14:creationId xmlns:p14="http://schemas.microsoft.com/office/powerpoint/2010/main" val="29223176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OD is highest for M9 at 42c which is not traditionally optimal Even though the mutants are growing better in LB than M9 its interesting that the optimal for LB seems to be at 30-37c while m9 it </a:t>
            </a:r>
            <a:r>
              <a:rPr lang="en-US" dirty="0" err="1"/>
              <a:t>seens</a:t>
            </a:r>
            <a:r>
              <a:rPr lang="en-US" dirty="0"/>
              <a:t> to be 42 </a:t>
            </a:r>
            <a:r>
              <a:rPr lang="en-US" dirty="0" err="1"/>
              <a:t>andybe</a:t>
            </a:r>
            <a:r>
              <a:rPr lang="en-US" dirty="0"/>
              <a:t> 37. the high </a:t>
            </a:r>
            <a:r>
              <a:rPr lang="en-US" dirty="0" err="1"/>
              <a:t>mumax</a:t>
            </a:r>
            <a:r>
              <a:rPr lang="en-US" dirty="0"/>
              <a:t> for LB at 42 is not translating to OD (</a:t>
            </a:r>
            <a:r>
              <a:rPr lang="en-US" dirty="0" err="1"/>
              <a:t>eventhough</a:t>
            </a:r>
            <a:r>
              <a:rPr lang="en-US" dirty="0"/>
              <a:t> our mutants can grow at 45 in LB it is seems to prefer 30-37 while although mutants don’t grow in M9 at 45 it seems to </a:t>
            </a:r>
            <a:r>
              <a:rPr lang="en-US"/>
              <a:t>prefer 42c)</a:t>
            </a:r>
            <a:endParaRPr lang="en-US" dirty="0"/>
          </a:p>
          <a:p>
            <a:endParaRPr lang="en-AU" dirty="0"/>
          </a:p>
        </p:txBody>
      </p:sp>
      <p:sp>
        <p:nvSpPr>
          <p:cNvPr id="4" name="Slide Number Placeholder 3"/>
          <p:cNvSpPr>
            <a:spLocks noGrp="1"/>
          </p:cNvSpPr>
          <p:nvPr>
            <p:ph type="sldNum" sz="quarter" idx="5"/>
          </p:nvPr>
        </p:nvSpPr>
        <p:spPr/>
        <p:txBody>
          <a:bodyPr/>
          <a:lstStyle/>
          <a:p>
            <a:fld id="{FAE2FBA2-9175-4A3F-A6D1-7B9260A1E964}" type="slidenum">
              <a:rPr lang="en-AU" smtClean="0"/>
              <a:t>10</a:t>
            </a:fld>
            <a:endParaRPr lang="en-AU"/>
          </a:p>
        </p:txBody>
      </p:sp>
    </p:spTree>
    <p:extLst>
      <p:ext uri="{BB962C8B-B14F-4D97-AF65-F5344CB8AC3E}">
        <p14:creationId xmlns:p14="http://schemas.microsoft.com/office/powerpoint/2010/main" val="3686675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table </a:t>
            </a:r>
            <a:endParaRPr lang="en-AU" dirty="0"/>
          </a:p>
        </p:txBody>
      </p:sp>
      <p:sp>
        <p:nvSpPr>
          <p:cNvPr id="4" name="Slide Number Placeholder 3"/>
          <p:cNvSpPr>
            <a:spLocks noGrp="1"/>
          </p:cNvSpPr>
          <p:nvPr>
            <p:ph type="sldNum" sz="quarter" idx="5"/>
          </p:nvPr>
        </p:nvSpPr>
        <p:spPr/>
        <p:txBody>
          <a:bodyPr/>
          <a:lstStyle/>
          <a:p>
            <a:fld id="{FAE2FBA2-9175-4A3F-A6D1-7B9260A1E964}" type="slidenum">
              <a:rPr lang="en-AU" smtClean="0"/>
              <a:t>16</a:t>
            </a:fld>
            <a:endParaRPr lang="en-AU"/>
          </a:p>
        </p:txBody>
      </p:sp>
    </p:spTree>
    <p:extLst>
      <p:ext uri="{BB962C8B-B14F-4D97-AF65-F5344CB8AC3E}">
        <p14:creationId xmlns:p14="http://schemas.microsoft.com/office/powerpoint/2010/main" val="25042085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Ideally we see the most commonly found mutants to have the most number of colonies and the rare mutants to have much less </a:t>
            </a:r>
            <a:endParaRPr lang="en-AU" dirty="0"/>
          </a:p>
        </p:txBody>
      </p:sp>
      <p:sp>
        <p:nvSpPr>
          <p:cNvPr id="4" name="Slide Number Placeholder 3"/>
          <p:cNvSpPr>
            <a:spLocks noGrp="1"/>
          </p:cNvSpPr>
          <p:nvPr>
            <p:ph type="sldNum" sz="quarter" idx="5"/>
          </p:nvPr>
        </p:nvSpPr>
        <p:spPr/>
        <p:txBody>
          <a:bodyPr/>
          <a:lstStyle/>
          <a:p>
            <a:fld id="{FAE2FBA2-9175-4A3F-A6D1-7B9260A1E964}" type="slidenum">
              <a:rPr lang="en-AU" smtClean="0"/>
              <a:t>18</a:t>
            </a:fld>
            <a:endParaRPr lang="en-AU"/>
          </a:p>
        </p:txBody>
      </p:sp>
    </p:spTree>
    <p:extLst>
      <p:ext uri="{BB962C8B-B14F-4D97-AF65-F5344CB8AC3E}">
        <p14:creationId xmlns:p14="http://schemas.microsoft.com/office/powerpoint/2010/main" val="19813945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Im</a:t>
            </a:r>
            <a:r>
              <a:rPr lang="en-US" dirty="0"/>
              <a:t> not quite sure what is the reason </a:t>
            </a:r>
            <a:endParaRPr lang="en-AU" dirty="0"/>
          </a:p>
        </p:txBody>
      </p:sp>
      <p:sp>
        <p:nvSpPr>
          <p:cNvPr id="4" name="Slide Number Placeholder 3"/>
          <p:cNvSpPr>
            <a:spLocks noGrp="1"/>
          </p:cNvSpPr>
          <p:nvPr>
            <p:ph type="sldNum" sz="quarter" idx="5"/>
          </p:nvPr>
        </p:nvSpPr>
        <p:spPr/>
        <p:txBody>
          <a:bodyPr/>
          <a:lstStyle/>
          <a:p>
            <a:fld id="{FAE2FBA2-9175-4A3F-A6D1-7B9260A1E964}" type="slidenum">
              <a:rPr lang="en-AU" smtClean="0"/>
              <a:t>19</a:t>
            </a:fld>
            <a:endParaRPr lang="en-AU"/>
          </a:p>
        </p:txBody>
      </p:sp>
    </p:spTree>
    <p:extLst>
      <p:ext uri="{BB962C8B-B14F-4D97-AF65-F5344CB8AC3E}">
        <p14:creationId xmlns:p14="http://schemas.microsoft.com/office/powerpoint/2010/main" val="18528120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E7611B22-EA13-474B-83BA-8A12F66AADAF}" type="datetimeFigureOut">
              <a:rPr lang="en-AU" smtClean="0"/>
              <a:t>30/04/2026</a:t>
            </a:fld>
            <a:endParaRPr lang="en-AU"/>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AU"/>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5A7A6B84-712C-4447-9CE1-C6658B4CC8CE}" type="slidenum">
              <a:rPr lang="en-AU" smtClean="0"/>
              <a:t>‹#›</a:t>
            </a:fld>
            <a:endParaRPr lang="en-AU"/>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Tree>
    <p:extLst>
      <p:ext uri="{BB962C8B-B14F-4D97-AF65-F5344CB8AC3E}">
        <p14:creationId xmlns:p14="http://schemas.microsoft.com/office/powerpoint/2010/main" val="77732021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611B22-EA13-474B-83BA-8A12F66AADAF}" type="datetimeFigureOut">
              <a:rPr lang="en-AU" smtClean="0"/>
              <a:t>30/04/2026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A7A6B84-712C-4447-9CE1-C6658B4CC8CE}" type="slidenum">
              <a:rPr lang="en-AU" smtClean="0"/>
              <a:t>‹#›</a:t>
            </a:fld>
            <a:endParaRPr lang="en-AU"/>
          </a:p>
        </p:txBody>
      </p:sp>
    </p:spTree>
    <p:extLst>
      <p:ext uri="{BB962C8B-B14F-4D97-AF65-F5344CB8AC3E}">
        <p14:creationId xmlns:p14="http://schemas.microsoft.com/office/powerpoint/2010/main" val="2726762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611B22-EA13-474B-83BA-8A12F66AADAF}" type="datetimeFigureOut">
              <a:rPr lang="en-AU" smtClean="0"/>
              <a:t>30/04/2026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A7A6B84-712C-4447-9CE1-C6658B4CC8CE}" type="slidenum">
              <a:rPr lang="en-AU" smtClean="0"/>
              <a:t>‹#›</a:t>
            </a:fld>
            <a:endParaRPr lang="en-AU"/>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965391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611B22-EA13-474B-83BA-8A12F66AADAF}" type="datetimeFigureOut">
              <a:rPr lang="en-AU" smtClean="0"/>
              <a:t>30/04/2026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A7A6B84-712C-4447-9CE1-C6658B4CC8CE}" type="slidenum">
              <a:rPr lang="en-AU" smtClean="0"/>
              <a:t>‹#›</a:t>
            </a:fld>
            <a:endParaRPr lang="en-AU"/>
          </a:p>
        </p:txBody>
      </p:sp>
    </p:spTree>
    <p:extLst>
      <p:ext uri="{BB962C8B-B14F-4D97-AF65-F5344CB8AC3E}">
        <p14:creationId xmlns:p14="http://schemas.microsoft.com/office/powerpoint/2010/main" val="36638767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611B22-EA13-474B-83BA-8A12F66AADAF}" type="datetimeFigureOut">
              <a:rPr lang="en-AU" smtClean="0"/>
              <a:t>30/04/2026</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5A7A6B84-712C-4447-9CE1-C6658B4CC8CE}" type="slidenum">
              <a:rPr lang="en-AU" smtClean="0"/>
              <a:t>‹#›</a:t>
            </a:fld>
            <a:endParaRPr lang="en-AU"/>
          </a:p>
        </p:txBody>
      </p:sp>
    </p:spTree>
    <p:extLst>
      <p:ext uri="{BB962C8B-B14F-4D97-AF65-F5344CB8AC3E}">
        <p14:creationId xmlns:p14="http://schemas.microsoft.com/office/powerpoint/2010/main" val="35774096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611B22-EA13-474B-83BA-8A12F66AADAF}" type="datetimeFigureOut">
              <a:rPr lang="en-AU" smtClean="0"/>
              <a:t>30/04/2026</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5A7A6B84-712C-4447-9CE1-C6658B4CC8CE}" type="slidenum">
              <a:rPr lang="en-AU" smtClean="0"/>
              <a:t>‹#›</a:t>
            </a:fld>
            <a:endParaRPr lang="en-AU"/>
          </a:p>
        </p:txBody>
      </p:sp>
    </p:spTree>
    <p:extLst>
      <p:ext uri="{BB962C8B-B14F-4D97-AF65-F5344CB8AC3E}">
        <p14:creationId xmlns:p14="http://schemas.microsoft.com/office/powerpoint/2010/main" val="34077042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611B22-EA13-474B-83BA-8A12F66AADAF}" type="datetimeFigureOut">
              <a:rPr lang="en-AU" smtClean="0"/>
              <a:t>30/04/2026</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5A7A6B84-712C-4447-9CE1-C6658B4CC8CE}" type="slidenum">
              <a:rPr lang="en-AU" smtClean="0"/>
              <a:t>‹#›</a:t>
            </a:fld>
            <a:endParaRPr lang="en-AU"/>
          </a:p>
        </p:txBody>
      </p:sp>
    </p:spTree>
    <p:extLst>
      <p:ext uri="{BB962C8B-B14F-4D97-AF65-F5344CB8AC3E}">
        <p14:creationId xmlns:p14="http://schemas.microsoft.com/office/powerpoint/2010/main" val="2110573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611B22-EA13-474B-83BA-8A12F66AADAF}" type="datetimeFigureOut">
              <a:rPr lang="en-AU" smtClean="0"/>
              <a:t>30/04/2026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A7A6B84-712C-4447-9CE1-C6658B4CC8CE}" type="slidenum">
              <a:rPr lang="en-AU" smtClean="0"/>
              <a:t>‹#›</a:t>
            </a:fld>
            <a:endParaRPr lang="en-AU"/>
          </a:p>
        </p:txBody>
      </p:sp>
    </p:spTree>
    <p:extLst>
      <p:ext uri="{BB962C8B-B14F-4D97-AF65-F5344CB8AC3E}">
        <p14:creationId xmlns:p14="http://schemas.microsoft.com/office/powerpoint/2010/main" val="8431000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611B22-EA13-474B-83BA-8A12F66AADAF}" type="datetimeFigureOut">
              <a:rPr lang="en-AU" smtClean="0"/>
              <a:t>30/04/2026</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5A7A6B84-712C-4447-9CE1-C6658B4CC8CE}" type="slidenum">
              <a:rPr lang="en-AU" smtClean="0"/>
              <a:t>‹#›</a:t>
            </a:fld>
            <a:endParaRPr lang="en-AU"/>
          </a:p>
        </p:txBody>
      </p:sp>
    </p:spTree>
    <p:extLst>
      <p:ext uri="{BB962C8B-B14F-4D97-AF65-F5344CB8AC3E}">
        <p14:creationId xmlns:p14="http://schemas.microsoft.com/office/powerpoint/2010/main" val="30002851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611B22-EA13-474B-83BA-8A12F66AADAF}" type="datetimeFigureOut">
              <a:rPr lang="en-AU" smtClean="0"/>
              <a:t>30/04/2026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A7A6B84-712C-4447-9CE1-C6658B4CC8CE}" type="slidenum">
              <a:rPr lang="en-AU" smtClean="0"/>
              <a:t>‹#›</a:t>
            </a:fld>
            <a:endParaRPr lang="en-AU"/>
          </a:p>
        </p:txBody>
      </p:sp>
    </p:spTree>
    <p:extLst>
      <p:ext uri="{BB962C8B-B14F-4D97-AF65-F5344CB8AC3E}">
        <p14:creationId xmlns:p14="http://schemas.microsoft.com/office/powerpoint/2010/main" val="10657019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611B22-EA13-474B-83BA-8A12F66AADAF}" type="datetimeFigureOut">
              <a:rPr lang="en-AU" smtClean="0"/>
              <a:t>30/04/2026</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5A7A6B84-712C-4447-9CE1-C6658B4CC8CE}" type="slidenum">
              <a:rPr lang="en-AU" smtClean="0"/>
              <a:t>‹#›</a:t>
            </a:fld>
            <a:endParaRPr lang="en-AU"/>
          </a:p>
        </p:txBody>
      </p:sp>
    </p:spTree>
    <p:extLst>
      <p:ext uri="{BB962C8B-B14F-4D97-AF65-F5344CB8AC3E}">
        <p14:creationId xmlns:p14="http://schemas.microsoft.com/office/powerpoint/2010/main" val="3132701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E7611B22-EA13-474B-83BA-8A12F66AADAF}" type="datetimeFigureOut">
              <a:rPr lang="en-AU" smtClean="0"/>
              <a:t>30/04/2026</a:t>
            </a:fld>
            <a:endParaRPr lang="en-AU"/>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AU"/>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5A7A6B84-712C-4447-9CE1-C6658B4CC8CE}" type="slidenum">
              <a:rPr lang="en-AU" smtClean="0"/>
              <a:t>‹#›</a:t>
            </a:fld>
            <a:endParaRPr lang="en-AU"/>
          </a:p>
        </p:txBody>
      </p:sp>
    </p:spTree>
    <p:extLst>
      <p:ext uri="{BB962C8B-B14F-4D97-AF65-F5344CB8AC3E}">
        <p14:creationId xmlns:p14="http://schemas.microsoft.com/office/powerpoint/2010/main" val="37087264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0A804-B0AB-8799-A597-19D0395CD384}"/>
              </a:ext>
            </a:extLst>
          </p:cNvPr>
          <p:cNvSpPr>
            <a:spLocks noGrp="1"/>
          </p:cNvSpPr>
          <p:nvPr>
            <p:ph type="ctrTitle"/>
          </p:nvPr>
        </p:nvSpPr>
        <p:spPr/>
        <p:txBody>
          <a:bodyPr/>
          <a:lstStyle/>
          <a:p>
            <a:r>
              <a:rPr lang="en-US" dirty="0"/>
              <a:t>Research Update </a:t>
            </a:r>
            <a:endParaRPr lang="en-AU" dirty="0"/>
          </a:p>
        </p:txBody>
      </p:sp>
      <p:sp>
        <p:nvSpPr>
          <p:cNvPr id="3" name="Subtitle 2">
            <a:extLst>
              <a:ext uri="{FF2B5EF4-FFF2-40B4-BE49-F238E27FC236}">
                <a16:creationId xmlns:a16="http://schemas.microsoft.com/office/drawing/2014/main" id="{9C7B2356-2320-DDCE-5543-C9B60EC3A997}"/>
              </a:ext>
            </a:extLst>
          </p:cNvPr>
          <p:cNvSpPr>
            <a:spLocks noGrp="1"/>
          </p:cNvSpPr>
          <p:nvPr>
            <p:ph type="subTitle" idx="1"/>
          </p:nvPr>
        </p:nvSpPr>
        <p:spPr/>
        <p:txBody>
          <a:bodyPr/>
          <a:lstStyle/>
          <a:p>
            <a:r>
              <a:rPr lang="en-US" dirty="0"/>
              <a:t>Edward Liu 01/05/2026 </a:t>
            </a:r>
            <a:endParaRPr lang="en-AU" dirty="0"/>
          </a:p>
        </p:txBody>
      </p:sp>
    </p:spTree>
    <p:extLst>
      <p:ext uri="{BB962C8B-B14F-4D97-AF65-F5344CB8AC3E}">
        <p14:creationId xmlns:p14="http://schemas.microsoft.com/office/powerpoint/2010/main" val="1175104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EA34F-6776-B085-331E-74C0279DCB4D}"/>
              </a:ext>
            </a:extLst>
          </p:cNvPr>
          <p:cNvSpPr>
            <a:spLocks noGrp="1"/>
          </p:cNvSpPr>
          <p:nvPr>
            <p:ph type="title"/>
          </p:nvPr>
        </p:nvSpPr>
        <p:spPr/>
        <p:txBody>
          <a:bodyPr/>
          <a:lstStyle/>
          <a:p>
            <a:r>
              <a:rPr lang="en-US" dirty="0"/>
              <a:t>Chapter 1 </a:t>
            </a:r>
            <a:endParaRPr lang="en-AU" dirty="0"/>
          </a:p>
        </p:txBody>
      </p:sp>
      <p:sp>
        <p:nvSpPr>
          <p:cNvPr id="3" name="Content Placeholder 2">
            <a:extLst>
              <a:ext uri="{FF2B5EF4-FFF2-40B4-BE49-F238E27FC236}">
                <a16:creationId xmlns:a16="http://schemas.microsoft.com/office/drawing/2014/main" id="{CA4F29F4-AEB2-D0FB-3CE6-20070AD29B70}"/>
              </a:ext>
            </a:extLst>
          </p:cNvPr>
          <p:cNvSpPr>
            <a:spLocks noGrp="1"/>
          </p:cNvSpPr>
          <p:nvPr>
            <p:ph idx="1"/>
          </p:nvPr>
        </p:nvSpPr>
        <p:spPr/>
        <p:txBody>
          <a:bodyPr/>
          <a:lstStyle/>
          <a:p>
            <a:r>
              <a:rPr lang="en-US" dirty="0"/>
              <a:t>Looking at the fitness effect of E. coli with </a:t>
            </a:r>
            <a:r>
              <a:rPr lang="en-US" dirty="0" err="1"/>
              <a:t>rpoB</a:t>
            </a:r>
            <a:r>
              <a:rPr lang="en-US" dirty="0"/>
              <a:t> mutations from our lab </a:t>
            </a:r>
          </a:p>
          <a:p>
            <a:r>
              <a:rPr lang="en-US" dirty="0"/>
              <a:t>Growing them across a wide temperature spectrum ideally from 22</a:t>
            </a:r>
            <a:r>
              <a:rPr lang="en-AU" dirty="0"/>
              <a:t>°c</a:t>
            </a:r>
            <a:r>
              <a:rPr lang="en-US" dirty="0"/>
              <a:t>-42</a:t>
            </a:r>
            <a:r>
              <a:rPr lang="en-AU" dirty="0"/>
              <a:t>°c</a:t>
            </a:r>
          </a:p>
          <a:p>
            <a:r>
              <a:rPr lang="en-AU" dirty="0"/>
              <a:t>Also across two types of media LB and M9 </a:t>
            </a:r>
            <a:endParaRPr lang="en-US" dirty="0"/>
          </a:p>
          <a:p>
            <a:endParaRPr lang="en-US" dirty="0"/>
          </a:p>
          <a:p>
            <a:endParaRPr lang="en-AU" dirty="0"/>
          </a:p>
        </p:txBody>
      </p:sp>
    </p:spTree>
    <p:extLst>
      <p:ext uri="{BB962C8B-B14F-4D97-AF65-F5344CB8AC3E}">
        <p14:creationId xmlns:p14="http://schemas.microsoft.com/office/powerpoint/2010/main" val="20406663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4B637-53FF-EF31-1E67-5F6056B77117}"/>
              </a:ext>
            </a:extLst>
          </p:cNvPr>
          <p:cNvSpPr>
            <a:spLocks noGrp="1"/>
          </p:cNvSpPr>
          <p:nvPr>
            <p:ph type="title"/>
          </p:nvPr>
        </p:nvSpPr>
        <p:spPr/>
        <p:txBody>
          <a:bodyPr/>
          <a:lstStyle/>
          <a:p>
            <a:r>
              <a:rPr lang="en-US" dirty="0"/>
              <a:t>Design </a:t>
            </a:r>
            <a:endParaRPr lang="en-AU" dirty="0"/>
          </a:p>
        </p:txBody>
      </p:sp>
      <p:sp>
        <p:nvSpPr>
          <p:cNvPr id="3" name="Content Placeholder 2">
            <a:extLst>
              <a:ext uri="{FF2B5EF4-FFF2-40B4-BE49-F238E27FC236}">
                <a16:creationId xmlns:a16="http://schemas.microsoft.com/office/drawing/2014/main" id="{CFDBA41F-E832-2EAA-7EFE-45CC239BAE62}"/>
              </a:ext>
            </a:extLst>
          </p:cNvPr>
          <p:cNvSpPr>
            <a:spLocks noGrp="1"/>
          </p:cNvSpPr>
          <p:nvPr>
            <p:ph idx="1"/>
          </p:nvPr>
        </p:nvSpPr>
        <p:spPr/>
        <p:txBody>
          <a:bodyPr/>
          <a:lstStyle/>
          <a:p>
            <a:r>
              <a:rPr lang="en-US" dirty="0"/>
              <a:t>Picked and 28 mutants and the WT to test </a:t>
            </a:r>
          </a:p>
          <a:p>
            <a:pPr marL="0" indent="0">
              <a:buNone/>
            </a:pPr>
            <a:endParaRPr lang="en-US" dirty="0"/>
          </a:p>
          <a:p>
            <a:endParaRPr lang="en-US" dirty="0"/>
          </a:p>
          <a:p>
            <a:endParaRPr lang="en-US" dirty="0"/>
          </a:p>
          <a:p>
            <a:endParaRPr lang="en-US" dirty="0"/>
          </a:p>
          <a:p>
            <a:endParaRPr lang="en-US" dirty="0"/>
          </a:p>
          <a:p>
            <a:endParaRPr lang="en-AU" dirty="0"/>
          </a:p>
        </p:txBody>
      </p:sp>
      <p:pic>
        <p:nvPicPr>
          <p:cNvPr id="5" name="Picture 4">
            <a:extLst>
              <a:ext uri="{FF2B5EF4-FFF2-40B4-BE49-F238E27FC236}">
                <a16:creationId xmlns:a16="http://schemas.microsoft.com/office/drawing/2014/main" id="{CDB297E6-9427-8FC9-52E9-2B5FAAF992D7}"/>
              </a:ext>
            </a:extLst>
          </p:cNvPr>
          <p:cNvPicPr>
            <a:picLocks noChangeAspect="1"/>
          </p:cNvPicPr>
          <p:nvPr/>
        </p:nvPicPr>
        <p:blipFill>
          <a:blip r:embed="rId3"/>
          <a:stretch>
            <a:fillRect/>
          </a:stretch>
        </p:blipFill>
        <p:spPr>
          <a:xfrm>
            <a:off x="992701" y="2785379"/>
            <a:ext cx="5506070" cy="3826718"/>
          </a:xfrm>
          <a:prstGeom prst="rect">
            <a:avLst/>
          </a:prstGeom>
        </p:spPr>
      </p:pic>
      <p:pic>
        <p:nvPicPr>
          <p:cNvPr id="7" name="Picture 6">
            <a:extLst>
              <a:ext uri="{FF2B5EF4-FFF2-40B4-BE49-F238E27FC236}">
                <a16:creationId xmlns:a16="http://schemas.microsoft.com/office/drawing/2014/main" id="{B36CEB3D-BE1E-EAFA-D579-485596E55D33}"/>
              </a:ext>
            </a:extLst>
          </p:cNvPr>
          <p:cNvPicPr>
            <a:picLocks noChangeAspect="1"/>
          </p:cNvPicPr>
          <p:nvPr/>
        </p:nvPicPr>
        <p:blipFill>
          <a:blip r:embed="rId4"/>
          <a:stretch>
            <a:fillRect/>
          </a:stretch>
        </p:blipFill>
        <p:spPr>
          <a:xfrm>
            <a:off x="9431306" y="59095"/>
            <a:ext cx="1767993" cy="5342083"/>
          </a:xfrm>
          <a:prstGeom prst="rect">
            <a:avLst/>
          </a:prstGeom>
        </p:spPr>
      </p:pic>
    </p:spTree>
    <p:extLst>
      <p:ext uri="{BB962C8B-B14F-4D97-AF65-F5344CB8AC3E}">
        <p14:creationId xmlns:p14="http://schemas.microsoft.com/office/powerpoint/2010/main" val="35718270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E2F456-B6AE-57CA-6BDC-043DD89096AA}"/>
              </a:ext>
            </a:extLst>
          </p:cNvPr>
          <p:cNvSpPr>
            <a:spLocks noGrp="1"/>
          </p:cNvSpPr>
          <p:nvPr>
            <p:ph type="title"/>
          </p:nvPr>
        </p:nvSpPr>
        <p:spPr/>
        <p:txBody>
          <a:bodyPr/>
          <a:lstStyle/>
          <a:p>
            <a:r>
              <a:rPr lang="en-US" dirty="0"/>
              <a:t>Initial findings </a:t>
            </a:r>
            <a:endParaRPr lang="en-AU" dirty="0"/>
          </a:p>
        </p:txBody>
      </p:sp>
      <p:sp>
        <p:nvSpPr>
          <p:cNvPr id="3" name="Content Placeholder 2">
            <a:extLst>
              <a:ext uri="{FF2B5EF4-FFF2-40B4-BE49-F238E27FC236}">
                <a16:creationId xmlns:a16="http://schemas.microsoft.com/office/drawing/2014/main" id="{7409183D-F892-067B-76CC-5D0764E122D5}"/>
              </a:ext>
            </a:extLst>
          </p:cNvPr>
          <p:cNvSpPr>
            <a:spLocks noGrp="1"/>
          </p:cNvSpPr>
          <p:nvPr>
            <p:ph idx="1"/>
          </p:nvPr>
        </p:nvSpPr>
        <p:spPr/>
        <p:txBody>
          <a:bodyPr/>
          <a:lstStyle/>
          <a:p>
            <a:r>
              <a:rPr lang="en-US" dirty="0"/>
              <a:t>I first tested the temperature ranges that we though would be constitute as heat stress for E. coli (42</a:t>
            </a:r>
            <a:r>
              <a:rPr lang="en-AU" dirty="0"/>
              <a:t>°c) </a:t>
            </a:r>
          </a:p>
        </p:txBody>
      </p:sp>
      <p:pic>
        <p:nvPicPr>
          <p:cNvPr id="5" name="Picture 4">
            <a:extLst>
              <a:ext uri="{FF2B5EF4-FFF2-40B4-BE49-F238E27FC236}">
                <a16:creationId xmlns:a16="http://schemas.microsoft.com/office/drawing/2014/main" id="{E095E2FD-5464-5E47-C3B4-26BB068BDFF6}"/>
              </a:ext>
            </a:extLst>
          </p:cNvPr>
          <p:cNvPicPr>
            <a:picLocks noChangeAspect="1"/>
          </p:cNvPicPr>
          <p:nvPr/>
        </p:nvPicPr>
        <p:blipFill>
          <a:blip r:embed="rId2"/>
          <a:stretch>
            <a:fillRect/>
          </a:stretch>
        </p:blipFill>
        <p:spPr>
          <a:xfrm>
            <a:off x="197756" y="2723034"/>
            <a:ext cx="10815539" cy="3821457"/>
          </a:xfrm>
          <a:prstGeom prst="rect">
            <a:avLst/>
          </a:prstGeom>
        </p:spPr>
      </p:pic>
      <p:pic>
        <p:nvPicPr>
          <p:cNvPr id="6" name="Picture 5">
            <a:extLst>
              <a:ext uri="{FF2B5EF4-FFF2-40B4-BE49-F238E27FC236}">
                <a16:creationId xmlns:a16="http://schemas.microsoft.com/office/drawing/2014/main" id="{3A75B851-3C79-9715-F071-8462E31C103D}"/>
              </a:ext>
            </a:extLst>
          </p:cNvPr>
          <p:cNvPicPr>
            <a:picLocks noChangeAspect="1"/>
          </p:cNvPicPr>
          <p:nvPr/>
        </p:nvPicPr>
        <p:blipFill>
          <a:blip r:embed="rId3"/>
          <a:stretch>
            <a:fillRect/>
          </a:stretch>
        </p:blipFill>
        <p:spPr>
          <a:xfrm>
            <a:off x="8836946" y="60146"/>
            <a:ext cx="2343334" cy="1628617"/>
          </a:xfrm>
          <a:prstGeom prst="rect">
            <a:avLst/>
          </a:prstGeom>
        </p:spPr>
      </p:pic>
    </p:spTree>
    <p:extLst>
      <p:ext uri="{BB962C8B-B14F-4D97-AF65-F5344CB8AC3E}">
        <p14:creationId xmlns:p14="http://schemas.microsoft.com/office/powerpoint/2010/main" val="14529764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50BC4-5EF0-EC6E-5158-98FFF8AD50DB}"/>
              </a:ext>
            </a:extLst>
          </p:cNvPr>
          <p:cNvSpPr>
            <a:spLocks noGrp="1"/>
          </p:cNvSpPr>
          <p:nvPr>
            <p:ph type="title"/>
          </p:nvPr>
        </p:nvSpPr>
        <p:spPr/>
        <p:txBody>
          <a:bodyPr/>
          <a:lstStyle/>
          <a:p>
            <a:r>
              <a:rPr lang="en-US" dirty="0"/>
              <a:t>45</a:t>
            </a:r>
            <a:r>
              <a:rPr lang="en-AU" dirty="0"/>
              <a:t>°c</a:t>
            </a:r>
          </a:p>
        </p:txBody>
      </p:sp>
      <p:pic>
        <p:nvPicPr>
          <p:cNvPr id="5" name="Content Placeholder 4">
            <a:extLst>
              <a:ext uri="{FF2B5EF4-FFF2-40B4-BE49-F238E27FC236}">
                <a16:creationId xmlns:a16="http://schemas.microsoft.com/office/drawing/2014/main" id="{1EE6A7FD-F14F-19CE-3AF2-48B4865D2926}"/>
              </a:ext>
            </a:extLst>
          </p:cNvPr>
          <p:cNvPicPr>
            <a:picLocks noGrp="1" noChangeAspect="1"/>
          </p:cNvPicPr>
          <p:nvPr>
            <p:ph idx="1"/>
          </p:nvPr>
        </p:nvPicPr>
        <p:blipFill>
          <a:blip r:embed="rId2"/>
          <a:stretch>
            <a:fillRect/>
          </a:stretch>
        </p:blipFill>
        <p:spPr>
          <a:xfrm>
            <a:off x="180398" y="2364202"/>
            <a:ext cx="10956994" cy="3762278"/>
          </a:xfrm>
          <a:prstGeom prst="rect">
            <a:avLst/>
          </a:prstGeom>
        </p:spPr>
      </p:pic>
      <p:pic>
        <p:nvPicPr>
          <p:cNvPr id="6" name="Picture 5">
            <a:extLst>
              <a:ext uri="{FF2B5EF4-FFF2-40B4-BE49-F238E27FC236}">
                <a16:creationId xmlns:a16="http://schemas.microsoft.com/office/drawing/2014/main" id="{BC3D9C59-36A0-93E1-9740-530880BB59C1}"/>
              </a:ext>
            </a:extLst>
          </p:cNvPr>
          <p:cNvPicPr>
            <a:picLocks noChangeAspect="1"/>
          </p:cNvPicPr>
          <p:nvPr/>
        </p:nvPicPr>
        <p:blipFill>
          <a:blip r:embed="rId3"/>
          <a:stretch>
            <a:fillRect/>
          </a:stretch>
        </p:blipFill>
        <p:spPr>
          <a:xfrm>
            <a:off x="8941448" y="0"/>
            <a:ext cx="2343334" cy="1628617"/>
          </a:xfrm>
          <a:prstGeom prst="rect">
            <a:avLst/>
          </a:prstGeom>
        </p:spPr>
      </p:pic>
    </p:spTree>
    <p:extLst>
      <p:ext uri="{BB962C8B-B14F-4D97-AF65-F5344CB8AC3E}">
        <p14:creationId xmlns:p14="http://schemas.microsoft.com/office/powerpoint/2010/main" val="15320489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A296F-77F0-CD6D-CA4D-8936D03BFA8C}"/>
              </a:ext>
            </a:extLst>
          </p:cNvPr>
          <p:cNvSpPr>
            <a:spLocks noGrp="1"/>
          </p:cNvSpPr>
          <p:nvPr>
            <p:ph type="title"/>
          </p:nvPr>
        </p:nvSpPr>
        <p:spPr/>
        <p:txBody>
          <a:bodyPr/>
          <a:lstStyle/>
          <a:p>
            <a:r>
              <a:rPr lang="en-US" dirty="0"/>
              <a:t>48</a:t>
            </a:r>
            <a:r>
              <a:rPr lang="en-AU" dirty="0"/>
              <a:t>°</a:t>
            </a:r>
            <a:r>
              <a:rPr lang="en-US" dirty="0"/>
              <a:t>c</a:t>
            </a:r>
            <a:endParaRPr lang="en-AU" dirty="0"/>
          </a:p>
        </p:txBody>
      </p:sp>
      <p:pic>
        <p:nvPicPr>
          <p:cNvPr id="5" name="Content Placeholder 4">
            <a:extLst>
              <a:ext uri="{FF2B5EF4-FFF2-40B4-BE49-F238E27FC236}">
                <a16:creationId xmlns:a16="http://schemas.microsoft.com/office/drawing/2014/main" id="{7E490B89-BE9E-BADB-24B4-131F2CD1026D}"/>
              </a:ext>
            </a:extLst>
          </p:cNvPr>
          <p:cNvPicPr>
            <a:picLocks noGrp="1" noChangeAspect="1"/>
          </p:cNvPicPr>
          <p:nvPr>
            <p:ph idx="1"/>
          </p:nvPr>
        </p:nvPicPr>
        <p:blipFill>
          <a:blip r:embed="rId2"/>
          <a:stretch>
            <a:fillRect/>
          </a:stretch>
        </p:blipFill>
        <p:spPr>
          <a:xfrm>
            <a:off x="608286" y="2873829"/>
            <a:ext cx="10204200" cy="3540034"/>
          </a:xfrm>
          <a:prstGeom prst="rect">
            <a:avLst/>
          </a:prstGeom>
        </p:spPr>
      </p:pic>
      <p:pic>
        <p:nvPicPr>
          <p:cNvPr id="6" name="Picture 5">
            <a:extLst>
              <a:ext uri="{FF2B5EF4-FFF2-40B4-BE49-F238E27FC236}">
                <a16:creationId xmlns:a16="http://schemas.microsoft.com/office/drawing/2014/main" id="{8DB487F5-7184-2CC0-247C-6107D5BF06EA}"/>
              </a:ext>
            </a:extLst>
          </p:cNvPr>
          <p:cNvPicPr>
            <a:picLocks noChangeAspect="1"/>
          </p:cNvPicPr>
          <p:nvPr/>
        </p:nvPicPr>
        <p:blipFill>
          <a:blip r:embed="rId3"/>
          <a:stretch>
            <a:fillRect/>
          </a:stretch>
        </p:blipFill>
        <p:spPr>
          <a:xfrm>
            <a:off x="8941448" y="0"/>
            <a:ext cx="2343334" cy="1628617"/>
          </a:xfrm>
          <a:prstGeom prst="rect">
            <a:avLst/>
          </a:prstGeom>
        </p:spPr>
      </p:pic>
    </p:spTree>
    <p:extLst>
      <p:ext uri="{BB962C8B-B14F-4D97-AF65-F5344CB8AC3E}">
        <p14:creationId xmlns:p14="http://schemas.microsoft.com/office/powerpoint/2010/main" val="5595281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D76FE-0287-D488-9701-D795E888DCC9}"/>
              </a:ext>
            </a:extLst>
          </p:cNvPr>
          <p:cNvSpPr>
            <a:spLocks noGrp="1"/>
          </p:cNvSpPr>
          <p:nvPr>
            <p:ph type="title"/>
          </p:nvPr>
        </p:nvSpPr>
        <p:spPr/>
        <p:txBody>
          <a:bodyPr/>
          <a:lstStyle/>
          <a:p>
            <a:r>
              <a:rPr lang="en-US" dirty="0"/>
              <a:t>22</a:t>
            </a:r>
            <a:r>
              <a:rPr lang="en-AU" dirty="0"/>
              <a:t>°</a:t>
            </a:r>
            <a:r>
              <a:rPr lang="en-US" dirty="0"/>
              <a:t>c</a:t>
            </a:r>
            <a:endParaRPr lang="en-AU" dirty="0"/>
          </a:p>
        </p:txBody>
      </p:sp>
      <p:sp>
        <p:nvSpPr>
          <p:cNvPr id="3" name="Content Placeholder 2">
            <a:extLst>
              <a:ext uri="{FF2B5EF4-FFF2-40B4-BE49-F238E27FC236}">
                <a16:creationId xmlns:a16="http://schemas.microsoft.com/office/drawing/2014/main" id="{DE2C9C34-887F-533A-DB17-2DDA04692945}"/>
              </a:ext>
            </a:extLst>
          </p:cNvPr>
          <p:cNvSpPr>
            <a:spLocks noGrp="1"/>
          </p:cNvSpPr>
          <p:nvPr>
            <p:ph idx="1"/>
          </p:nvPr>
        </p:nvSpPr>
        <p:spPr/>
        <p:txBody>
          <a:bodyPr/>
          <a:lstStyle/>
          <a:p>
            <a:r>
              <a:rPr lang="en-US" dirty="0"/>
              <a:t>I then tested the lower end of my temperature spectrum</a:t>
            </a:r>
          </a:p>
          <a:p>
            <a:r>
              <a:rPr lang="en-US" dirty="0"/>
              <a:t>But we found out its between 26</a:t>
            </a:r>
            <a:r>
              <a:rPr lang="en-AU" dirty="0"/>
              <a:t>°</a:t>
            </a:r>
            <a:r>
              <a:rPr lang="en-US" dirty="0"/>
              <a:t>c -28</a:t>
            </a:r>
            <a:r>
              <a:rPr lang="en-AU" dirty="0"/>
              <a:t>°</a:t>
            </a:r>
            <a:r>
              <a:rPr lang="en-US" dirty="0"/>
              <a:t>c in the lab</a:t>
            </a:r>
            <a:endParaRPr lang="en-AU" dirty="0"/>
          </a:p>
        </p:txBody>
      </p:sp>
    </p:spTree>
    <p:extLst>
      <p:ext uri="{BB962C8B-B14F-4D97-AF65-F5344CB8AC3E}">
        <p14:creationId xmlns:p14="http://schemas.microsoft.com/office/powerpoint/2010/main" val="3839789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30CEA-49D2-B307-6F9F-B7984929B67C}"/>
              </a:ext>
            </a:extLst>
          </p:cNvPr>
          <p:cNvSpPr>
            <a:spLocks noGrp="1"/>
          </p:cNvSpPr>
          <p:nvPr>
            <p:ph type="title"/>
          </p:nvPr>
        </p:nvSpPr>
        <p:spPr/>
        <p:txBody>
          <a:bodyPr/>
          <a:lstStyle/>
          <a:p>
            <a:r>
              <a:rPr lang="en-US" dirty="0"/>
              <a:t>MAXOD Heatmap </a:t>
            </a:r>
            <a:endParaRPr lang="en-AU" dirty="0"/>
          </a:p>
        </p:txBody>
      </p:sp>
      <p:pic>
        <p:nvPicPr>
          <p:cNvPr id="5" name="Content Placeholder 4">
            <a:extLst>
              <a:ext uri="{FF2B5EF4-FFF2-40B4-BE49-F238E27FC236}">
                <a16:creationId xmlns:a16="http://schemas.microsoft.com/office/drawing/2014/main" id="{E2DE4D86-5EDF-2DF5-482D-0AC757D780E5}"/>
              </a:ext>
            </a:extLst>
          </p:cNvPr>
          <p:cNvPicPr>
            <a:picLocks noGrp="1" noChangeAspect="1"/>
          </p:cNvPicPr>
          <p:nvPr>
            <p:ph idx="1"/>
          </p:nvPr>
        </p:nvPicPr>
        <p:blipFill>
          <a:blip r:embed="rId3"/>
          <a:stretch>
            <a:fillRect/>
          </a:stretch>
        </p:blipFill>
        <p:spPr>
          <a:xfrm>
            <a:off x="2132372" y="1965960"/>
            <a:ext cx="6854107" cy="4351338"/>
          </a:xfrm>
          <a:prstGeom prst="rect">
            <a:avLst/>
          </a:prstGeom>
        </p:spPr>
      </p:pic>
    </p:spTree>
    <p:extLst>
      <p:ext uri="{BB962C8B-B14F-4D97-AF65-F5344CB8AC3E}">
        <p14:creationId xmlns:p14="http://schemas.microsoft.com/office/powerpoint/2010/main" val="3719714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D81E43-7B6D-94CF-1AAE-BEC13F20F79B}"/>
              </a:ext>
            </a:extLst>
          </p:cNvPr>
          <p:cNvSpPr>
            <a:spLocks noGrp="1"/>
          </p:cNvSpPr>
          <p:nvPr>
            <p:ph type="title"/>
          </p:nvPr>
        </p:nvSpPr>
        <p:spPr/>
        <p:txBody>
          <a:bodyPr/>
          <a:lstStyle/>
          <a:p>
            <a:r>
              <a:rPr lang="en-US" dirty="0"/>
              <a:t>MUMAX Heatmap </a:t>
            </a:r>
            <a:endParaRPr lang="en-AU" dirty="0"/>
          </a:p>
        </p:txBody>
      </p:sp>
      <p:pic>
        <p:nvPicPr>
          <p:cNvPr id="5" name="Content Placeholder 4">
            <a:extLst>
              <a:ext uri="{FF2B5EF4-FFF2-40B4-BE49-F238E27FC236}">
                <a16:creationId xmlns:a16="http://schemas.microsoft.com/office/drawing/2014/main" id="{CFD8C527-E6D2-70F3-FDC7-55754CC6EBB4}"/>
              </a:ext>
            </a:extLst>
          </p:cNvPr>
          <p:cNvPicPr>
            <a:picLocks noGrp="1" noChangeAspect="1"/>
          </p:cNvPicPr>
          <p:nvPr>
            <p:ph idx="1"/>
          </p:nvPr>
        </p:nvPicPr>
        <p:blipFill>
          <a:blip r:embed="rId3"/>
          <a:stretch>
            <a:fillRect/>
          </a:stretch>
        </p:blipFill>
        <p:spPr>
          <a:xfrm>
            <a:off x="2124159" y="1828800"/>
            <a:ext cx="6870533" cy="4351338"/>
          </a:xfrm>
          <a:prstGeom prst="rect">
            <a:avLst/>
          </a:prstGeom>
        </p:spPr>
      </p:pic>
    </p:spTree>
    <p:extLst>
      <p:ext uri="{BB962C8B-B14F-4D97-AF65-F5344CB8AC3E}">
        <p14:creationId xmlns:p14="http://schemas.microsoft.com/office/powerpoint/2010/main" val="4160441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E62FD-6E04-6C9B-1EBE-0A5C3DFC5637}"/>
              </a:ext>
            </a:extLst>
          </p:cNvPr>
          <p:cNvSpPr>
            <a:spLocks noGrp="1"/>
          </p:cNvSpPr>
          <p:nvPr>
            <p:ph type="title"/>
          </p:nvPr>
        </p:nvSpPr>
        <p:spPr/>
        <p:txBody>
          <a:bodyPr/>
          <a:lstStyle/>
          <a:p>
            <a:r>
              <a:rPr lang="en-US" dirty="0"/>
              <a:t>Initial Observations </a:t>
            </a:r>
            <a:endParaRPr lang="en-AU" dirty="0"/>
          </a:p>
        </p:txBody>
      </p:sp>
      <p:sp>
        <p:nvSpPr>
          <p:cNvPr id="3" name="Content Placeholder 2">
            <a:extLst>
              <a:ext uri="{FF2B5EF4-FFF2-40B4-BE49-F238E27FC236}">
                <a16:creationId xmlns:a16="http://schemas.microsoft.com/office/drawing/2014/main" id="{75CEAE73-A454-A5D9-BF0B-1BC190E98C83}"/>
              </a:ext>
            </a:extLst>
          </p:cNvPr>
          <p:cNvSpPr>
            <a:spLocks noGrp="1"/>
          </p:cNvSpPr>
          <p:nvPr>
            <p:ph idx="1"/>
          </p:nvPr>
        </p:nvSpPr>
        <p:spPr/>
        <p:txBody>
          <a:bodyPr/>
          <a:lstStyle/>
          <a:p>
            <a:r>
              <a:rPr lang="en-US" dirty="0"/>
              <a:t>As expected at 48 nothing survives </a:t>
            </a:r>
          </a:p>
          <a:p>
            <a:r>
              <a:rPr lang="en-US" dirty="0"/>
              <a:t>It seems like rich media helps with growth at high temperature</a:t>
            </a:r>
          </a:p>
          <a:p>
            <a:r>
              <a:rPr lang="en-US" dirty="0"/>
              <a:t>Our mutations and WT seems to be heat resistant </a:t>
            </a:r>
          </a:p>
          <a:p>
            <a:endParaRPr lang="en-US" dirty="0"/>
          </a:p>
          <a:p>
            <a:endParaRPr lang="en-AU" dirty="0"/>
          </a:p>
        </p:txBody>
      </p:sp>
      <p:pic>
        <p:nvPicPr>
          <p:cNvPr id="4" name="Content Placeholder 4">
            <a:extLst>
              <a:ext uri="{FF2B5EF4-FFF2-40B4-BE49-F238E27FC236}">
                <a16:creationId xmlns:a16="http://schemas.microsoft.com/office/drawing/2014/main" id="{AA537DC7-E5B9-A834-95D0-495EE783B72D}"/>
              </a:ext>
            </a:extLst>
          </p:cNvPr>
          <p:cNvPicPr>
            <a:picLocks noChangeAspect="1"/>
          </p:cNvPicPr>
          <p:nvPr/>
        </p:nvPicPr>
        <p:blipFill>
          <a:blip r:embed="rId3"/>
          <a:stretch>
            <a:fillRect/>
          </a:stretch>
        </p:blipFill>
        <p:spPr>
          <a:xfrm>
            <a:off x="146818" y="3429000"/>
            <a:ext cx="5167961" cy="3280886"/>
          </a:xfrm>
          <a:prstGeom prst="rect">
            <a:avLst/>
          </a:prstGeom>
        </p:spPr>
      </p:pic>
      <p:pic>
        <p:nvPicPr>
          <p:cNvPr id="5" name="Content Placeholder 4">
            <a:extLst>
              <a:ext uri="{FF2B5EF4-FFF2-40B4-BE49-F238E27FC236}">
                <a16:creationId xmlns:a16="http://schemas.microsoft.com/office/drawing/2014/main" id="{FDB2D665-709B-BCFF-2936-15477C7D5B8D}"/>
              </a:ext>
            </a:extLst>
          </p:cNvPr>
          <p:cNvPicPr>
            <a:picLocks noChangeAspect="1"/>
          </p:cNvPicPr>
          <p:nvPr/>
        </p:nvPicPr>
        <p:blipFill>
          <a:blip r:embed="rId4"/>
          <a:stretch>
            <a:fillRect/>
          </a:stretch>
        </p:blipFill>
        <p:spPr>
          <a:xfrm>
            <a:off x="5754189" y="3390083"/>
            <a:ext cx="5400531" cy="3420337"/>
          </a:xfrm>
          <a:prstGeom prst="rect">
            <a:avLst/>
          </a:prstGeom>
        </p:spPr>
      </p:pic>
    </p:spTree>
    <p:extLst>
      <p:ext uri="{BB962C8B-B14F-4D97-AF65-F5344CB8AC3E}">
        <p14:creationId xmlns:p14="http://schemas.microsoft.com/office/powerpoint/2010/main" val="3308895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5D17A225-B875-DA94-C728-918628A198AC}"/>
              </a:ext>
            </a:extLst>
          </p:cNvPr>
          <p:cNvSpPr>
            <a:spLocks noGrp="1"/>
          </p:cNvSpPr>
          <p:nvPr>
            <p:ph type="title"/>
          </p:nvPr>
        </p:nvSpPr>
        <p:spPr>
          <a:xfrm>
            <a:off x="1261872" y="365760"/>
            <a:ext cx="9692640" cy="1325562"/>
          </a:xfrm>
        </p:spPr>
        <p:txBody>
          <a:bodyPr/>
          <a:lstStyle/>
          <a:p>
            <a:r>
              <a:rPr lang="en-US" dirty="0"/>
              <a:t>OD LB</a:t>
            </a:r>
            <a:endParaRPr lang="en-AU" dirty="0"/>
          </a:p>
        </p:txBody>
      </p:sp>
      <p:sp>
        <p:nvSpPr>
          <p:cNvPr id="8" name="Content Placeholder 7">
            <a:extLst>
              <a:ext uri="{FF2B5EF4-FFF2-40B4-BE49-F238E27FC236}">
                <a16:creationId xmlns:a16="http://schemas.microsoft.com/office/drawing/2014/main" id="{3143D5DB-B928-55FD-E5D5-BA6551306E1D}"/>
              </a:ext>
            </a:extLst>
          </p:cNvPr>
          <p:cNvSpPr>
            <a:spLocks noGrp="1"/>
          </p:cNvSpPr>
          <p:nvPr>
            <p:ph idx="1"/>
          </p:nvPr>
        </p:nvSpPr>
        <p:spPr/>
        <p:txBody>
          <a:bodyPr/>
          <a:lstStyle/>
          <a:p>
            <a:endParaRPr lang="en-AU"/>
          </a:p>
        </p:txBody>
      </p:sp>
      <p:pic>
        <p:nvPicPr>
          <p:cNvPr id="10" name="Picture 9">
            <a:extLst>
              <a:ext uri="{FF2B5EF4-FFF2-40B4-BE49-F238E27FC236}">
                <a16:creationId xmlns:a16="http://schemas.microsoft.com/office/drawing/2014/main" id="{76900700-8C8C-B673-8F12-57B4E655DBC6}"/>
              </a:ext>
            </a:extLst>
          </p:cNvPr>
          <p:cNvPicPr>
            <a:picLocks noChangeAspect="1"/>
          </p:cNvPicPr>
          <p:nvPr/>
        </p:nvPicPr>
        <p:blipFill>
          <a:blip r:embed="rId2"/>
          <a:stretch>
            <a:fillRect/>
          </a:stretch>
        </p:blipFill>
        <p:spPr>
          <a:xfrm>
            <a:off x="1103811" y="1691322"/>
            <a:ext cx="9379131" cy="4926636"/>
          </a:xfrm>
          <a:prstGeom prst="rect">
            <a:avLst/>
          </a:prstGeom>
        </p:spPr>
      </p:pic>
    </p:spTree>
    <p:extLst>
      <p:ext uri="{BB962C8B-B14F-4D97-AF65-F5344CB8AC3E}">
        <p14:creationId xmlns:p14="http://schemas.microsoft.com/office/powerpoint/2010/main" val="18204708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8C730-BD99-2B19-3280-D8BFCB3AE2A7}"/>
              </a:ext>
            </a:extLst>
          </p:cNvPr>
          <p:cNvSpPr>
            <a:spLocks noGrp="1"/>
          </p:cNvSpPr>
          <p:nvPr>
            <p:ph type="title"/>
          </p:nvPr>
        </p:nvSpPr>
        <p:spPr/>
        <p:txBody>
          <a:bodyPr/>
          <a:lstStyle/>
          <a:p>
            <a:r>
              <a:rPr lang="en-US" dirty="0"/>
              <a:t>OD M9</a:t>
            </a:r>
            <a:endParaRPr lang="en-AU" dirty="0"/>
          </a:p>
        </p:txBody>
      </p:sp>
      <p:pic>
        <p:nvPicPr>
          <p:cNvPr id="5" name="Content Placeholder 4">
            <a:extLst>
              <a:ext uri="{FF2B5EF4-FFF2-40B4-BE49-F238E27FC236}">
                <a16:creationId xmlns:a16="http://schemas.microsoft.com/office/drawing/2014/main" id="{BC295B73-9CC6-ABDF-C2FB-4585EE0C9DBB}"/>
              </a:ext>
            </a:extLst>
          </p:cNvPr>
          <p:cNvPicPr>
            <a:picLocks noGrp="1" noChangeAspect="1"/>
          </p:cNvPicPr>
          <p:nvPr>
            <p:ph idx="1"/>
          </p:nvPr>
        </p:nvPicPr>
        <p:blipFill>
          <a:blip r:embed="rId2"/>
          <a:stretch>
            <a:fillRect/>
          </a:stretch>
        </p:blipFill>
        <p:spPr>
          <a:xfrm>
            <a:off x="1156062" y="1755760"/>
            <a:ext cx="9438213" cy="5005676"/>
          </a:xfrm>
          <a:prstGeom prst="rect">
            <a:avLst/>
          </a:prstGeom>
        </p:spPr>
      </p:pic>
    </p:spTree>
    <p:extLst>
      <p:ext uri="{BB962C8B-B14F-4D97-AF65-F5344CB8AC3E}">
        <p14:creationId xmlns:p14="http://schemas.microsoft.com/office/powerpoint/2010/main" val="40884499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47A658-75C0-F871-2CA1-675D5953E9C4}"/>
              </a:ext>
            </a:extLst>
          </p:cNvPr>
          <p:cNvSpPr>
            <a:spLocks noGrp="1"/>
          </p:cNvSpPr>
          <p:nvPr>
            <p:ph type="title"/>
          </p:nvPr>
        </p:nvSpPr>
        <p:spPr/>
        <p:txBody>
          <a:bodyPr/>
          <a:lstStyle/>
          <a:p>
            <a:r>
              <a:rPr lang="en-US" dirty="0"/>
              <a:t>MUMAX LB</a:t>
            </a:r>
            <a:endParaRPr lang="en-AU" dirty="0"/>
          </a:p>
        </p:txBody>
      </p:sp>
      <p:sp>
        <p:nvSpPr>
          <p:cNvPr id="3" name="Content Placeholder 2">
            <a:extLst>
              <a:ext uri="{FF2B5EF4-FFF2-40B4-BE49-F238E27FC236}">
                <a16:creationId xmlns:a16="http://schemas.microsoft.com/office/drawing/2014/main" id="{4D2762E0-DA82-D3C6-FAE2-B03197765EDE}"/>
              </a:ext>
            </a:extLst>
          </p:cNvPr>
          <p:cNvSpPr>
            <a:spLocks noGrp="1"/>
          </p:cNvSpPr>
          <p:nvPr>
            <p:ph idx="1"/>
          </p:nvPr>
        </p:nvSpPr>
        <p:spPr/>
        <p:txBody>
          <a:bodyPr/>
          <a:lstStyle/>
          <a:p>
            <a:endParaRPr lang="en-AU"/>
          </a:p>
        </p:txBody>
      </p:sp>
      <p:pic>
        <p:nvPicPr>
          <p:cNvPr id="4" name="Content Placeholder 4">
            <a:extLst>
              <a:ext uri="{FF2B5EF4-FFF2-40B4-BE49-F238E27FC236}">
                <a16:creationId xmlns:a16="http://schemas.microsoft.com/office/drawing/2014/main" id="{59D71150-06E7-3EE0-8DF9-D560C3F6E86E}"/>
              </a:ext>
            </a:extLst>
          </p:cNvPr>
          <p:cNvPicPr>
            <a:picLocks noChangeAspect="1"/>
          </p:cNvPicPr>
          <p:nvPr/>
        </p:nvPicPr>
        <p:blipFill>
          <a:blip r:embed="rId2"/>
          <a:stretch>
            <a:fillRect/>
          </a:stretch>
        </p:blipFill>
        <p:spPr>
          <a:xfrm>
            <a:off x="886756" y="1663993"/>
            <a:ext cx="9472090" cy="4997087"/>
          </a:xfrm>
          <a:prstGeom prst="rect">
            <a:avLst/>
          </a:prstGeom>
        </p:spPr>
      </p:pic>
    </p:spTree>
    <p:extLst>
      <p:ext uri="{BB962C8B-B14F-4D97-AF65-F5344CB8AC3E}">
        <p14:creationId xmlns:p14="http://schemas.microsoft.com/office/powerpoint/2010/main" val="17755540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E50FB-E4C8-D52E-B0FE-BB45A3C57A83}"/>
              </a:ext>
            </a:extLst>
          </p:cNvPr>
          <p:cNvSpPr>
            <a:spLocks noGrp="1"/>
          </p:cNvSpPr>
          <p:nvPr>
            <p:ph type="title"/>
          </p:nvPr>
        </p:nvSpPr>
        <p:spPr/>
        <p:txBody>
          <a:bodyPr/>
          <a:lstStyle/>
          <a:p>
            <a:r>
              <a:rPr lang="en-US" dirty="0"/>
              <a:t>MUMAX M9</a:t>
            </a:r>
            <a:endParaRPr lang="en-AU" dirty="0"/>
          </a:p>
        </p:txBody>
      </p:sp>
      <p:pic>
        <p:nvPicPr>
          <p:cNvPr id="9" name="Content Placeholder 8">
            <a:extLst>
              <a:ext uri="{FF2B5EF4-FFF2-40B4-BE49-F238E27FC236}">
                <a16:creationId xmlns:a16="http://schemas.microsoft.com/office/drawing/2014/main" id="{6ECC9292-2714-2014-CC8D-34BFEF263240}"/>
              </a:ext>
            </a:extLst>
          </p:cNvPr>
          <p:cNvPicPr>
            <a:picLocks noGrp="1" noChangeAspect="1"/>
          </p:cNvPicPr>
          <p:nvPr>
            <p:ph idx="1"/>
          </p:nvPr>
        </p:nvPicPr>
        <p:blipFill>
          <a:blip r:embed="rId2"/>
          <a:stretch>
            <a:fillRect/>
          </a:stretch>
        </p:blipFill>
        <p:spPr>
          <a:xfrm>
            <a:off x="1049872" y="1789611"/>
            <a:ext cx="9165282" cy="4835029"/>
          </a:xfrm>
          <a:prstGeom prst="rect">
            <a:avLst/>
          </a:prstGeom>
        </p:spPr>
      </p:pic>
    </p:spTree>
    <p:extLst>
      <p:ext uri="{BB962C8B-B14F-4D97-AF65-F5344CB8AC3E}">
        <p14:creationId xmlns:p14="http://schemas.microsoft.com/office/powerpoint/2010/main" val="4462536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72C49B-7743-4ECA-4DFC-2A36B9C11C83}"/>
              </a:ext>
            </a:extLst>
          </p:cNvPr>
          <p:cNvSpPr>
            <a:spLocks noGrp="1"/>
          </p:cNvSpPr>
          <p:nvPr>
            <p:ph type="title"/>
          </p:nvPr>
        </p:nvSpPr>
        <p:spPr/>
        <p:txBody>
          <a:bodyPr/>
          <a:lstStyle/>
          <a:p>
            <a:r>
              <a:rPr lang="en-US" dirty="0"/>
              <a:t>Chapter 2 </a:t>
            </a:r>
            <a:endParaRPr lang="en-AU" dirty="0"/>
          </a:p>
        </p:txBody>
      </p:sp>
      <p:sp>
        <p:nvSpPr>
          <p:cNvPr id="3" name="Content Placeholder 2">
            <a:extLst>
              <a:ext uri="{FF2B5EF4-FFF2-40B4-BE49-F238E27FC236}">
                <a16:creationId xmlns:a16="http://schemas.microsoft.com/office/drawing/2014/main" id="{FFD0EB59-5046-2900-FE7E-DA5B4AD35E16}"/>
              </a:ext>
            </a:extLst>
          </p:cNvPr>
          <p:cNvSpPr>
            <a:spLocks noGrp="1"/>
          </p:cNvSpPr>
          <p:nvPr>
            <p:ph idx="1"/>
          </p:nvPr>
        </p:nvSpPr>
        <p:spPr/>
        <p:txBody>
          <a:bodyPr/>
          <a:lstStyle/>
          <a:p>
            <a:r>
              <a:rPr lang="en-US" dirty="0"/>
              <a:t>Looking at whether </a:t>
            </a:r>
            <a:r>
              <a:rPr lang="en-US" dirty="0" err="1"/>
              <a:t>rpoB</a:t>
            </a:r>
            <a:r>
              <a:rPr lang="en-US" dirty="0"/>
              <a:t> mutations are stochastic </a:t>
            </a:r>
            <a:endParaRPr lang="en-AU" dirty="0"/>
          </a:p>
        </p:txBody>
      </p:sp>
    </p:spTree>
    <p:extLst>
      <p:ext uri="{BB962C8B-B14F-4D97-AF65-F5344CB8AC3E}">
        <p14:creationId xmlns:p14="http://schemas.microsoft.com/office/powerpoint/2010/main" val="25516352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B37DB-4FA1-F2FE-5F48-EC8CCD83353A}"/>
              </a:ext>
            </a:extLst>
          </p:cNvPr>
          <p:cNvSpPr>
            <a:spLocks noGrp="1"/>
          </p:cNvSpPr>
          <p:nvPr>
            <p:ph type="title"/>
          </p:nvPr>
        </p:nvSpPr>
        <p:spPr/>
        <p:txBody>
          <a:bodyPr/>
          <a:lstStyle/>
          <a:p>
            <a:r>
              <a:rPr lang="en-US" dirty="0"/>
              <a:t>Theory </a:t>
            </a:r>
            <a:endParaRPr lang="en-AU" dirty="0"/>
          </a:p>
        </p:txBody>
      </p:sp>
      <p:sp>
        <p:nvSpPr>
          <p:cNvPr id="3" name="Content Placeholder 2">
            <a:extLst>
              <a:ext uri="{FF2B5EF4-FFF2-40B4-BE49-F238E27FC236}">
                <a16:creationId xmlns:a16="http://schemas.microsoft.com/office/drawing/2014/main" id="{534FCC26-E232-AF3A-5BB8-150BCF7ED7CF}"/>
              </a:ext>
            </a:extLst>
          </p:cNvPr>
          <p:cNvSpPr>
            <a:spLocks noGrp="1"/>
          </p:cNvSpPr>
          <p:nvPr>
            <p:ph idx="1"/>
          </p:nvPr>
        </p:nvSpPr>
        <p:spPr>
          <a:xfrm>
            <a:off x="0" y="2214154"/>
            <a:ext cx="8595360" cy="4351337"/>
          </a:xfrm>
        </p:spPr>
        <p:txBody>
          <a:bodyPr/>
          <a:lstStyle/>
          <a:p>
            <a:r>
              <a:rPr lang="en-US" dirty="0"/>
              <a:t>We originally though that when we do mutant screens the mutations that appear are </a:t>
            </a:r>
            <a:r>
              <a:rPr lang="en-AU" dirty="0"/>
              <a:t>stochastic</a:t>
            </a:r>
          </a:p>
          <a:p>
            <a:r>
              <a:rPr lang="en-AU" dirty="0"/>
              <a:t>But results from the E. coil, A. </a:t>
            </a:r>
            <a:r>
              <a:rPr lang="en-AU" dirty="0" err="1"/>
              <a:t>baylyi</a:t>
            </a:r>
            <a:r>
              <a:rPr lang="en-AU" dirty="0"/>
              <a:t> and L. plantarum screens show that is not the case  </a:t>
            </a:r>
          </a:p>
        </p:txBody>
      </p:sp>
      <p:pic>
        <p:nvPicPr>
          <p:cNvPr id="5" name="Picture 4">
            <a:extLst>
              <a:ext uri="{FF2B5EF4-FFF2-40B4-BE49-F238E27FC236}">
                <a16:creationId xmlns:a16="http://schemas.microsoft.com/office/drawing/2014/main" id="{FA0D7431-6010-E1F1-25A6-7FC9349E6B9E}"/>
              </a:ext>
            </a:extLst>
          </p:cNvPr>
          <p:cNvPicPr>
            <a:picLocks noChangeAspect="1"/>
          </p:cNvPicPr>
          <p:nvPr/>
        </p:nvPicPr>
        <p:blipFill>
          <a:blip r:embed="rId3"/>
          <a:stretch>
            <a:fillRect/>
          </a:stretch>
        </p:blipFill>
        <p:spPr>
          <a:xfrm>
            <a:off x="7696206" y="78377"/>
            <a:ext cx="3433829" cy="6609806"/>
          </a:xfrm>
          <a:prstGeom prst="rect">
            <a:avLst/>
          </a:prstGeom>
        </p:spPr>
      </p:pic>
    </p:spTree>
    <p:extLst>
      <p:ext uri="{BB962C8B-B14F-4D97-AF65-F5344CB8AC3E}">
        <p14:creationId xmlns:p14="http://schemas.microsoft.com/office/powerpoint/2010/main" val="1684150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AD99A-664F-5DE6-6183-D779E8630786}"/>
              </a:ext>
            </a:extLst>
          </p:cNvPr>
          <p:cNvSpPr>
            <a:spLocks noGrp="1"/>
          </p:cNvSpPr>
          <p:nvPr>
            <p:ph type="title"/>
          </p:nvPr>
        </p:nvSpPr>
        <p:spPr/>
        <p:txBody>
          <a:bodyPr/>
          <a:lstStyle/>
          <a:p>
            <a:r>
              <a:rPr lang="en-US" dirty="0"/>
              <a:t>Design </a:t>
            </a:r>
            <a:endParaRPr lang="en-AU" dirty="0"/>
          </a:p>
        </p:txBody>
      </p:sp>
      <p:sp>
        <p:nvSpPr>
          <p:cNvPr id="3" name="Content Placeholder 2">
            <a:extLst>
              <a:ext uri="{FF2B5EF4-FFF2-40B4-BE49-F238E27FC236}">
                <a16:creationId xmlns:a16="http://schemas.microsoft.com/office/drawing/2014/main" id="{DA16E06F-F081-53A3-84A4-2A6ED0ED5996}"/>
              </a:ext>
            </a:extLst>
          </p:cNvPr>
          <p:cNvSpPr>
            <a:spLocks noGrp="1"/>
          </p:cNvSpPr>
          <p:nvPr>
            <p:ph idx="1"/>
          </p:nvPr>
        </p:nvSpPr>
        <p:spPr/>
        <p:txBody>
          <a:bodyPr/>
          <a:lstStyle/>
          <a:p>
            <a:r>
              <a:rPr lang="en-US" dirty="0"/>
              <a:t>Pick a rare mutant  </a:t>
            </a:r>
          </a:p>
          <a:p>
            <a:r>
              <a:rPr lang="en-US" dirty="0"/>
              <a:t>Pick an average mutant </a:t>
            </a:r>
          </a:p>
          <a:p>
            <a:r>
              <a:rPr lang="en-US" dirty="0"/>
              <a:t>Pick a common mutant </a:t>
            </a:r>
          </a:p>
          <a:p>
            <a:r>
              <a:rPr lang="en-US" dirty="0"/>
              <a:t>Pick the WT </a:t>
            </a:r>
          </a:p>
          <a:p>
            <a:r>
              <a:rPr lang="en-US" dirty="0"/>
              <a:t>Grown them over many repetitions and see if there is a               difference in difference in the number of colonies </a:t>
            </a:r>
            <a:endParaRPr lang="en-AU" dirty="0"/>
          </a:p>
        </p:txBody>
      </p:sp>
      <p:pic>
        <p:nvPicPr>
          <p:cNvPr id="4" name="Picture 3">
            <a:extLst>
              <a:ext uri="{FF2B5EF4-FFF2-40B4-BE49-F238E27FC236}">
                <a16:creationId xmlns:a16="http://schemas.microsoft.com/office/drawing/2014/main" id="{F52AA396-A85B-B182-1509-77A7F6B12182}"/>
              </a:ext>
            </a:extLst>
          </p:cNvPr>
          <p:cNvPicPr>
            <a:picLocks noChangeAspect="1"/>
          </p:cNvPicPr>
          <p:nvPr/>
        </p:nvPicPr>
        <p:blipFill>
          <a:blip r:embed="rId2"/>
          <a:stretch>
            <a:fillRect/>
          </a:stretch>
        </p:blipFill>
        <p:spPr>
          <a:xfrm>
            <a:off x="7696206" y="78377"/>
            <a:ext cx="3433829" cy="6609806"/>
          </a:xfrm>
          <a:prstGeom prst="rect">
            <a:avLst/>
          </a:prstGeom>
        </p:spPr>
      </p:pic>
    </p:spTree>
    <p:extLst>
      <p:ext uri="{BB962C8B-B14F-4D97-AF65-F5344CB8AC3E}">
        <p14:creationId xmlns:p14="http://schemas.microsoft.com/office/powerpoint/2010/main" val="41351815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8E2FA7-3528-B5F6-DCC3-6380A3F928B8}"/>
              </a:ext>
            </a:extLst>
          </p:cNvPr>
          <p:cNvSpPr>
            <a:spLocks noGrp="1"/>
          </p:cNvSpPr>
          <p:nvPr>
            <p:ph type="title"/>
          </p:nvPr>
        </p:nvSpPr>
        <p:spPr/>
        <p:txBody>
          <a:bodyPr/>
          <a:lstStyle/>
          <a:p>
            <a:r>
              <a:rPr lang="en-US" dirty="0"/>
              <a:t>16 streak test </a:t>
            </a:r>
            <a:endParaRPr lang="en-AU" dirty="0"/>
          </a:p>
        </p:txBody>
      </p:sp>
      <p:pic>
        <p:nvPicPr>
          <p:cNvPr id="5" name="Content Placeholder 4">
            <a:extLst>
              <a:ext uri="{FF2B5EF4-FFF2-40B4-BE49-F238E27FC236}">
                <a16:creationId xmlns:a16="http://schemas.microsoft.com/office/drawing/2014/main" id="{BE7C069A-95D2-3FAE-BBC5-44E21A62F67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1365" y="2276856"/>
            <a:ext cx="5352288" cy="4014216"/>
          </a:xfrm>
          <a:prstGeom prst="rect">
            <a:avLst/>
          </a:prstGeom>
        </p:spPr>
      </p:pic>
      <p:pic>
        <p:nvPicPr>
          <p:cNvPr id="7" name="Picture 6">
            <a:extLst>
              <a:ext uri="{FF2B5EF4-FFF2-40B4-BE49-F238E27FC236}">
                <a16:creationId xmlns:a16="http://schemas.microsoft.com/office/drawing/2014/main" id="{AE4623AB-D728-CE76-5F3B-F9CF9CF885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6200000">
            <a:off x="6329172" y="1607820"/>
            <a:ext cx="4014216" cy="5352288"/>
          </a:xfrm>
          <a:prstGeom prst="rect">
            <a:avLst/>
          </a:prstGeom>
        </p:spPr>
      </p:pic>
    </p:spTree>
    <p:extLst>
      <p:ext uri="{BB962C8B-B14F-4D97-AF65-F5344CB8AC3E}">
        <p14:creationId xmlns:p14="http://schemas.microsoft.com/office/powerpoint/2010/main" val="1613813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BCD7D5-2B28-6982-7EE9-338E4AA3B59B}"/>
              </a:ext>
            </a:extLst>
          </p:cNvPr>
          <p:cNvSpPr>
            <a:spLocks noGrp="1"/>
          </p:cNvSpPr>
          <p:nvPr>
            <p:ph type="title"/>
          </p:nvPr>
        </p:nvSpPr>
        <p:spPr/>
        <p:txBody>
          <a:bodyPr/>
          <a:lstStyle/>
          <a:p>
            <a:r>
              <a:rPr lang="en-US" dirty="0"/>
              <a:t>Reasons:</a:t>
            </a:r>
            <a:endParaRPr lang="en-AU" dirty="0"/>
          </a:p>
        </p:txBody>
      </p:sp>
      <p:sp>
        <p:nvSpPr>
          <p:cNvPr id="3" name="Content Placeholder 2">
            <a:extLst>
              <a:ext uri="{FF2B5EF4-FFF2-40B4-BE49-F238E27FC236}">
                <a16:creationId xmlns:a16="http://schemas.microsoft.com/office/drawing/2014/main" id="{9E86C13D-4EAC-8FE4-2F30-571731C0BE30}"/>
              </a:ext>
            </a:extLst>
          </p:cNvPr>
          <p:cNvSpPr>
            <a:spLocks noGrp="1"/>
          </p:cNvSpPr>
          <p:nvPr>
            <p:ph idx="1"/>
          </p:nvPr>
        </p:nvSpPr>
        <p:spPr/>
        <p:txBody>
          <a:bodyPr/>
          <a:lstStyle/>
          <a:p>
            <a:r>
              <a:rPr lang="en-AU" dirty="0"/>
              <a:t>High mutational accessibility</a:t>
            </a:r>
          </a:p>
          <a:p>
            <a:r>
              <a:rPr lang="en-AU" dirty="0"/>
              <a:t>Compensatory evolution</a:t>
            </a:r>
          </a:p>
          <a:p>
            <a:r>
              <a:rPr lang="en-AU" dirty="0"/>
              <a:t>High resistance, low fitness cost</a:t>
            </a:r>
          </a:p>
          <a:p>
            <a:endParaRPr lang="en-AU" dirty="0"/>
          </a:p>
        </p:txBody>
      </p:sp>
    </p:spTree>
    <p:extLst>
      <p:ext uri="{BB962C8B-B14F-4D97-AF65-F5344CB8AC3E}">
        <p14:creationId xmlns:p14="http://schemas.microsoft.com/office/powerpoint/2010/main" val="4557547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EDC93-B38D-F205-1BCC-5ABB227BA3D8}"/>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7815D423-C7BC-BDE5-BDEA-EBFBC3D1F4BF}"/>
              </a:ext>
            </a:extLst>
          </p:cNvPr>
          <p:cNvSpPr>
            <a:spLocks noGrp="1"/>
          </p:cNvSpPr>
          <p:nvPr>
            <p:ph idx="1"/>
          </p:nvPr>
        </p:nvSpPr>
        <p:spPr/>
        <p:txBody>
          <a:bodyPr/>
          <a:lstStyle/>
          <a:p>
            <a:endParaRPr lang="en-AU"/>
          </a:p>
        </p:txBody>
      </p:sp>
    </p:spTree>
    <p:extLst>
      <p:ext uri="{BB962C8B-B14F-4D97-AF65-F5344CB8AC3E}">
        <p14:creationId xmlns:p14="http://schemas.microsoft.com/office/powerpoint/2010/main" val="7270555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6126D-673C-2BED-2A1B-27D18977CE56}"/>
              </a:ext>
            </a:extLst>
          </p:cNvPr>
          <p:cNvSpPr>
            <a:spLocks noGrp="1"/>
          </p:cNvSpPr>
          <p:nvPr>
            <p:ph type="title"/>
          </p:nvPr>
        </p:nvSpPr>
        <p:spPr/>
        <p:txBody>
          <a:bodyPr/>
          <a:lstStyle/>
          <a:p>
            <a:endParaRPr lang="en-AU"/>
          </a:p>
        </p:txBody>
      </p:sp>
      <p:sp>
        <p:nvSpPr>
          <p:cNvPr id="3" name="Content Placeholder 2">
            <a:extLst>
              <a:ext uri="{FF2B5EF4-FFF2-40B4-BE49-F238E27FC236}">
                <a16:creationId xmlns:a16="http://schemas.microsoft.com/office/drawing/2014/main" id="{F553C33D-015F-CF6E-9A8B-4E79FB3A6EE3}"/>
              </a:ext>
            </a:extLst>
          </p:cNvPr>
          <p:cNvSpPr>
            <a:spLocks noGrp="1"/>
          </p:cNvSpPr>
          <p:nvPr>
            <p:ph idx="1"/>
          </p:nvPr>
        </p:nvSpPr>
        <p:spPr/>
        <p:txBody>
          <a:bodyPr/>
          <a:lstStyle/>
          <a:p>
            <a:endParaRPr lang="en-AU"/>
          </a:p>
        </p:txBody>
      </p:sp>
    </p:spTree>
    <p:extLst>
      <p:ext uri="{BB962C8B-B14F-4D97-AF65-F5344CB8AC3E}">
        <p14:creationId xmlns:p14="http://schemas.microsoft.com/office/powerpoint/2010/main" val="2788196891"/>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1111</TotalTime>
  <Words>460</Words>
  <Application>Microsoft Office PowerPoint</Application>
  <PresentationFormat>Widescreen</PresentationFormat>
  <Paragraphs>61</Paragraphs>
  <Slides>21</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Century Schoolbook</vt:lpstr>
      <vt:lpstr>Wingdings 2</vt:lpstr>
      <vt:lpstr>View</vt:lpstr>
      <vt:lpstr>Research Update </vt:lpstr>
      <vt:lpstr>Chapter 1 </vt:lpstr>
      <vt:lpstr>Design </vt:lpstr>
      <vt:lpstr>Initial findings </vt:lpstr>
      <vt:lpstr>45°c</vt:lpstr>
      <vt:lpstr>48°c</vt:lpstr>
      <vt:lpstr>22°c</vt:lpstr>
      <vt:lpstr>MAXOD Heatmap </vt:lpstr>
      <vt:lpstr>MUMAX Heatmap </vt:lpstr>
      <vt:lpstr>Initial Observations </vt:lpstr>
      <vt:lpstr>OD LB</vt:lpstr>
      <vt:lpstr>OD M9</vt:lpstr>
      <vt:lpstr>MUMAX LB</vt:lpstr>
      <vt:lpstr>MUMAX M9</vt:lpstr>
      <vt:lpstr>Chapter 2 </vt:lpstr>
      <vt:lpstr>Theory </vt:lpstr>
      <vt:lpstr>Design </vt:lpstr>
      <vt:lpstr>16 streak test </vt:lpstr>
      <vt:lpstr>Reasons: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Ziqing Liu</dc:creator>
  <cp:lastModifiedBy>Ziqing Liu</cp:lastModifiedBy>
  <cp:revision>2</cp:revision>
  <dcterms:created xsi:type="dcterms:W3CDTF">2026-04-28T23:57:04Z</dcterms:created>
  <dcterms:modified xsi:type="dcterms:W3CDTF">2026-04-30T06:06:13Z</dcterms:modified>
</cp:coreProperties>
</file>