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9" r:id="rId11"/>
    <p:sldId id="265" r:id="rId12"/>
    <p:sldId id="266" r:id="rId13"/>
    <p:sldId id="267" r:id="rId14"/>
    <p:sldId id="268" r:id="rId15"/>
    <p:sldId id="270" r:id="rId16"/>
    <p:sldId id="271" r:id="rId17"/>
    <p:sldId id="272" r:id="rId18"/>
    <p:sldId id="273" r:id="rId19"/>
    <p:sldId id="275" r:id="rId20"/>
    <p:sldId id="276"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6FB4F6-F798-4ED9-99E3-1574F431BF44}" v="13" dt="2026-04-30T06:25:32.2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1162" autoAdjust="0"/>
  </p:normalViewPr>
  <p:slideViewPr>
    <p:cSldViewPr snapToGrid="0">
      <p:cViewPr varScale="1">
        <p:scale>
          <a:sx n="101" d="100"/>
          <a:sy n="101" d="100"/>
        </p:scale>
        <p:origin x="930" y="102"/>
      </p:cViewPr>
      <p:guideLst/>
    </p:cSldViewPr>
  </p:slideViewPr>
  <p:notesTextViewPr>
    <p:cViewPr>
      <p:scale>
        <a:sx n="1" d="1"/>
        <a:sy n="1" d="1"/>
      </p:scale>
      <p:origin x="0" y="-888"/>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iqing Liu" userId="20113ce3-4e8c-4eaa-a792-613b3e52886a" providerId="ADAL" clId="{7647F6DA-84E6-4065-910E-AC1B0A07A858}"/>
    <pc:docChg chg="undo custSel addSld delSld modSld sldOrd">
      <pc:chgData name="Ziqing Liu" userId="20113ce3-4e8c-4eaa-a792-613b3e52886a" providerId="ADAL" clId="{7647F6DA-84E6-4065-910E-AC1B0A07A858}" dt="2026-04-30T06:25:31.956" v="1719" actId="20577"/>
      <pc:docMkLst>
        <pc:docMk/>
      </pc:docMkLst>
      <pc:sldChg chg="modNotesTx">
        <pc:chgData name="Ziqing Liu" userId="20113ce3-4e8c-4eaa-a792-613b3e52886a" providerId="ADAL" clId="{7647F6DA-84E6-4065-910E-AC1B0A07A858}" dt="2026-04-30T06:11:44.363" v="978" actId="20577"/>
        <pc:sldMkLst>
          <pc:docMk/>
          <pc:sldMk cId="2040666385" sldId="257"/>
        </pc:sldMkLst>
      </pc:sldChg>
      <pc:sldChg chg="modNotesTx">
        <pc:chgData name="Ziqing Liu" userId="20113ce3-4e8c-4eaa-a792-613b3e52886a" providerId="ADAL" clId="{7647F6DA-84E6-4065-910E-AC1B0A07A858}" dt="2026-04-30T06:14:06.774" v="1109" actId="20577"/>
        <pc:sldMkLst>
          <pc:docMk/>
          <pc:sldMk cId="3571827075" sldId="258"/>
        </pc:sldMkLst>
      </pc:sldChg>
      <pc:sldChg chg="modNotesTx">
        <pc:chgData name="Ziqing Liu" userId="20113ce3-4e8c-4eaa-a792-613b3e52886a" providerId="ADAL" clId="{7647F6DA-84E6-4065-910E-AC1B0A07A858}" dt="2026-04-30T06:15:50.038" v="1329" actId="20577"/>
        <pc:sldMkLst>
          <pc:docMk/>
          <pc:sldMk cId="1452976489" sldId="259"/>
        </pc:sldMkLst>
      </pc:sldChg>
      <pc:sldChg chg="modNotesTx">
        <pc:chgData name="Ziqing Liu" userId="20113ce3-4e8c-4eaa-a792-613b3e52886a" providerId="ADAL" clId="{7647F6DA-84E6-4065-910E-AC1B0A07A858}" dt="2026-04-30T06:16:50.993" v="1497" actId="20577"/>
        <pc:sldMkLst>
          <pc:docMk/>
          <pc:sldMk cId="1532048993" sldId="260"/>
        </pc:sldMkLst>
      </pc:sldChg>
      <pc:sldChg chg="modNotesTx">
        <pc:chgData name="Ziqing Liu" userId="20113ce3-4e8c-4eaa-a792-613b3e52886a" providerId="ADAL" clId="{7647F6DA-84E6-4065-910E-AC1B0A07A858}" dt="2026-04-30T06:17:09.191" v="1565" actId="20577"/>
        <pc:sldMkLst>
          <pc:docMk/>
          <pc:sldMk cId="559528190" sldId="261"/>
        </pc:sldMkLst>
      </pc:sldChg>
      <pc:sldChg chg="modNotesTx">
        <pc:chgData name="Ziqing Liu" userId="20113ce3-4e8c-4eaa-a792-613b3e52886a" providerId="ADAL" clId="{7647F6DA-84E6-4065-910E-AC1B0A07A858}" dt="2026-04-30T06:17:35.774" v="1605" actId="20577"/>
        <pc:sldMkLst>
          <pc:docMk/>
          <pc:sldMk cId="3839789162" sldId="262"/>
        </pc:sldMkLst>
      </pc:sldChg>
      <pc:sldChg chg="modSp mod">
        <pc:chgData name="Ziqing Liu" userId="20113ce3-4e8c-4eaa-a792-613b3e52886a" providerId="ADAL" clId="{7647F6DA-84E6-4065-910E-AC1B0A07A858}" dt="2026-04-30T06:18:56.984" v="1610" actId="14100"/>
        <pc:sldMkLst>
          <pc:docMk/>
          <pc:sldMk cId="3719714297" sldId="263"/>
        </pc:sldMkLst>
        <pc:picChg chg="mod">
          <ac:chgData name="Ziqing Liu" userId="20113ce3-4e8c-4eaa-a792-613b3e52886a" providerId="ADAL" clId="{7647F6DA-84E6-4065-910E-AC1B0A07A858}" dt="2026-04-30T06:18:56.984" v="1610" actId="14100"/>
          <ac:picMkLst>
            <pc:docMk/>
            <pc:sldMk cId="3719714297" sldId="263"/>
            <ac:picMk id="5" creationId="{E2DE4D86-5EDF-2DF5-482D-0AC757D780E5}"/>
          </ac:picMkLst>
        </pc:picChg>
      </pc:sldChg>
      <pc:sldChg chg="modSp mod">
        <pc:chgData name="Ziqing Liu" userId="20113ce3-4e8c-4eaa-a792-613b3e52886a" providerId="ADAL" clId="{7647F6DA-84E6-4065-910E-AC1B0A07A858}" dt="2026-04-30T01:24:04.487" v="515" actId="20577"/>
        <pc:sldMkLst>
          <pc:docMk/>
          <pc:sldMk cId="1820470890" sldId="265"/>
        </pc:sldMkLst>
        <pc:spChg chg="mod">
          <ac:chgData name="Ziqing Liu" userId="20113ce3-4e8c-4eaa-a792-613b3e52886a" providerId="ADAL" clId="{7647F6DA-84E6-4065-910E-AC1B0A07A858}" dt="2026-04-30T01:24:04.487" v="515" actId="20577"/>
          <ac:spMkLst>
            <pc:docMk/>
            <pc:sldMk cId="1820470890" sldId="265"/>
            <ac:spMk id="6" creationId="{5D17A225-B875-DA94-C728-918628A198AC}"/>
          </ac:spMkLst>
        </pc:spChg>
      </pc:sldChg>
      <pc:sldChg chg="modSp mod">
        <pc:chgData name="Ziqing Liu" userId="20113ce3-4e8c-4eaa-a792-613b3e52886a" providerId="ADAL" clId="{7647F6DA-84E6-4065-910E-AC1B0A07A858}" dt="2026-04-30T01:24:09.434" v="521" actId="20577"/>
        <pc:sldMkLst>
          <pc:docMk/>
          <pc:sldMk cId="4088449915" sldId="266"/>
        </pc:sldMkLst>
        <pc:spChg chg="mod">
          <ac:chgData name="Ziqing Liu" userId="20113ce3-4e8c-4eaa-a792-613b3e52886a" providerId="ADAL" clId="{7647F6DA-84E6-4065-910E-AC1B0A07A858}" dt="2026-04-30T01:24:09.434" v="521" actId="20577"/>
          <ac:spMkLst>
            <pc:docMk/>
            <pc:sldMk cId="4088449915" sldId="266"/>
            <ac:spMk id="2" creationId="{58C8C730-BD99-2B19-3280-D8BFCB3AE2A7}"/>
          </ac:spMkLst>
        </pc:spChg>
      </pc:sldChg>
      <pc:sldChg chg="modSp mod">
        <pc:chgData name="Ziqing Liu" userId="20113ce3-4e8c-4eaa-a792-613b3e52886a" providerId="ADAL" clId="{7647F6DA-84E6-4065-910E-AC1B0A07A858}" dt="2026-04-30T01:24:15.284" v="527" actId="20577"/>
        <pc:sldMkLst>
          <pc:docMk/>
          <pc:sldMk cId="1775554001" sldId="267"/>
        </pc:sldMkLst>
        <pc:spChg chg="mod">
          <ac:chgData name="Ziqing Liu" userId="20113ce3-4e8c-4eaa-a792-613b3e52886a" providerId="ADAL" clId="{7647F6DA-84E6-4065-910E-AC1B0A07A858}" dt="2026-04-30T01:24:15.284" v="527" actId="20577"/>
          <ac:spMkLst>
            <pc:docMk/>
            <pc:sldMk cId="1775554001" sldId="267"/>
            <ac:spMk id="2" creationId="{E447A658-75C0-F871-2CA1-675D5953E9C4}"/>
          </ac:spMkLst>
        </pc:spChg>
      </pc:sldChg>
      <pc:sldChg chg="modSp mod ord">
        <pc:chgData name="Ziqing Liu" userId="20113ce3-4e8c-4eaa-a792-613b3e52886a" providerId="ADAL" clId="{7647F6DA-84E6-4065-910E-AC1B0A07A858}" dt="2026-04-30T01:24:20.987" v="533" actId="20577"/>
        <pc:sldMkLst>
          <pc:docMk/>
          <pc:sldMk cId="446253618" sldId="268"/>
        </pc:sldMkLst>
        <pc:spChg chg="mod">
          <ac:chgData name="Ziqing Liu" userId="20113ce3-4e8c-4eaa-a792-613b3e52886a" providerId="ADAL" clId="{7647F6DA-84E6-4065-910E-AC1B0A07A858}" dt="2026-04-30T01:24:20.987" v="533" actId="20577"/>
          <ac:spMkLst>
            <pc:docMk/>
            <pc:sldMk cId="446253618" sldId="268"/>
            <ac:spMk id="2" creationId="{702E50FB-E4C8-D52E-B0FE-BB45A3C57A83}"/>
          </ac:spMkLst>
        </pc:spChg>
      </pc:sldChg>
      <pc:sldChg chg="modSp mod modNotesTx">
        <pc:chgData name="Ziqing Liu" userId="20113ce3-4e8c-4eaa-a792-613b3e52886a" providerId="ADAL" clId="{7647F6DA-84E6-4065-910E-AC1B0A07A858}" dt="2026-04-30T06:21:20.343" v="1658"/>
        <pc:sldMkLst>
          <pc:docMk/>
          <pc:sldMk cId="3308895348" sldId="269"/>
        </pc:sldMkLst>
        <pc:spChg chg="mod">
          <ac:chgData name="Ziqing Liu" userId="20113ce3-4e8c-4eaa-a792-613b3e52886a" providerId="ADAL" clId="{7647F6DA-84E6-4065-910E-AC1B0A07A858}" dt="2026-04-30T06:21:20.343" v="1658"/>
          <ac:spMkLst>
            <pc:docMk/>
            <pc:sldMk cId="3308895348" sldId="269"/>
            <ac:spMk id="3" creationId="{75CEAE73-A454-A5D9-BF0B-1BC190E98C83}"/>
          </ac:spMkLst>
        </pc:spChg>
      </pc:sldChg>
      <pc:sldChg chg="addSp modSp mod">
        <pc:chgData name="Ziqing Liu" userId="20113ce3-4e8c-4eaa-a792-613b3e52886a" providerId="ADAL" clId="{7647F6DA-84E6-4065-910E-AC1B0A07A858}" dt="2026-04-30T01:27:55.759" v="847" actId="20577"/>
        <pc:sldMkLst>
          <pc:docMk/>
          <pc:sldMk cId="4135181532" sldId="272"/>
        </pc:sldMkLst>
        <pc:spChg chg="mod">
          <ac:chgData name="Ziqing Liu" userId="20113ce3-4e8c-4eaa-a792-613b3e52886a" providerId="ADAL" clId="{7647F6DA-84E6-4065-910E-AC1B0A07A858}" dt="2026-04-30T01:27:55.759" v="847" actId="20577"/>
          <ac:spMkLst>
            <pc:docMk/>
            <pc:sldMk cId="4135181532" sldId="272"/>
            <ac:spMk id="3" creationId="{DA16E06F-F081-53A3-84A4-2A6ED0ED5996}"/>
          </ac:spMkLst>
        </pc:spChg>
        <pc:picChg chg="add mod">
          <ac:chgData name="Ziqing Liu" userId="20113ce3-4e8c-4eaa-a792-613b3e52886a" providerId="ADAL" clId="{7647F6DA-84E6-4065-910E-AC1B0A07A858}" dt="2026-04-30T01:13:36.995" v="38"/>
          <ac:picMkLst>
            <pc:docMk/>
            <pc:sldMk cId="4135181532" sldId="272"/>
            <ac:picMk id="4" creationId="{F52AA396-A85B-B182-1509-77A7F6B12182}"/>
          </ac:picMkLst>
        </pc:picChg>
      </pc:sldChg>
      <pc:sldChg chg="addSp delSp modSp mod modNotesTx">
        <pc:chgData name="Ziqing Liu" userId="20113ce3-4e8c-4eaa-a792-613b3e52886a" providerId="ADAL" clId="{7647F6DA-84E6-4065-910E-AC1B0A07A858}" dt="2026-04-30T06:25:31.956" v="1719" actId="20577"/>
        <pc:sldMkLst>
          <pc:docMk/>
          <pc:sldMk cId="161381395" sldId="273"/>
        </pc:sldMkLst>
        <pc:spChg chg="mod">
          <ac:chgData name="Ziqing Liu" userId="20113ce3-4e8c-4eaa-a792-613b3e52886a" providerId="ADAL" clId="{7647F6DA-84E6-4065-910E-AC1B0A07A858}" dt="2026-04-30T01:15:54.194" v="335" actId="20577"/>
          <ac:spMkLst>
            <pc:docMk/>
            <pc:sldMk cId="161381395" sldId="273"/>
            <ac:spMk id="2" creationId="{B18E2FA7-3528-B5F6-DCC3-6380A3F928B8}"/>
          </ac:spMkLst>
        </pc:spChg>
        <pc:spChg chg="del">
          <ac:chgData name="Ziqing Liu" userId="20113ce3-4e8c-4eaa-a792-613b3e52886a" providerId="ADAL" clId="{7647F6DA-84E6-4065-910E-AC1B0A07A858}" dt="2026-04-30T01:17:09.600" v="337"/>
          <ac:spMkLst>
            <pc:docMk/>
            <pc:sldMk cId="161381395" sldId="273"/>
            <ac:spMk id="3" creationId="{D6C33FBA-97FF-53A8-80E1-1C2D3DDB1C6D}"/>
          </ac:spMkLst>
        </pc:spChg>
        <pc:picChg chg="add mod ord">
          <ac:chgData name="Ziqing Liu" userId="20113ce3-4e8c-4eaa-a792-613b3e52886a" providerId="ADAL" clId="{7647F6DA-84E6-4065-910E-AC1B0A07A858}" dt="2026-04-30T01:18:51.746" v="344" actId="14100"/>
          <ac:picMkLst>
            <pc:docMk/>
            <pc:sldMk cId="161381395" sldId="273"/>
            <ac:picMk id="5" creationId="{BE7C069A-95D2-3FAE-BBC5-44E21A62F67B}"/>
          </ac:picMkLst>
        </pc:picChg>
        <pc:picChg chg="add mod">
          <ac:chgData name="Ziqing Liu" userId="20113ce3-4e8c-4eaa-a792-613b3e52886a" providerId="ADAL" clId="{7647F6DA-84E6-4065-910E-AC1B0A07A858}" dt="2026-04-30T01:18:55.779" v="345" actId="14100"/>
          <ac:picMkLst>
            <pc:docMk/>
            <pc:sldMk cId="161381395" sldId="273"/>
            <ac:picMk id="7" creationId="{AE4623AB-D728-CE76-5F3B-F9CF9CF88544}"/>
          </ac:picMkLst>
        </pc:picChg>
      </pc:sldChg>
      <pc:sldChg chg="modSp new del mod modNotesTx">
        <pc:chgData name="Ziqing Liu" userId="20113ce3-4e8c-4eaa-a792-613b3e52886a" providerId="ADAL" clId="{7647F6DA-84E6-4065-910E-AC1B0A07A858}" dt="2026-04-30T06:24:46.400" v="1660" actId="2696"/>
        <pc:sldMkLst>
          <pc:docMk/>
          <pc:sldMk cId="455754772" sldId="274"/>
        </pc:sldMkLst>
        <pc:spChg chg="mod">
          <ac:chgData name="Ziqing Liu" userId="20113ce3-4e8c-4eaa-a792-613b3e52886a" providerId="ADAL" clId="{7647F6DA-84E6-4065-910E-AC1B0A07A858}" dt="2026-04-30T06:02:09.121" v="858" actId="20577"/>
          <ac:spMkLst>
            <pc:docMk/>
            <pc:sldMk cId="455754772" sldId="274"/>
            <ac:spMk id="2" creationId="{C7BCD7D5-2B28-6982-7EE9-338E4AA3B59B}"/>
          </ac:spMkLst>
        </pc:spChg>
        <pc:spChg chg="mod">
          <ac:chgData name="Ziqing Liu" userId="20113ce3-4e8c-4eaa-a792-613b3e52886a" providerId="ADAL" clId="{7647F6DA-84E6-4065-910E-AC1B0A07A858}" dt="2026-04-30T06:03:52.129" v="867" actId="20577"/>
          <ac:spMkLst>
            <pc:docMk/>
            <pc:sldMk cId="455754772" sldId="274"/>
            <ac:spMk id="3" creationId="{9E86C13D-4EAC-8FE4-2F30-571731C0BE30}"/>
          </ac:spMkLst>
        </pc:spChg>
      </pc:sldChg>
      <pc:sldChg chg="new">
        <pc:chgData name="Ziqing Liu" userId="20113ce3-4e8c-4eaa-a792-613b3e52886a" providerId="ADAL" clId="{7647F6DA-84E6-4065-910E-AC1B0A07A858}" dt="2026-04-30T01:20:43.470" v="508" actId="680"/>
        <pc:sldMkLst>
          <pc:docMk/>
          <pc:sldMk cId="727055526" sldId="275"/>
        </pc:sldMkLst>
      </pc:sldChg>
      <pc:sldChg chg="new">
        <pc:chgData name="Ziqing Liu" userId="20113ce3-4e8c-4eaa-a792-613b3e52886a" providerId="ADAL" clId="{7647F6DA-84E6-4065-910E-AC1B0A07A858}" dt="2026-04-30T01:20:44.044" v="509" actId="680"/>
        <pc:sldMkLst>
          <pc:docMk/>
          <pc:sldMk cId="2788196891" sldId="27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EF466A-A959-4E0E-8024-BDD72A80DBF2}" type="datetimeFigureOut">
              <a:rPr lang="en-AU" smtClean="0"/>
              <a:t>30/04/2026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E2FBA2-9175-4A3F-A6D1-7B9260A1E964}" type="slidenum">
              <a:rPr lang="en-AU" smtClean="0"/>
              <a:t>‹#›</a:t>
            </a:fld>
            <a:endParaRPr lang="en-AU"/>
          </a:p>
        </p:txBody>
      </p:sp>
    </p:spTree>
    <p:extLst>
      <p:ext uri="{BB962C8B-B14F-4D97-AF65-F5344CB8AC3E}">
        <p14:creationId xmlns:p14="http://schemas.microsoft.com/office/powerpoint/2010/main" val="3381577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LB is  rich and M9 is minimal </a:t>
            </a:r>
          </a:p>
          <a:p>
            <a:r>
              <a:rPr lang="en-AU" sz="1200" kern="1200" dirty="0">
                <a:solidFill>
                  <a:schemeClr val="tx1"/>
                </a:solidFill>
                <a:effectLst/>
                <a:latin typeface="+mn-lt"/>
                <a:ea typeface="+mn-ea"/>
                <a:cs typeface="+mn-cs"/>
              </a:rPr>
              <a:t>review I will define fitness effect as the effect a mutation has on an organism’s ability to survive in a given environment. This definition is broad and inclusive but most importantly does not propose an assumption of whether it is good or bad. Conversely, cost of resistance is defined as the price an organism pays to survive that is usually in the reduction of fitness in an environment due to factors like antibiotics, pesticides, and toxins. With the definitions I have listed above in mind the main issue we have with the term cost of resistance is that it is too narrow and that it is too much of an assumption often made too early. This is because if we have already </a:t>
            </a:r>
            <a:r>
              <a:rPr lang="en-AU" sz="1200" kern="1200" dirty="0" err="1">
                <a:solidFill>
                  <a:schemeClr val="tx1"/>
                </a:solidFill>
                <a:effectLst/>
                <a:latin typeface="+mn-lt"/>
                <a:ea typeface="+mn-ea"/>
                <a:cs typeface="+mn-cs"/>
              </a:rPr>
              <a:t>labled</a:t>
            </a:r>
            <a:r>
              <a:rPr lang="en-AU" sz="1200" kern="1200" dirty="0">
                <a:solidFill>
                  <a:schemeClr val="tx1"/>
                </a:solidFill>
                <a:effectLst/>
                <a:latin typeface="+mn-lt"/>
                <a:ea typeface="+mn-ea"/>
                <a:cs typeface="+mn-cs"/>
              </a:rPr>
              <a:t> an effect as a “cost” we are already assuming it is inherently negative when in reality this “cost” that we think we see in our specific treated environment could be neutral or even beneficial in another environment.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2</a:t>
            </a:fld>
            <a:endParaRPr lang="en-AU"/>
          </a:p>
        </p:txBody>
      </p:sp>
    </p:spTree>
    <p:extLst>
      <p:ext uri="{BB962C8B-B14F-4D97-AF65-F5344CB8AC3E}">
        <p14:creationId xmlns:p14="http://schemas.microsoft.com/office/powerpoint/2010/main" val="6387244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split a 96 well plate in 2 and After the border there are 60 wells left then if we blank 2 one </a:t>
            </a:r>
            <a:r>
              <a:rPr lang="en-US" dirty="0" err="1"/>
              <a:t>ofr</a:t>
            </a:r>
            <a:r>
              <a:rPr lang="en-US" dirty="0"/>
              <a:t> m9 one for </a:t>
            </a:r>
            <a:r>
              <a:rPr lang="en-US" dirty="0" err="1"/>
              <a:t>lb</a:t>
            </a:r>
            <a:r>
              <a:rPr lang="en-US" dirty="0"/>
              <a:t> it will give us 58 wells which nicely leaves us with 29 wells per growth media. This way we can test the effect of temperature on our mutant </a:t>
            </a:r>
            <a:r>
              <a:rPr lang="en-US" dirty="0" err="1"/>
              <a:t>accorss</a:t>
            </a:r>
            <a:r>
              <a:rPr lang="en-US" dirty="0"/>
              <a:t> the two different media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3</a:t>
            </a:fld>
            <a:endParaRPr lang="en-AU"/>
          </a:p>
        </p:txBody>
      </p:sp>
    </p:spTree>
    <p:extLst>
      <p:ext uri="{BB962C8B-B14F-4D97-AF65-F5344CB8AC3E}">
        <p14:creationId xmlns:p14="http://schemas.microsoft.com/office/powerpoint/2010/main" val="2918800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the top half is m9 and the bottom half is LB. As expected LB grew much better than m9 however they grew too well at 42c for this temperature to be considered stressful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4</a:t>
            </a:fld>
            <a:endParaRPr lang="en-AU"/>
          </a:p>
        </p:txBody>
      </p:sp>
    </p:spTree>
    <p:extLst>
      <p:ext uri="{BB962C8B-B14F-4D97-AF65-F5344CB8AC3E}">
        <p14:creationId xmlns:p14="http://schemas.microsoft.com/office/powerpoint/2010/main" val="1020688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upped the temp to 45 and from what we can see the bacteria in m9 has completely stopped growing however LB still looks too good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5</a:t>
            </a:fld>
            <a:endParaRPr lang="en-AU"/>
          </a:p>
        </p:txBody>
      </p:sp>
    </p:spTree>
    <p:extLst>
      <p:ext uri="{BB962C8B-B14F-4D97-AF65-F5344CB8AC3E}">
        <p14:creationId xmlns:p14="http://schemas.microsoft.com/office/powerpoint/2010/main" val="32001306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I changed the temp to 48 and we finally see no growth.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6</a:t>
            </a:fld>
            <a:endParaRPr lang="en-AU"/>
          </a:p>
        </p:txBody>
      </p:sp>
    </p:spTree>
    <p:extLst>
      <p:ext uri="{BB962C8B-B14F-4D97-AF65-F5344CB8AC3E}">
        <p14:creationId xmlns:p14="http://schemas.microsoft.com/office/powerpoint/2010/main" val="6286221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might attempt this in winter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7</a:t>
            </a:fld>
            <a:endParaRPr lang="en-AU"/>
          </a:p>
        </p:txBody>
      </p:sp>
    </p:spTree>
    <p:extLst>
      <p:ext uri="{BB962C8B-B14F-4D97-AF65-F5344CB8AC3E}">
        <p14:creationId xmlns:p14="http://schemas.microsoft.com/office/powerpoint/2010/main" val="2939511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reach saturation at 30-37 in LB and 42-37-30 in M9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8</a:t>
            </a:fld>
            <a:endParaRPr lang="en-AU"/>
          </a:p>
        </p:txBody>
      </p:sp>
    </p:spTree>
    <p:extLst>
      <p:ext uri="{BB962C8B-B14F-4D97-AF65-F5344CB8AC3E}">
        <p14:creationId xmlns:p14="http://schemas.microsoft.com/office/powerpoint/2010/main" val="14144302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Sweet spot for growth is between 37 and 42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9</a:t>
            </a:fld>
            <a:endParaRPr lang="en-AU"/>
          </a:p>
        </p:txBody>
      </p:sp>
    </p:spTree>
    <p:extLst>
      <p:ext uri="{BB962C8B-B14F-4D97-AF65-F5344CB8AC3E}">
        <p14:creationId xmlns:p14="http://schemas.microsoft.com/office/powerpoint/2010/main" val="29223176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OD is highest for M9 at 42c which is not traditionally optimal Even though the mutants are growing better in LB than M9 its interesting that the optimal for LB seems to be at 30-37c while m9 it </a:t>
            </a:r>
            <a:r>
              <a:rPr lang="en-US" dirty="0" err="1"/>
              <a:t>seens</a:t>
            </a:r>
            <a:r>
              <a:rPr lang="en-US" dirty="0"/>
              <a:t> to be 42 </a:t>
            </a:r>
            <a:r>
              <a:rPr lang="en-US" dirty="0" err="1"/>
              <a:t>andybe</a:t>
            </a:r>
            <a:r>
              <a:rPr lang="en-US" dirty="0"/>
              <a:t> 37. the high </a:t>
            </a:r>
            <a:r>
              <a:rPr lang="en-US" dirty="0" err="1"/>
              <a:t>mumax</a:t>
            </a:r>
            <a:r>
              <a:rPr lang="en-US" dirty="0"/>
              <a:t> for LB at 42 is not translating to OD (</a:t>
            </a:r>
            <a:r>
              <a:rPr lang="en-US" dirty="0" err="1"/>
              <a:t>eventhough</a:t>
            </a:r>
            <a:r>
              <a:rPr lang="en-US" dirty="0"/>
              <a:t> our mutants can grow at 45 in LB it is seems to prefer 30-37 while although mutants don’t grow in M9 at 45 it seems to prefer 42c)</a:t>
            </a:r>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10</a:t>
            </a:fld>
            <a:endParaRPr lang="en-AU"/>
          </a:p>
        </p:txBody>
      </p:sp>
    </p:spTree>
    <p:extLst>
      <p:ext uri="{BB962C8B-B14F-4D97-AF65-F5344CB8AC3E}">
        <p14:creationId xmlns:p14="http://schemas.microsoft.com/office/powerpoint/2010/main" val="3686675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table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16</a:t>
            </a:fld>
            <a:endParaRPr lang="en-AU"/>
          </a:p>
        </p:txBody>
      </p:sp>
    </p:spTree>
    <p:extLst>
      <p:ext uri="{BB962C8B-B14F-4D97-AF65-F5344CB8AC3E}">
        <p14:creationId xmlns:p14="http://schemas.microsoft.com/office/powerpoint/2010/main" val="25042085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we see the most commonly found mutants to have the most number of colonies and the rare mutants to have much less </a:t>
            </a:r>
          </a:p>
          <a:p>
            <a:endParaRPr lang="en-US" dirty="0"/>
          </a:p>
          <a:p>
            <a:pPr rtl="0" fontAlgn="t"/>
            <a:r>
              <a:rPr lang="en-AU" sz="1200" kern="1200" dirty="0">
                <a:solidFill>
                  <a:schemeClr val="tx1"/>
                </a:solidFill>
                <a:effectLst/>
                <a:latin typeface="+mn-lt"/>
                <a:ea typeface="+mn-ea"/>
                <a:cs typeface="+mn-cs"/>
              </a:rPr>
              <a:t>Codon accessibility                                                        </a:t>
            </a:r>
          </a:p>
          <a:p>
            <a:pPr rtl="0" fontAlgn="t"/>
            <a:r>
              <a:rPr lang="en-AU" sz="1200" kern="1200" dirty="0">
                <a:solidFill>
                  <a:schemeClr val="tx1"/>
                </a:solidFill>
                <a:effectLst/>
                <a:latin typeface="+mn-lt"/>
                <a:ea typeface="+mn-ea"/>
                <a:cs typeface="+mn-cs"/>
              </a:rPr>
              <a:t>High resistance, low fitness cost</a:t>
            </a:r>
          </a:p>
          <a:p>
            <a:pPr rtl="0" fontAlgn="t"/>
            <a:r>
              <a:rPr lang="en-AU" sz="1200" kern="1200" dirty="0">
                <a:solidFill>
                  <a:schemeClr val="tx1"/>
                </a:solidFill>
                <a:effectLst/>
                <a:latin typeface="+mn-lt"/>
                <a:ea typeface="+mn-ea"/>
                <a:cs typeface="+mn-cs"/>
              </a:rPr>
              <a:t>Compensatory evolution</a:t>
            </a:r>
          </a:p>
          <a:p>
            <a:pPr rtl="0" fontAlgn="t"/>
            <a:r>
              <a:rPr lang="en-AU" sz="1200" kern="1200" dirty="0">
                <a:solidFill>
                  <a:schemeClr val="tx1"/>
                </a:solidFill>
                <a:effectLst/>
                <a:latin typeface="+mn-lt"/>
                <a:ea typeface="+mn-ea"/>
                <a:cs typeface="+mn-cs"/>
              </a:rPr>
              <a:t>Transmission advantage</a:t>
            </a:r>
          </a:p>
          <a:p>
            <a:endParaRPr lang="en-AU" dirty="0"/>
          </a:p>
          <a:p>
            <a:pPr rtl="0" fontAlgn="t"/>
            <a:r>
              <a:rPr lang="en-AU" sz="1200" kern="1200" dirty="0">
                <a:solidFill>
                  <a:schemeClr val="tx1"/>
                </a:solidFill>
                <a:effectLst/>
                <a:latin typeface="+mn-lt"/>
                <a:ea typeface="+mn-ea"/>
                <a:cs typeface="+mn-cs"/>
              </a:rPr>
              <a:t>TCG→TTG is a single-step mutation unique to MTB</a:t>
            </a:r>
          </a:p>
          <a:p>
            <a:pPr rtl="0" fontAlgn="t"/>
            <a:r>
              <a:rPr lang="en-AU" sz="1200" kern="1200" dirty="0">
                <a:solidFill>
                  <a:schemeClr val="tx1"/>
                </a:solidFill>
                <a:effectLst/>
                <a:latin typeface="+mn-lt"/>
                <a:ea typeface="+mn-ea"/>
                <a:cs typeface="+mn-cs"/>
              </a:rPr>
              <a:t>S531L gives high MIC but impairs growth less than 526/516</a:t>
            </a:r>
          </a:p>
          <a:p>
            <a:pPr rtl="0" fontAlgn="t"/>
            <a:r>
              <a:rPr lang="en-AU" sz="1200" kern="1200" dirty="0">
                <a:solidFill>
                  <a:schemeClr val="tx1"/>
                </a:solidFill>
                <a:effectLst/>
                <a:latin typeface="+mn-lt"/>
                <a:ea typeface="+mn-ea"/>
                <a:cs typeface="+mn-cs"/>
              </a:rPr>
              <a:t>S531L uniquely recruits </a:t>
            </a:r>
            <a:r>
              <a:rPr lang="en-AU" sz="1200" kern="1200" dirty="0" err="1">
                <a:solidFill>
                  <a:schemeClr val="tx1"/>
                </a:solidFill>
                <a:effectLst/>
                <a:latin typeface="+mn-lt"/>
                <a:ea typeface="+mn-ea"/>
                <a:cs typeface="+mn-cs"/>
              </a:rPr>
              <a:t>rpoA</a:t>
            </a:r>
            <a:r>
              <a:rPr lang="en-AU" sz="1200" kern="1200" dirty="0">
                <a:solidFill>
                  <a:schemeClr val="tx1"/>
                </a:solidFill>
                <a:effectLst/>
                <a:latin typeface="+mn-lt"/>
                <a:ea typeface="+mn-ea"/>
                <a:cs typeface="+mn-cs"/>
              </a:rPr>
              <a:t>/C compensatory mutations</a:t>
            </a:r>
          </a:p>
          <a:p>
            <a:pPr rtl="0" fontAlgn="t"/>
            <a:r>
              <a:rPr lang="en-AU" sz="1200" kern="1200">
                <a:solidFill>
                  <a:schemeClr val="tx1"/>
                </a:solidFill>
                <a:effectLst/>
                <a:latin typeface="+mn-lt"/>
                <a:ea typeface="+mn-ea"/>
                <a:cs typeface="+mn-cs"/>
              </a:rPr>
              <a:t>Compensated S531L strains spread clonally</a:t>
            </a:r>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18</a:t>
            </a:fld>
            <a:endParaRPr lang="en-AU"/>
          </a:p>
        </p:txBody>
      </p:sp>
    </p:spTree>
    <p:extLst>
      <p:ext uri="{BB962C8B-B14F-4D97-AF65-F5344CB8AC3E}">
        <p14:creationId xmlns:p14="http://schemas.microsoft.com/office/powerpoint/2010/main" val="19813945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E7611B22-EA13-474B-83BA-8A12F66AADAF}" type="datetimeFigureOut">
              <a:rPr lang="en-AU" smtClean="0"/>
              <a:t>30/04/2026</a:t>
            </a:fld>
            <a:endParaRPr lang="en-AU"/>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AU"/>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5A7A6B84-712C-4447-9CE1-C6658B4CC8CE}"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Tree>
    <p:extLst>
      <p:ext uri="{BB962C8B-B14F-4D97-AF65-F5344CB8AC3E}">
        <p14:creationId xmlns:p14="http://schemas.microsoft.com/office/powerpoint/2010/main" val="77732021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30/04/2026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2726762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7611B22-EA13-474B-83BA-8A12F66AADAF}" type="datetimeFigureOut">
              <a:rPr lang="en-AU" smtClean="0"/>
              <a:t>30/04/2026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9653915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7611B22-EA13-474B-83BA-8A12F66AADAF}" type="datetimeFigureOut">
              <a:rPr lang="en-AU" smtClean="0"/>
              <a:t>30/04/2026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663876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7611B22-EA13-474B-83BA-8A12F66AADAF}" type="datetimeFigureOut">
              <a:rPr lang="en-AU" smtClean="0"/>
              <a:t>30/04/2026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577409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7611B22-EA13-474B-83BA-8A12F66AADAF}" type="datetimeFigureOut">
              <a:rPr lang="en-AU" smtClean="0"/>
              <a:t>30/04/2026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4077042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611B22-EA13-474B-83BA-8A12F66AADAF}" type="datetimeFigureOut">
              <a:rPr lang="en-AU" smtClean="0"/>
              <a:t>30/04/2026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21105735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611B22-EA13-474B-83BA-8A12F66AADAF}" type="datetimeFigureOut">
              <a:rPr lang="en-AU" smtClean="0"/>
              <a:t>30/04/2026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8431000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611B22-EA13-474B-83BA-8A12F66AADAF}" type="datetimeFigureOut">
              <a:rPr lang="en-AU" smtClean="0"/>
              <a:t>30/04/2026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0002851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30/04/2026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10657019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30/04/2026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132701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E7611B22-EA13-474B-83BA-8A12F66AADAF}" type="datetimeFigureOut">
              <a:rPr lang="en-AU" smtClean="0"/>
              <a:t>30/04/2026</a:t>
            </a:fld>
            <a:endParaRPr lang="en-AU"/>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AU"/>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5A7A6B84-712C-4447-9CE1-C6658B4CC8CE}" type="slidenum">
              <a:rPr lang="en-AU" smtClean="0"/>
              <a:t>‹#›</a:t>
            </a:fld>
            <a:endParaRPr lang="en-AU"/>
          </a:p>
        </p:txBody>
      </p:sp>
    </p:spTree>
    <p:extLst>
      <p:ext uri="{BB962C8B-B14F-4D97-AF65-F5344CB8AC3E}">
        <p14:creationId xmlns:p14="http://schemas.microsoft.com/office/powerpoint/2010/main" val="370872640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0A804-B0AB-8799-A597-19D0395CD384}"/>
              </a:ext>
            </a:extLst>
          </p:cNvPr>
          <p:cNvSpPr>
            <a:spLocks noGrp="1"/>
          </p:cNvSpPr>
          <p:nvPr>
            <p:ph type="ctrTitle"/>
          </p:nvPr>
        </p:nvSpPr>
        <p:spPr/>
        <p:txBody>
          <a:bodyPr/>
          <a:lstStyle/>
          <a:p>
            <a:r>
              <a:rPr lang="en-US" dirty="0"/>
              <a:t>Research Update </a:t>
            </a:r>
            <a:endParaRPr lang="en-AU" dirty="0"/>
          </a:p>
        </p:txBody>
      </p:sp>
      <p:sp>
        <p:nvSpPr>
          <p:cNvPr id="3" name="Subtitle 2">
            <a:extLst>
              <a:ext uri="{FF2B5EF4-FFF2-40B4-BE49-F238E27FC236}">
                <a16:creationId xmlns:a16="http://schemas.microsoft.com/office/drawing/2014/main" id="{9C7B2356-2320-DDCE-5543-C9B60EC3A997}"/>
              </a:ext>
            </a:extLst>
          </p:cNvPr>
          <p:cNvSpPr>
            <a:spLocks noGrp="1"/>
          </p:cNvSpPr>
          <p:nvPr>
            <p:ph type="subTitle" idx="1"/>
          </p:nvPr>
        </p:nvSpPr>
        <p:spPr/>
        <p:txBody>
          <a:bodyPr/>
          <a:lstStyle/>
          <a:p>
            <a:r>
              <a:rPr lang="en-US" dirty="0"/>
              <a:t>Edward Liu 01/05/2026 </a:t>
            </a:r>
            <a:endParaRPr lang="en-AU" dirty="0"/>
          </a:p>
        </p:txBody>
      </p:sp>
    </p:spTree>
    <p:extLst>
      <p:ext uri="{BB962C8B-B14F-4D97-AF65-F5344CB8AC3E}">
        <p14:creationId xmlns:p14="http://schemas.microsoft.com/office/powerpoint/2010/main" val="1175104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EA34F-6776-B085-331E-74C0279DCB4D}"/>
              </a:ext>
            </a:extLst>
          </p:cNvPr>
          <p:cNvSpPr>
            <a:spLocks noGrp="1"/>
          </p:cNvSpPr>
          <p:nvPr>
            <p:ph type="title"/>
          </p:nvPr>
        </p:nvSpPr>
        <p:spPr/>
        <p:txBody>
          <a:bodyPr/>
          <a:lstStyle/>
          <a:p>
            <a:r>
              <a:rPr lang="en-US" dirty="0"/>
              <a:t>Chapter 1 </a:t>
            </a:r>
            <a:endParaRPr lang="en-AU" dirty="0"/>
          </a:p>
        </p:txBody>
      </p:sp>
      <p:sp>
        <p:nvSpPr>
          <p:cNvPr id="3" name="Content Placeholder 2">
            <a:extLst>
              <a:ext uri="{FF2B5EF4-FFF2-40B4-BE49-F238E27FC236}">
                <a16:creationId xmlns:a16="http://schemas.microsoft.com/office/drawing/2014/main" id="{CA4F29F4-AEB2-D0FB-3CE6-20070AD29B70}"/>
              </a:ext>
            </a:extLst>
          </p:cNvPr>
          <p:cNvSpPr>
            <a:spLocks noGrp="1"/>
          </p:cNvSpPr>
          <p:nvPr>
            <p:ph idx="1"/>
          </p:nvPr>
        </p:nvSpPr>
        <p:spPr/>
        <p:txBody>
          <a:bodyPr/>
          <a:lstStyle/>
          <a:p>
            <a:r>
              <a:rPr lang="en-US" dirty="0"/>
              <a:t>Looking at the fitness effect of E. coli with </a:t>
            </a:r>
            <a:r>
              <a:rPr lang="en-US" dirty="0" err="1"/>
              <a:t>rpoB</a:t>
            </a:r>
            <a:r>
              <a:rPr lang="en-US" dirty="0"/>
              <a:t> mutations from our lab </a:t>
            </a:r>
          </a:p>
          <a:p>
            <a:r>
              <a:rPr lang="en-US" dirty="0"/>
              <a:t>Growing them across a wide temperature spectrum ideally from 22</a:t>
            </a:r>
            <a:r>
              <a:rPr lang="en-AU" dirty="0"/>
              <a:t>°c</a:t>
            </a:r>
            <a:r>
              <a:rPr lang="en-US" dirty="0"/>
              <a:t>-42</a:t>
            </a:r>
            <a:r>
              <a:rPr lang="en-AU" dirty="0"/>
              <a:t>°c</a:t>
            </a:r>
          </a:p>
          <a:p>
            <a:r>
              <a:rPr lang="en-AU" dirty="0"/>
              <a:t>Also across two types of media LB and M9 </a:t>
            </a:r>
            <a:endParaRPr lang="en-US" dirty="0"/>
          </a:p>
          <a:p>
            <a:endParaRPr lang="en-US" dirty="0"/>
          </a:p>
          <a:p>
            <a:endParaRPr lang="en-AU" dirty="0"/>
          </a:p>
        </p:txBody>
      </p:sp>
    </p:spTree>
    <p:extLst>
      <p:ext uri="{BB962C8B-B14F-4D97-AF65-F5344CB8AC3E}">
        <p14:creationId xmlns:p14="http://schemas.microsoft.com/office/powerpoint/2010/main" val="20406663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4B637-53FF-EF31-1E67-5F6056B77117}"/>
              </a:ext>
            </a:extLst>
          </p:cNvPr>
          <p:cNvSpPr>
            <a:spLocks noGrp="1"/>
          </p:cNvSpPr>
          <p:nvPr>
            <p:ph type="title"/>
          </p:nvPr>
        </p:nvSpPr>
        <p:spPr/>
        <p:txBody>
          <a:bodyPr/>
          <a:lstStyle/>
          <a:p>
            <a:r>
              <a:rPr lang="en-US" dirty="0"/>
              <a:t>Design </a:t>
            </a:r>
            <a:endParaRPr lang="en-AU" dirty="0"/>
          </a:p>
        </p:txBody>
      </p:sp>
      <p:sp>
        <p:nvSpPr>
          <p:cNvPr id="3" name="Content Placeholder 2">
            <a:extLst>
              <a:ext uri="{FF2B5EF4-FFF2-40B4-BE49-F238E27FC236}">
                <a16:creationId xmlns:a16="http://schemas.microsoft.com/office/drawing/2014/main" id="{CFDBA41F-E832-2EAA-7EFE-45CC239BAE62}"/>
              </a:ext>
            </a:extLst>
          </p:cNvPr>
          <p:cNvSpPr>
            <a:spLocks noGrp="1"/>
          </p:cNvSpPr>
          <p:nvPr>
            <p:ph idx="1"/>
          </p:nvPr>
        </p:nvSpPr>
        <p:spPr/>
        <p:txBody>
          <a:bodyPr/>
          <a:lstStyle/>
          <a:p>
            <a:r>
              <a:rPr lang="en-US" dirty="0"/>
              <a:t>Picked and 28 mutants and the WT to test </a:t>
            </a:r>
          </a:p>
          <a:p>
            <a:pPr marL="0" indent="0">
              <a:buNone/>
            </a:pPr>
            <a:endParaRPr lang="en-US" dirty="0"/>
          </a:p>
          <a:p>
            <a:endParaRPr lang="en-US" dirty="0"/>
          </a:p>
          <a:p>
            <a:endParaRPr lang="en-US" dirty="0"/>
          </a:p>
          <a:p>
            <a:endParaRPr lang="en-US" dirty="0"/>
          </a:p>
          <a:p>
            <a:endParaRPr lang="en-US" dirty="0"/>
          </a:p>
          <a:p>
            <a:endParaRPr lang="en-AU" dirty="0"/>
          </a:p>
        </p:txBody>
      </p:sp>
      <p:pic>
        <p:nvPicPr>
          <p:cNvPr id="5" name="Picture 4">
            <a:extLst>
              <a:ext uri="{FF2B5EF4-FFF2-40B4-BE49-F238E27FC236}">
                <a16:creationId xmlns:a16="http://schemas.microsoft.com/office/drawing/2014/main" id="{CDB297E6-9427-8FC9-52E9-2B5FAAF992D7}"/>
              </a:ext>
            </a:extLst>
          </p:cNvPr>
          <p:cNvPicPr>
            <a:picLocks noChangeAspect="1"/>
          </p:cNvPicPr>
          <p:nvPr/>
        </p:nvPicPr>
        <p:blipFill>
          <a:blip r:embed="rId3"/>
          <a:stretch>
            <a:fillRect/>
          </a:stretch>
        </p:blipFill>
        <p:spPr>
          <a:xfrm>
            <a:off x="992701" y="2785379"/>
            <a:ext cx="5506070" cy="3826718"/>
          </a:xfrm>
          <a:prstGeom prst="rect">
            <a:avLst/>
          </a:prstGeom>
        </p:spPr>
      </p:pic>
      <p:pic>
        <p:nvPicPr>
          <p:cNvPr id="7" name="Picture 6">
            <a:extLst>
              <a:ext uri="{FF2B5EF4-FFF2-40B4-BE49-F238E27FC236}">
                <a16:creationId xmlns:a16="http://schemas.microsoft.com/office/drawing/2014/main" id="{B36CEB3D-BE1E-EAFA-D579-485596E55D33}"/>
              </a:ext>
            </a:extLst>
          </p:cNvPr>
          <p:cNvPicPr>
            <a:picLocks noChangeAspect="1"/>
          </p:cNvPicPr>
          <p:nvPr/>
        </p:nvPicPr>
        <p:blipFill>
          <a:blip r:embed="rId4"/>
          <a:stretch>
            <a:fillRect/>
          </a:stretch>
        </p:blipFill>
        <p:spPr>
          <a:xfrm>
            <a:off x="9431306" y="59095"/>
            <a:ext cx="1767993" cy="5342083"/>
          </a:xfrm>
          <a:prstGeom prst="rect">
            <a:avLst/>
          </a:prstGeom>
        </p:spPr>
      </p:pic>
    </p:spTree>
    <p:extLst>
      <p:ext uri="{BB962C8B-B14F-4D97-AF65-F5344CB8AC3E}">
        <p14:creationId xmlns:p14="http://schemas.microsoft.com/office/powerpoint/2010/main" val="35718270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2F456-B6AE-57CA-6BDC-043DD89096AA}"/>
              </a:ext>
            </a:extLst>
          </p:cNvPr>
          <p:cNvSpPr>
            <a:spLocks noGrp="1"/>
          </p:cNvSpPr>
          <p:nvPr>
            <p:ph type="title"/>
          </p:nvPr>
        </p:nvSpPr>
        <p:spPr/>
        <p:txBody>
          <a:bodyPr/>
          <a:lstStyle/>
          <a:p>
            <a:r>
              <a:rPr lang="en-US" dirty="0"/>
              <a:t>Initial findings </a:t>
            </a:r>
            <a:endParaRPr lang="en-AU" dirty="0"/>
          </a:p>
        </p:txBody>
      </p:sp>
      <p:sp>
        <p:nvSpPr>
          <p:cNvPr id="3" name="Content Placeholder 2">
            <a:extLst>
              <a:ext uri="{FF2B5EF4-FFF2-40B4-BE49-F238E27FC236}">
                <a16:creationId xmlns:a16="http://schemas.microsoft.com/office/drawing/2014/main" id="{7409183D-F892-067B-76CC-5D0764E122D5}"/>
              </a:ext>
            </a:extLst>
          </p:cNvPr>
          <p:cNvSpPr>
            <a:spLocks noGrp="1"/>
          </p:cNvSpPr>
          <p:nvPr>
            <p:ph idx="1"/>
          </p:nvPr>
        </p:nvSpPr>
        <p:spPr/>
        <p:txBody>
          <a:bodyPr/>
          <a:lstStyle/>
          <a:p>
            <a:r>
              <a:rPr lang="en-US" dirty="0"/>
              <a:t>I first tested the temperature ranges that we though would be constitute as heat stress for E. coli (42</a:t>
            </a:r>
            <a:r>
              <a:rPr lang="en-AU" dirty="0"/>
              <a:t>°c) </a:t>
            </a:r>
          </a:p>
        </p:txBody>
      </p:sp>
      <p:pic>
        <p:nvPicPr>
          <p:cNvPr id="5" name="Picture 4">
            <a:extLst>
              <a:ext uri="{FF2B5EF4-FFF2-40B4-BE49-F238E27FC236}">
                <a16:creationId xmlns:a16="http://schemas.microsoft.com/office/drawing/2014/main" id="{E095E2FD-5464-5E47-C3B4-26BB068BDFF6}"/>
              </a:ext>
            </a:extLst>
          </p:cNvPr>
          <p:cNvPicPr>
            <a:picLocks noChangeAspect="1"/>
          </p:cNvPicPr>
          <p:nvPr/>
        </p:nvPicPr>
        <p:blipFill>
          <a:blip r:embed="rId3"/>
          <a:stretch>
            <a:fillRect/>
          </a:stretch>
        </p:blipFill>
        <p:spPr>
          <a:xfrm>
            <a:off x="197756" y="2723034"/>
            <a:ext cx="10815539" cy="3821457"/>
          </a:xfrm>
          <a:prstGeom prst="rect">
            <a:avLst/>
          </a:prstGeom>
        </p:spPr>
      </p:pic>
      <p:pic>
        <p:nvPicPr>
          <p:cNvPr id="6" name="Picture 5">
            <a:extLst>
              <a:ext uri="{FF2B5EF4-FFF2-40B4-BE49-F238E27FC236}">
                <a16:creationId xmlns:a16="http://schemas.microsoft.com/office/drawing/2014/main" id="{3A75B851-3C79-9715-F071-8462E31C103D}"/>
              </a:ext>
            </a:extLst>
          </p:cNvPr>
          <p:cNvPicPr>
            <a:picLocks noChangeAspect="1"/>
          </p:cNvPicPr>
          <p:nvPr/>
        </p:nvPicPr>
        <p:blipFill>
          <a:blip r:embed="rId4"/>
          <a:stretch>
            <a:fillRect/>
          </a:stretch>
        </p:blipFill>
        <p:spPr>
          <a:xfrm>
            <a:off x="8836946" y="60146"/>
            <a:ext cx="2343334" cy="1628617"/>
          </a:xfrm>
          <a:prstGeom prst="rect">
            <a:avLst/>
          </a:prstGeom>
        </p:spPr>
      </p:pic>
    </p:spTree>
    <p:extLst>
      <p:ext uri="{BB962C8B-B14F-4D97-AF65-F5344CB8AC3E}">
        <p14:creationId xmlns:p14="http://schemas.microsoft.com/office/powerpoint/2010/main" val="14529764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50BC4-5EF0-EC6E-5158-98FFF8AD50DB}"/>
              </a:ext>
            </a:extLst>
          </p:cNvPr>
          <p:cNvSpPr>
            <a:spLocks noGrp="1"/>
          </p:cNvSpPr>
          <p:nvPr>
            <p:ph type="title"/>
          </p:nvPr>
        </p:nvSpPr>
        <p:spPr/>
        <p:txBody>
          <a:bodyPr/>
          <a:lstStyle/>
          <a:p>
            <a:r>
              <a:rPr lang="en-US" dirty="0"/>
              <a:t>45</a:t>
            </a:r>
            <a:r>
              <a:rPr lang="en-AU" dirty="0"/>
              <a:t>°c</a:t>
            </a:r>
          </a:p>
        </p:txBody>
      </p:sp>
      <p:pic>
        <p:nvPicPr>
          <p:cNvPr id="5" name="Content Placeholder 4">
            <a:extLst>
              <a:ext uri="{FF2B5EF4-FFF2-40B4-BE49-F238E27FC236}">
                <a16:creationId xmlns:a16="http://schemas.microsoft.com/office/drawing/2014/main" id="{1EE6A7FD-F14F-19CE-3AF2-48B4865D2926}"/>
              </a:ext>
            </a:extLst>
          </p:cNvPr>
          <p:cNvPicPr>
            <a:picLocks noGrp="1" noChangeAspect="1"/>
          </p:cNvPicPr>
          <p:nvPr>
            <p:ph idx="1"/>
          </p:nvPr>
        </p:nvPicPr>
        <p:blipFill>
          <a:blip r:embed="rId3"/>
          <a:stretch>
            <a:fillRect/>
          </a:stretch>
        </p:blipFill>
        <p:spPr>
          <a:xfrm>
            <a:off x="180398" y="2364202"/>
            <a:ext cx="10956994" cy="3762278"/>
          </a:xfrm>
          <a:prstGeom prst="rect">
            <a:avLst/>
          </a:prstGeom>
        </p:spPr>
      </p:pic>
      <p:pic>
        <p:nvPicPr>
          <p:cNvPr id="6" name="Picture 5">
            <a:extLst>
              <a:ext uri="{FF2B5EF4-FFF2-40B4-BE49-F238E27FC236}">
                <a16:creationId xmlns:a16="http://schemas.microsoft.com/office/drawing/2014/main" id="{BC3D9C59-36A0-93E1-9740-530880BB59C1}"/>
              </a:ext>
            </a:extLst>
          </p:cNvPr>
          <p:cNvPicPr>
            <a:picLocks noChangeAspect="1"/>
          </p:cNvPicPr>
          <p:nvPr/>
        </p:nvPicPr>
        <p:blipFill>
          <a:blip r:embed="rId4"/>
          <a:stretch>
            <a:fillRect/>
          </a:stretch>
        </p:blipFill>
        <p:spPr>
          <a:xfrm>
            <a:off x="8941448" y="0"/>
            <a:ext cx="2343334" cy="1628617"/>
          </a:xfrm>
          <a:prstGeom prst="rect">
            <a:avLst/>
          </a:prstGeom>
        </p:spPr>
      </p:pic>
    </p:spTree>
    <p:extLst>
      <p:ext uri="{BB962C8B-B14F-4D97-AF65-F5344CB8AC3E}">
        <p14:creationId xmlns:p14="http://schemas.microsoft.com/office/powerpoint/2010/main" val="15320489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A296F-77F0-CD6D-CA4D-8936D03BFA8C}"/>
              </a:ext>
            </a:extLst>
          </p:cNvPr>
          <p:cNvSpPr>
            <a:spLocks noGrp="1"/>
          </p:cNvSpPr>
          <p:nvPr>
            <p:ph type="title"/>
          </p:nvPr>
        </p:nvSpPr>
        <p:spPr/>
        <p:txBody>
          <a:bodyPr/>
          <a:lstStyle/>
          <a:p>
            <a:r>
              <a:rPr lang="en-US" dirty="0"/>
              <a:t>48</a:t>
            </a:r>
            <a:r>
              <a:rPr lang="en-AU" dirty="0"/>
              <a:t>°</a:t>
            </a:r>
            <a:r>
              <a:rPr lang="en-US" dirty="0"/>
              <a:t>c</a:t>
            </a:r>
            <a:endParaRPr lang="en-AU" dirty="0"/>
          </a:p>
        </p:txBody>
      </p:sp>
      <p:pic>
        <p:nvPicPr>
          <p:cNvPr id="5" name="Content Placeholder 4">
            <a:extLst>
              <a:ext uri="{FF2B5EF4-FFF2-40B4-BE49-F238E27FC236}">
                <a16:creationId xmlns:a16="http://schemas.microsoft.com/office/drawing/2014/main" id="{7E490B89-BE9E-BADB-24B4-131F2CD1026D}"/>
              </a:ext>
            </a:extLst>
          </p:cNvPr>
          <p:cNvPicPr>
            <a:picLocks noGrp="1" noChangeAspect="1"/>
          </p:cNvPicPr>
          <p:nvPr>
            <p:ph idx="1"/>
          </p:nvPr>
        </p:nvPicPr>
        <p:blipFill>
          <a:blip r:embed="rId3"/>
          <a:stretch>
            <a:fillRect/>
          </a:stretch>
        </p:blipFill>
        <p:spPr>
          <a:xfrm>
            <a:off x="608286" y="2873829"/>
            <a:ext cx="10204200" cy="3540034"/>
          </a:xfrm>
          <a:prstGeom prst="rect">
            <a:avLst/>
          </a:prstGeom>
        </p:spPr>
      </p:pic>
      <p:pic>
        <p:nvPicPr>
          <p:cNvPr id="6" name="Picture 5">
            <a:extLst>
              <a:ext uri="{FF2B5EF4-FFF2-40B4-BE49-F238E27FC236}">
                <a16:creationId xmlns:a16="http://schemas.microsoft.com/office/drawing/2014/main" id="{8DB487F5-7184-2CC0-247C-6107D5BF06EA}"/>
              </a:ext>
            </a:extLst>
          </p:cNvPr>
          <p:cNvPicPr>
            <a:picLocks noChangeAspect="1"/>
          </p:cNvPicPr>
          <p:nvPr/>
        </p:nvPicPr>
        <p:blipFill>
          <a:blip r:embed="rId4"/>
          <a:stretch>
            <a:fillRect/>
          </a:stretch>
        </p:blipFill>
        <p:spPr>
          <a:xfrm>
            <a:off x="8941448" y="0"/>
            <a:ext cx="2343334" cy="1628617"/>
          </a:xfrm>
          <a:prstGeom prst="rect">
            <a:avLst/>
          </a:prstGeom>
        </p:spPr>
      </p:pic>
    </p:spTree>
    <p:extLst>
      <p:ext uri="{BB962C8B-B14F-4D97-AF65-F5344CB8AC3E}">
        <p14:creationId xmlns:p14="http://schemas.microsoft.com/office/powerpoint/2010/main" val="559528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D76FE-0287-D488-9701-D795E888DCC9}"/>
              </a:ext>
            </a:extLst>
          </p:cNvPr>
          <p:cNvSpPr>
            <a:spLocks noGrp="1"/>
          </p:cNvSpPr>
          <p:nvPr>
            <p:ph type="title"/>
          </p:nvPr>
        </p:nvSpPr>
        <p:spPr/>
        <p:txBody>
          <a:bodyPr/>
          <a:lstStyle/>
          <a:p>
            <a:r>
              <a:rPr lang="en-US" dirty="0"/>
              <a:t>22</a:t>
            </a:r>
            <a:r>
              <a:rPr lang="en-AU" dirty="0"/>
              <a:t>°</a:t>
            </a:r>
            <a:r>
              <a:rPr lang="en-US" dirty="0"/>
              <a:t>c</a:t>
            </a:r>
            <a:endParaRPr lang="en-AU" dirty="0"/>
          </a:p>
        </p:txBody>
      </p:sp>
      <p:sp>
        <p:nvSpPr>
          <p:cNvPr id="3" name="Content Placeholder 2">
            <a:extLst>
              <a:ext uri="{FF2B5EF4-FFF2-40B4-BE49-F238E27FC236}">
                <a16:creationId xmlns:a16="http://schemas.microsoft.com/office/drawing/2014/main" id="{DE2C9C34-887F-533A-DB17-2DDA04692945}"/>
              </a:ext>
            </a:extLst>
          </p:cNvPr>
          <p:cNvSpPr>
            <a:spLocks noGrp="1"/>
          </p:cNvSpPr>
          <p:nvPr>
            <p:ph idx="1"/>
          </p:nvPr>
        </p:nvSpPr>
        <p:spPr/>
        <p:txBody>
          <a:bodyPr/>
          <a:lstStyle/>
          <a:p>
            <a:r>
              <a:rPr lang="en-US" dirty="0"/>
              <a:t>I then tested the lower end of my temperature spectrum</a:t>
            </a:r>
          </a:p>
          <a:p>
            <a:r>
              <a:rPr lang="en-US" dirty="0"/>
              <a:t>But we found out its between 26</a:t>
            </a:r>
            <a:r>
              <a:rPr lang="en-AU" dirty="0"/>
              <a:t>°</a:t>
            </a:r>
            <a:r>
              <a:rPr lang="en-US" dirty="0"/>
              <a:t>c -28</a:t>
            </a:r>
            <a:r>
              <a:rPr lang="en-AU" dirty="0"/>
              <a:t>°</a:t>
            </a:r>
            <a:r>
              <a:rPr lang="en-US" dirty="0"/>
              <a:t>c in the lab</a:t>
            </a:r>
            <a:endParaRPr lang="en-AU" dirty="0"/>
          </a:p>
        </p:txBody>
      </p:sp>
    </p:spTree>
    <p:extLst>
      <p:ext uri="{BB962C8B-B14F-4D97-AF65-F5344CB8AC3E}">
        <p14:creationId xmlns:p14="http://schemas.microsoft.com/office/powerpoint/2010/main" val="38397891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30CEA-49D2-B307-6F9F-B7984929B67C}"/>
              </a:ext>
            </a:extLst>
          </p:cNvPr>
          <p:cNvSpPr>
            <a:spLocks noGrp="1"/>
          </p:cNvSpPr>
          <p:nvPr>
            <p:ph type="title"/>
          </p:nvPr>
        </p:nvSpPr>
        <p:spPr/>
        <p:txBody>
          <a:bodyPr/>
          <a:lstStyle/>
          <a:p>
            <a:r>
              <a:rPr lang="en-US" dirty="0"/>
              <a:t>MAXOD Heatmap </a:t>
            </a:r>
            <a:endParaRPr lang="en-AU" dirty="0"/>
          </a:p>
        </p:txBody>
      </p:sp>
      <p:pic>
        <p:nvPicPr>
          <p:cNvPr id="5" name="Content Placeholder 4">
            <a:extLst>
              <a:ext uri="{FF2B5EF4-FFF2-40B4-BE49-F238E27FC236}">
                <a16:creationId xmlns:a16="http://schemas.microsoft.com/office/drawing/2014/main" id="{E2DE4D86-5EDF-2DF5-482D-0AC757D780E5}"/>
              </a:ext>
            </a:extLst>
          </p:cNvPr>
          <p:cNvPicPr>
            <a:picLocks noGrp="1" noChangeAspect="1"/>
          </p:cNvPicPr>
          <p:nvPr>
            <p:ph idx="1"/>
          </p:nvPr>
        </p:nvPicPr>
        <p:blipFill>
          <a:blip r:embed="rId3"/>
          <a:stretch>
            <a:fillRect/>
          </a:stretch>
        </p:blipFill>
        <p:spPr>
          <a:xfrm>
            <a:off x="2132372" y="1929812"/>
            <a:ext cx="6911044" cy="4387485"/>
          </a:xfrm>
          <a:prstGeom prst="rect">
            <a:avLst/>
          </a:prstGeom>
        </p:spPr>
      </p:pic>
    </p:spTree>
    <p:extLst>
      <p:ext uri="{BB962C8B-B14F-4D97-AF65-F5344CB8AC3E}">
        <p14:creationId xmlns:p14="http://schemas.microsoft.com/office/powerpoint/2010/main" val="37197142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81E43-7B6D-94CF-1AAE-BEC13F20F79B}"/>
              </a:ext>
            </a:extLst>
          </p:cNvPr>
          <p:cNvSpPr>
            <a:spLocks noGrp="1"/>
          </p:cNvSpPr>
          <p:nvPr>
            <p:ph type="title"/>
          </p:nvPr>
        </p:nvSpPr>
        <p:spPr/>
        <p:txBody>
          <a:bodyPr/>
          <a:lstStyle/>
          <a:p>
            <a:r>
              <a:rPr lang="en-US" dirty="0"/>
              <a:t>MUMAX Heatmap </a:t>
            </a:r>
            <a:endParaRPr lang="en-AU" dirty="0"/>
          </a:p>
        </p:txBody>
      </p:sp>
      <p:pic>
        <p:nvPicPr>
          <p:cNvPr id="5" name="Content Placeholder 4">
            <a:extLst>
              <a:ext uri="{FF2B5EF4-FFF2-40B4-BE49-F238E27FC236}">
                <a16:creationId xmlns:a16="http://schemas.microsoft.com/office/drawing/2014/main" id="{CFD8C527-E6D2-70F3-FDC7-55754CC6EBB4}"/>
              </a:ext>
            </a:extLst>
          </p:cNvPr>
          <p:cNvPicPr>
            <a:picLocks noGrp="1" noChangeAspect="1"/>
          </p:cNvPicPr>
          <p:nvPr>
            <p:ph idx="1"/>
          </p:nvPr>
        </p:nvPicPr>
        <p:blipFill>
          <a:blip r:embed="rId3"/>
          <a:stretch>
            <a:fillRect/>
          </a:stretch>
        </p:blipFill>
        <p:spPr>
          <a:xfrm>
            <a:off x="2124159" y="1828800"/>
            <a:ext cx="6870533" cy="4351338"/>
          </a:xfrm>
          <a:prstGeom prst="rect">
            <a:avLst/>
          </a:prstGeom>
        </p:spPr>
      </p:pic>
    </p:spTree>
    <p:extLst>
      <p:ext uri="{BB962C8B-B14F-4D97-AF65-F5344CB8AC3E}">
        <p14:creationId xmlns:p14="http://schemas.microsoft.com/office/powerpoint/2010/main" val="41604415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E62FD-6E04-6C9B-1EBE-0A5C3DFC5637}"/>
              </a:ext>
            </a:extLst>
          </p:cNvPr>
          <p:cNvSpPr>
            <a:spLocks noGrp="1"/>
          </p:cNvSpPr>
          <p:nvPr>
            <p:ph type="title"/>
          </p:nvPr>
        </p:nvSpPr>
        <p:spPr/>
        <p:txBody>
          <a:bodyPr/>
          <a:lstStyle/>
          <a:p>
            <a:r>
              <a:rPr lang="en-US" dirty="0"/>
              <a:t>Initial Observations </a:t>
            </a:r>
            <a:endParaRPr lang="en-AU" dirty="0"/>
          </a:p>
        </p:txBody>
      </p:sp>
      <p:sp>
        <p:nvSpPr>
          <p:cNvPr id="3" name="Content Placeholder 2">
            <a:extLst>
              <a:ext uri="{FF2B5EF4-FFF2-40B4-BE49-F238E27FC236}">
                <a16:creationId xmlns:a16="http://schemas.microsoft.com/office/drawing/2014/main" id="{75CEAE73-A454-A5D9-BF0B-1BC190E98C83}"/>
              </a:ext>
            </a:extLst>
          </p:cNvPr>
          <p:cNvSpPr>
            <a:spLocks noGrp="1"/>
          </p:cNvSpPr>
          <p:nvPr>
            <p:ph idx="1"/>
          </p:nvPr>
        </p:nvSpPr>
        <p:spPr/>
        <p:txBody>
          <a:bodyPr/>
          <a:lstStyle/>
          <a:p>
            <a:r>
              <a:rPr lang="en-US" dirty="0"/>
              <a:t>As expected at 48</a:t>
            </a:r>
            <a:r>
              <a:rPr lang="en-AU" dirty="0"/>
              <a:t> °</a:t>
            </a:r>
            <a:r>
              <a:rPr lang="en-US" dirty="0"/>
              <a:t>c nothing survives while mutants in M9 stops growing at 45</a:t>
            </a:r>
            <a:r>
              <a:rPr lang="en-AU" dirty="0"/>
              <a:t> °</a:t>
            </a:r>
            <a:r>
              <a:rPr lang="en-US" dirty="0"/>
              <a:t>c</a:t>
            </a:r>
          </a:p>
          <a:p>
            <a:r>
              <a:rPr lang="en-US" dirty="0"/>
              <a:t>Our mutations and WT seems to be heat resistant </a:t>
            </a:r>
          </a:p>
          <a:p>
            <a:r>
              <a:rPr lang="en-US" dirty="0"/>
              <a:t>It seems like rich media helps with growth at high temperature</a:t>
            </a:r>
          </a:p>
          <a:p>
            <a:endParaRPr lang="en-US" dirty="0"/>
          </a:p>
          <a:p>
            <a:endParaRPr lang="en-US" dirty="0"/>
          </a:p>
          <a:p>
            <a:endParaRPr lang="en-AU" dirty="0"/>
          </a:p>
        </p:txBody>
      </p:sp>
      <p:pic>
        <p:nvPicPr>
          <p:cNvPr id="4" name="Content Placeholder 4">
            <a:extLst>
              <a:ext uri="{FF2B5EF4-FFF2-40B4-BE49-F238E27FC236}">
                <a16:creationId xmlns:a16="http://schemas.microsoft.com/office/drawing/2014/main" id="{AA537DC7-E5B9-A834-95D0-495EE783B72D}"/>
              </a:ext>
            </a:extLst>
          </p:cNvPr>
          <p:cNvPicPr>
            <a:picLocks noChangeAspect="1"/>
          </p:cNvPicPr>
          <p:nvPr/>
        </p:nvPicPr>
        <p:blipFill>
          <a:blip r:embed="rId3"/>
          <a:stretch>
            <a:fillRect/>
          </a:stretch>
        </p:blipFill>
        <p:spPr>
          <a:xfrm>
            <a:off x="146818" y="3429000"/>
            <a:ext cx="5167961" cy="3280886"/>
          </a:xfrm>
          <a:prstGeom prst="rect">
            <a:avLst/>
          </a:prstGeom>
        </p:spPr>
      </p:pic>
      <p:pic>
        <p:nvPicPr>
          <p:cNvPr id="5" name="Content Placeholder 4">
            <a:extLst>
              <a:ext uri="{FF2B5EF4-FFF2-40B4-BE49-F238E27FC236}">
                <a16:creationId xmlns:a16="http://schemas.microsoft.com/office/drawing/2014/main" id="{FDB2D665-709B-BCFF-2936-15477C7D5B8D}"/>
              </a:ext>
            </a:extLst>
          </p:cNvPr>
          <p:cNvPicPr>
            <a:picLocks noChangeAspect="1"/>
          </p:cNvPicPr>
          <p:nvPr/>
        </p:nvPicPr>
        <p:blipFill>
          <a:blip r:embed="rId4"/>
          <a:stretch>
            <a:fillRect/>
          </a:stretch>
        </p:blipFill>
        <p:spPr>
          <a:xfrm>
            <a:off x="5754189" y="3390083"/>
            <a:ext cx="5400531" cy="3420337"/>
          </a:xfrm>
          <a:prstGeom prst="rect">
            <a:avLst/>
          </a:prstGeom>
        </p:spPr>
      </p:pic>
    </p:spTree>
    <p:extLst>
      <p:ext uri="{BB962C8B-B14F-4D97-AF65-F5344CB8AC3E}">
        <p14:creationId xmlns:p14="http://schemas.microsoft.com/office/powerpoint/2010/main" val="33088953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5D17A225-B875-DA94-C728-918628A198AC}"/>
              </a:ext>
            </a:extLst>
          </p:cNvPr>
          <p:cNvSpPr>
            <a:spLocks noGrp="1"/>
          </p:cNvSpPr>
          <p:nvPr>
            <p:ph type="title"/>
          </p:nvPr>
        </p:nvSpPr>
        <p:spPr>
          <a:xfrm>
            <a:off x="1261872" y="365760"/>
            <a:ext cx="9692640" cy="1325562"/>
          </a:xfrm>
        </p:spPr>
        <p:txBody>
          <a:bodyPr/>
          <a:lstStyle/>
          <a:p>
            <a:r>
              <a:rPr lang="en-US" dirty="0"/>
              <a:t>OD LB</a:t>
            </a:r>
            <a:endParaRPr lang="en-AU" dirty="0"/>
          </a:p>
        </p:txBody>
      </p:sp>
      <p:sp>
        <p:nvSpPr>
          <p:cNvPr id="8" name="Content Placeholder 7">
            <a:extLst>
              <a:ext uri="{FF2B5EF4-FFF2-40B4-BE49-F238E27FC236}">
                <a16:creationId xmlns:a16="http://schemas.microsoft.com/office/drawing/2014/main" id="{3143D5DB-B928-55FD-E5D5-BA6551306E1D}"/>
              </a:ext>
            </a:extLst>
          </p:cNvPr>
          <p:cNvSpPr>
            <a:spLocks noGrp="1"/>
          </p:cNvSpPr>
          <p:nvPr>
            <p:ph idx="1"/>
          </p:nvPr>
        </p:nvSpPr>
        <p:spPr/>
        <p:txBody>
          <a:bodyPr/>
          <a:lstStyle/>
          <a:p>
            <a:endParaRPr lang="en-AU"/>
          </a:p>
        </p:txBody>
      </p:sp>
      <p:pic>
        <p:nvPicPr>
          <p:cNvPr id="10" name="Picture 9">
            <a:extLst>
              <a:ext uri="{FF2B5EF4-FFF2-40B4-BE49-F238E27FC236}">
                <a16:creationId xmlns:a16="http://schemas.microsoft.com/office/drawing/2014/main" id="{76900700-8C8C-B673-8F12-57B4E655DBC6}"/>
              </a:ext>
            </a:extLst>
          </p:cNvPr>
          <p:cNvPicPr>
            <a:picLocks noChangeAspect="1"/>
          </p:cNvPicPr>
          <p:nvPr/>
        </p:nvPicPr>
        <p:blipFill>
          <a:blip r:embed="rId2"/>
          <a:stretch>
            <a:fillRect/>
          </a:stretch>
        </p:blipFill>
        <p:spPr>
          <a:xfrm>
            <a:off x="1103811" y="1691322"/>
            <a:ext cx="9379131" cy="4926636"/>
          </a:xfrm>
          <a:prstGeom prst="rect">
            <a:avLst/>
          </a:prstGeom>
        </p:spPr>
      </p:pic>
    </p:spTree>
    <p:extLst>
      <p:ext uri="{BB962C8B-B14F-4D97-AF65-F5344CB8AC3E}">
        <p14:creationId xmlns:p14="http://schemas.microsoft.com/office/powerpoint/2010/main" val="18204708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8C730-BD99-2B19-3280-D8BFCB3AE2A7}"/>
              </a:ext>
            </a:extLst>
          </p:cNvPr>
          <p:cNvSpPr>
            <a:spLocks noGrp="1"/>
          </p:cNvSpPr>
          <p:nvPr>
            <p:ph type="title"/>
          </p:nvPr>
        </p:nvSpPr>
        <p:spPr/>
        <p:txBody>
          <a:bodyPr/>
          <a:lstStyle/>
          <a:p>
            <a:r>
              <a:rPr lang="en-US" dirty="0"/>
              <a:t>OD M9</a:t>
            </a:r>
            <a:endParaRPr lang="en-AU" dirty="0"/>
          </a:p>
        </p:txBody>
      </p:sp>
      <p:pic>
        <p:nvPicPr>
          <p:cNvPr id="5" name="Content Placeholder 4">
            <a:extLst>
              <a:ext uri="{FF2B5EF4-FFF2-40B4-BE49-F238E27FC236}">
                <a16:creationId xmlns:a16="http://schemas.microsoft.com/office/drawing/2014/main" id="{BC295B73-9CC6-ABDF-C2FB-4585EE0C9DBB}"/>
              </a:ext>
            </a:extLst>
          </p:cNvPr>
          <p:cNvPicPr>
            <a:picLocks noGrp="1" noChangeAspect="1"/>
          </p:cNvPicPr>
          <p:nvPr>
            <p:ph idx="1"/>
          </p:nvPr>
        </p:nvPicPr>
        <p:blipFill>
          <a:blip r:embed="rId2"/>
          <a:stretch>
            <a:fillRect/>
          </a:stretch>
        </p:blipFill>
        <p:spPr>
          <a:xfrm>
            <a:off x="1156062" y="1755760"/>
            <a:ext cx="9438213" cy="5005676"/>
          </a:xfrm>
          <a:prstGeom prst="rect">
            <a:avLst/>
          </a:prstGeom>
        </p:spPr>
      </p:pic>
    </p:spTree>
    <p:extLst>
      <p:ext uri="{BB962C8B-B14F-4D97-AF65-F5344CB8AC3E}">
        <p14:creationId xmlns:p14="http://schemas.microsoft.com/office/powerpoint/2010/main" val="408844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7A658-75C0-F871-2CA1-675D5953E9C4}"/>
              </a:ext>
            </a:extLst>
          </p:cNvPr>
          <p:cNvSpPr>
            <a:spLocks noGrp="1"/>
          </p:cNvSpPr>
          <p:nvPr>
            <p:ph type="title"/>
          </p:nvPr>
        </p:nvSpPr>
        <p:spPr/>
        <p:txBody>
          <a:bodyPr/>
          <a:lstStyle/>
          <a:p>
            <a:r>
              <a:rPr lang="en-US" dirty="0"/>
              <a:t>MUMAX LB</a:t>
            </a:r>
            <a:endParaRPr lang="en-AU" dirty="0"/>
          </a:p>
        </p:txBody>
      </p:sp>
      <p:sp>
        <p:nvSpPr>
          <p:cNvPr id="3" name="Content Placeholder 2">
            <a:extLst>
              <a:ext uri="{FF2B5EF4-FFF2-40B4-BE49-F238E27FC236}">
                <a16:creationId xmlns:a16="http://schemas.microsoft.com/office/drawing/2014/main" id="{4D2762E0-DA82-D3C6-FAE2-B03197765EDE}"/>
              </a:ext>
            </a:extLst>
          </p:cNvPr>
          <p:cNvSpPr>
            <a:spLocks noGrp="1"/>
          </p:cNvSpPr>
          <p:nvPr>
            <p:ph idx="1"/>
          </p:nvPr>
        </p:nvSpPr>
        <p:spPr/>
        <p:txBody>
          <a:bodyPr/>
          <a:lstStyle/>
          <a:p>
            <a:endParaRPr lang="en-AU"/>
          </a:p>
        </p:txBody>
      </p:sp>
      <p:pic>
        <p:nvPicPr>
          <p:cNvPr id="4" name="Content Placeholder 4">
            <a:extLst>
              <a:ext uri="{FF2B5EF4-FFF2-40B4-BE49-F238E27FC236}">
                <a16:creationId xmlns:a16="http://schemas.microsoft.com/office/drawing/2014/main" id="{59D71150-06E7-3EE0-8DF9-D560C3F6E86E}"/>
              </a:ext>
            </a:extLst>
          </p:cNvPr>
          <p:cNvPicPr>
            <a:picLocks noChangeAspect="1"/>
          </p:cNvPicPr>
          <p:nvPr/>
        </p:nvPicPr>
        <p:blipFill>
          <a:blip r:embed="rId2"/>
          <a:stretch>
            <a:fillRect/>
          </a:stretch>
        </p:blipFill>
        <p:spPr>
          <a:xfrm>
            <a:off x="886756" y="1663993"/>
            <a:ext cx="9472090" cy="4997087"/>
          </a:xfrm>
          <a:prstGeom prst="rect">
            <a:avLst/>
          </a:prstGeom>
        </p:spPr>
      </p:pic>
    </p:spTree>
    <p:extLst>
      <p:ext uri="{BB962C8B-B14F-4D97-AF65-F5344CB8AC3E}">
        <p14:creationId xmlns:p14="http://schemas.microsoft.com/office/powerpoint/2010/main" val="1775554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E50FB-E4C8-D52E-B0FE-BB45A3C57A83}"/>
              </a:ext>
            </a:extLst>
          </p:cNvPr>
          <p:cNvSpPr>
            <a:spLocks noGrp="1"/>
          </p:cNvSpPr>
          <p:nvPr>
            <p:ph type="title"/>
          </p:nvPr>
        </p:nvSpPr>
        <p:spPr/>
        <p:txBody>
          <a:bodyPr/>
          <a:lstStyle/>
          <a:p>
            <a:r>
              <a:rPr lang="en-US" dirty="0"/>
              <a:t>MUMAX M9</a:t>
            </a:r>
            <a:endParaRPr lang="en-AU" dirty="0"/>
          </a:p>
        </p:txBody>
      </p:sp>
      <p:pic>
        <p:nvPicPr>
          <p:cNvPr id="9" name="Content Placeholder 8">
            <a:extLst>
              <a:ext uri="{FF2B5EF4-FFF2-40B4-BE49-F238E27FC236}">
                <a16:creationId xmlns:a16="http://schemas.microsoft.com/office/drawing/2014/main" id="{6ECC9292-2714-2014-CC8D-34BFEF263240}"/>
              </a:ext>
            </a:extLst>
          </p:cNvPr>
          <p:cNvPicPr>
            <a:picLocks noGrp="1" noChangeAspect="1"/>
          </p:cNvPicPr>
          <p:nvPr>
            <p:ph idx="1"/>
          </p:nvPr>
        </p:nvPicPr>
        <p:blipFill>
          <a:blip r:embed="rId2"/>
          <a:stretch>
            <a:fillRect/>
          </a:stretch>
        </p:blipFill>
        <p:spPr>
          <a:xfrm>
            <a:off x="1049872" y="1789611"/>
            <a:ext cx="9165282" cy="4835029"/>
          </a:xfrm>
          <a:prstGeom prst="rect">
            <a:avLst/>
          </a:prstGeom>
        </p:spPr>
      </p:pic>
    </p:spTree>
    <p:extLst>
      <p:ext uri="{BB962C8B-B14F-4D97-AF65-F5344CB8AC3E}">
        <p14:creationId xmlns:p14="http://schemas.microsoft.com/office/powerpoint/2010/main" val="446253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2C49B-7743-4ECA-4DFC-2A36B9C11C83}"/>
              </a:ext>
            </a:extLst>
          </p:cNvPr>
          <p:cNvSpPr>
            <a:spLocks noGrp="1"/>
          </p:cNvSpPr>
          <p:nvPr>
            <p:ph type="title"/>
          </p:nvPr>
        </p:nvSpPr>
        <p:spPr/>
        <p:txBody>
          <a:bodyPr/>
          <a:lstStyle/>
          <a:p>
            <a:r>
              <a:rPr lang="en-US" dirty="0"/>
              <a:t>Chapter 2 </a:t>
            </a:r>
            <a:endParaRPr lang="en-AU" dirty="0"/>
          </a:p>
        </p:txBody>
      </p:sp>
      <p:sp>
        <p:nvSpPr>
          <p:cNvPr id="3" name="Content Placeholder 2">
            <a:extLst>
              <a:ext uri="{FF2B5EF4-FFF2-40B4-BE49-F238E27FC236}">
                <a16:creationId xmlns:a16="http://schemas.microsoft.com/office/drawing/2014/main" id="{FFD0EB59-5046-2900-FE7E-DA5B4AD35E16}"/>
              </a:ext>
            </a:extLst>
          </p:cNvPr>
          <p:cNvSpPr>
            <a:spLocks noGrp="1"/>
          </p:cNvSpPr>
          <p:nvPr>
            <p:ph idx="1"/>
          </p:nvPr>
        </p:nvSpPr>
        <p:spPr/>
        <p:txBody>
          <a:bodyPr/>
          <a:lstStyle/>
          <a:p>
            <a:r>
              <a:rPr lang="en-US" dirty="0"/>
              <a:t>Looking at whether </a:t>
            </a:r>
            <a:r>
              <a:rPr lang="en-US" dirty="0" err="1"/>
              <a:t>rpoB</a:t>
            </a:r>
            <a:r>
              <a:rPr lang="en-US" dirty="0"/>
              <a:t> mutations are stochastic </a:t>
            </a:r>
            <a:endParaRPr lang="en-AU" dirty="0"/>
          </a:p>
        </p:txBody>
      </p:sp>
    </p:spTree>
    <p:extLst>
      <p:ext uri="{BB962C8B-B14F-4D97-AF65-F5344CB8AC3E}">
        <p14:creationId xmlns:p14="http://schemas.microsoft.com/office/powerpoint/2010/main" val="2551635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B37DB-4FA1-F2FE-5F48-EC8CCD83353A}"/>
              </a:ext>
            </a:extLst>
          </p:cNvPr>
          <p:cNvSpPr>
            <a:spLocks noGrp="1"/>
          </p:cNvSpPr>
          <p:nvPr>
            <p:ph type="title"/>
          </p:nvPr>
        </p:nvSpPr>
        <p:spPr/>
        <p:txBody>
          <a:bodyPr/>
          <a:lstStyle/>
          <a:p>
            <a:r>
              <a:rPr lang="en-US" dirty="0"/>
              <a:t>Theory </a:t>
            </a:r>
            <a:endParaRPr lang="en-AU" dirty="0"/>
          </a:p>
        </p:txBody>
      </p:sp>
      <p:sp>
        <p:nvSpPr>
          <p:cNvPr id="3" name="Content Placeholder 2">
            <a:extLst>
              <a:ext uri="{FF2B5EF4-FFF2-40B4-BE49-F238E27FC236}">
                <a16:creationId xmlns:a16="http://schemas.microsoft.com/office/drawing/2014/main" id="{534FCC26-E232-AF3A-5BB8-150BCF7ED7CF}"/>
              </a:ext>
            </a:extLst>
          </p:cNvPr>
          <p:cNvSpPr>
            <a:spLocks noGrp="1"/>
          </p:cNvSpPr>
          <p:nvPr>
            <p:ph idx="1"/>
          </p:nvPr>
        </p:nvSpPr>
        <p:spPr>
          <a:xfrm>
            <a:off x="0" y="2214154"/>
            <a:ext cx="8595360" cy="4351337"/>
          </a:xfrm>
        </p:spPr>
        <p:txBody>
          <a:bodyPr/>
          <a:lstStyle/>
          <a:p>
            <a:r>
              <a:rPr lang="en-US" dirty="0"/>
              <a:t>We originally though that when we do mutant screens the mutations that appear are </a:t>
            </a:r>
            <a:r>
              <a:rPr lang="en-AU" dirty="0"/>
              <a:t>stochastic</a:t>
            </a:r>
          </a:p>
          <a:p>
            <a:r>
              <a:rPr lang="en-AU" dirty="0"/>
              <a:t>But results from the E. coil, A. </a:t>
            </a:r>
            <a:r>
              <a:rPr lang="en-AU" dirty="0" err="1"/>
              <a:t>baylyi</a:t>
            </a:r>
            <a:r>
              <a:rPr lang="en-AU" dirty="0"/>
              <a:t> and L. plantarum screens show that is not the case  </a:t>
            </a:r>
          </a:p>
        </p:txBody>
      </p:sp>
      <p:pic>
        <p:nvPicPr>
          <p:cNvPr id="5" name="Picture 4">
            <a:extLst>
              <a:ext uri="{FF2B5EF4-FFF2-40B4-BE49-F238E27FC236}">
                <a16:creationId xmlns:a16="http://schemas.microsoft.com/office/drawing/2014/main" id="{FA0D7431-6010-E1F1-25A6-7FC9349E6B9E}"/>
              </a:ext>
            </a:extLst>
          </p:cNvPr>
          <p:cNvPicPr>
            <a:picLocks noChangeAspect="1"/>
          </p:cNvPicPr>
          <p:nvPr/>
        </p:nvPicPr>
        <p:blipFill>
          <a:blip r:embed="rId3"/>
          <a:stretch>
            <a:fillRect/>
          </a:stretch>
        </p:blipFill>
        <p:spPr>
          <a:xfrm>
            <a:off x="7696206" y="78377"/>
            <a:ext cx="3433829" cy="6609806"/>
          </a:xfrm>
          <a:prstGeom prst="rect">
            <a:avLst/>
          </a:prstGeom>
        </p:spPr>
      </p:pic>
    </p:spTree>
    <p:extLst>
      <p:ext uri="{BB962C8B-B14F-4D97-AF65-F5344CB8AC3E}">
        <p14:creationId xmlns:p14="http://schemas.microsoft.com/office/powerpoint/2010/main" val="16841509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AD99A-664F-5DE6-6183-D779E8630786}"/>
              </a:ext>
            </a:extLst>
          </p:cNvPr>
          <p:cNvSpPr>
            <a:spLocks noGrp="1"/>
          </p:cNvSpPr>
          <p:nvPr>
            <p:ph type="title"/>
          </p:nvPr>
        </p:nvSpPr>
        <p:spPr/>
        <p:txBody>
          <a:bodyPr/>
          <a:lstStyle/>
          <a:p>
            <a:r>
              <a:rPr lang="en-US" dirty="0"/>
              <a:t>Design </a:t>
            </a:r>
            <a:endParaRPr lang="en-AU" dirty="0"/>
          </a:p>
        </p:txBody>
      </p:sp>
      <p:sp>
        <p:nvSpPr>
          <p:cNvPr id="3" name="Content Placeholder 2">
            <a:extLst>
              <a:ext uri="{FF2B5EF4-FFF2-40B4-BE49-F238E27FC236}">
                <a16:creationId xmlns:a16="http://schemas.microsoft.com/office/drawing/2014/main" id="{DA16E06F-F081-53A3-84A4-2A6ED0ED5996}"/>
              </a:ext>
            </a:extLst>
          </p:cNvPr>
          <p:cNvSpPr>
            <a:spLocks noGrp="1"/>
          </p:cNvSpPr>
          <p:nvPr>
            <p:ph idx="1"/>
          </p:nvPr>
        </p:nvSpPr>
        <p:spPr/>
        <p:txBody>
          <a:bodyPr/>
          <a:lstStyle/>
          <a:p>
            <a:r>
              <a:rPr lang="en-US" dirty="0"/>
              <a:t>Pick a rare mutant  </a:t>
            </a:r>
          </a:p>
          <a:p>
            <a:r>
              <a:rPr lang="en-US" dirty="0"/>
              <a:t>Pick an average mutant </a:t>
            </a:r>
          </a:p>
          <a:p>
            <a:r>
              <a:rPr lang="en-US" dirty="0"/>
              <a:t>Pick a common mutant </a:t>
            </a:r>
          </a:p>
          <a:p>
            <a:r>
              <a:rPr lang="en-US" dirty="0"/>
              <a:t>Pick the WT </a:t>
            </a:r>
          </a:p>
          <a:p>
            <a:r>
              <a:rPr lang="en-US" dirty="0"/>
              <a:t>Grown them over many repetitions and see if there is a               difference in difference in the number of colonies </a:t>
            </a:r>
            <a:endParaRPr lang="en-AU" dirty="0"/>
          </a:p>
        </p:txBody>
      </p:sp>
      <p:pic>
        <p:nvPicPr>
          <p:cNvPr id="4" name="Picture 3">
            <a:extLst>
              <a:ext uri="{FF2B5EF4-FFF2-40B4-BE49-F238E27FC236}">
                <a16:creationId xmlns:a16="http://schemas.microsoft.com/office/drawing/2014/main" id="{F52AA396-A85B-B182-1509-77A7F6B12182}"/>
              </a:ext>
            </a:extLst>
          </p:cNvPr>
          <p:cNvPicPr>
            <a:picLocks noChangeAspect="1"/>
          </p:cNvPicPr>
          <p:nvPr/>
        </p:nvPicPr>
        <p:blipFill>
          <a:blip r:embed="rId2"/>
          <a:stretch>
            <a:fillRect/>
          </a:stretch>
        </p:blipFill>
        <p:spPr>
          <a:xfrm>
            <a:off x="7696206" y="78377"/>
            <a:ext cx="3433829" cy="6609806"/>
          </a:xfrm>
          <a:prstGeom prst="rect">
            <a:avLst/>
          </a:prstGeom>
        </p:spPr>
      </p:pic>
    </p:spTree>
    <p:extLst>
      <p:ext uri="{BB962C8B-B14F-4D97-AF65-F5344CB8AC3E}">
        <p14:creationId xmlns:p14="http://schemas.microsoft.com/office/powerpoint/2010/main" val="4135181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E2FA7-3528-B5F6-DCC3-6380A3F928B8}"/>
              </a:ext>
            </a:extLst>
          </p:cNvPr>
          <p:cNvSpPr>
            <a:spLocks noGrp="1"/>
          </p:cNvSpPr>
          <p:nvPr>
            <p:ph type="title"/>
          </p:nvPr>
        </p:nvSpPr>
        <p:spPr/>
        <p:txBody>
          <a:bodyPr/>
          <a:lstStyle/>
          <a:p>
            <a:r>
              <a:rPr lang="en-US" dirty="0"/>
              <a:t>16 streak test </a:t>
            </a:r>
            <a:endParaRPr lang="en-AU" dirty="0"/>
          </a:p>
        </p:txBody>
      </p:sp>
      <p:pic>
        <p:nvPicPr>
          <p:cNvPr id="5" name="Content Placeholder 4">
            <a:extLst>
              <a:ext uri="{FF2B5EF4-FFF2-40B4-BE49-F238E27FC236}">
                <a16:creationId xmlns:a16="http://schemas.microsoft.com/office/drawing/2014/main" id="{BE7C069A-95D2-3FAE-BBC5-44E21A62F67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1365" y="2276856"/>
            <a:ext cx="5352288" cy="4014216"/>
          </a:xfrm>
          <a:prstGeom prst="rect">
            <a:avLst/>
          </a:prstGeom>
        </p:spPr>
      </p:pic>
      <p:pic>
        <p:nvPicPr>
          <p:cNvPr id="7" name="Picture 6">
            <a:extLst>
              <a:ext uri="{FF2B5EF4-FFF2-40B4-BE49-F238E27FC236}">
                <a16:creationId xmlns:a16="http://schemas.microsoft.com/office/drawing/2014/main" id="{AE4623AB-D728-CE76-5F3B-F9CF9CF885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6329172" y="1607820"/>
            <a:ext cx="4014216" cy="5352288"/>
          </a:xfrm>
          <a:prstGeom prst="rect">
            <a:avLst/>
          </a:prstGeom>
        </p:spPr>
      </p:pic>
    </p:spTree>
    <p:extLst>
      <p:ext uri="{BB962C8B-B14F-4D97-AF65-F5344CB8AC3E}">
        <p14:creationId xmlns:p14="http://schemas.microsoft.com/office/powerpoint/2010/main" val="1613813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EDC93-B38D-F205-1BCC-5ABB227BA3D8}"/>
              </a:ext>
            </a:extLst>
          </p:cNvPr>
          <p:cNvSpPr>
            <a:spLocks noGrp="1"/>
          </p:cNvSpPr>
          <p:nvPr>
            <p:ph type="title"/>
          </p:nvPr>
        </p:nvSpPr>
        <p:spPr/>
        <p:txBody>
          <a:bodyPr/>
          <a:lstStyle/>
          <a:p>
            <a:endParaRPr lang="en-AU"/>
          </a:p>
        </p:txBody>
      </p:sp>
      <p:sp>
        <p:nvSpPr>
          <p:cNvPr id="3" name="Content Placeholder 2">
            <a:extLst>
              <a:ext uri="{FF2B5EF4-FFF2-40B4-BE49-F238E27FC236}">
                <a16:creationId xmlns:a16="http://schemas.microsoft.com/office/drawing/2014/main" id="{7815D423-C7BC-BDE5-BDEA-EBFBC3D1F4BF}"/>
              </a:ext>
            </a:extLst>
          </p:cNvPr>
          <p:cNvSpPr>
            <a:spLocks noGrp="1"/>
          </p:cNvSpPr>
          <p:nvPr>
            <p:ph idx="1"/>
          </p:nvPr>
        </p:nvSpPr>
        <p:spPr/>
        <p:txBody>
          <a:bodyPr/>
          <a:lstStyle/>
          <a:p>
            <a:endParaRPr lang="en-AU"/>
          </a:p>
        </p:txBody>
      </p:sp>
    </p:spTree>
    <p:extLst>
      <p:ext uri="{BB962C8B-B14F-4D97-AF65-F5344CB8AC3E}">
        <p14:creationId xmlns:p14="http://schemas.microsoft.com/office/powerpoint/2010/main" val="7270555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6126D-673C-2BED-2A1B-27D18977CE56}"/>
              </a:ext>
            </a:extLst>
          </p:cNvPr>
          <p:cNvSpPr>
            <a:spLocks noGrp="1"/>
          </p:cNvSpPr>
          <p:nvPr>
            <p:ph type="title"/>
          </p:nvPr>
        </p:nvSpPr>
        <p:spPr/>
        <p:txBody>
          <a:bodyPr/>
          <a:lstStyle/>
          <a:p>
            <a:endParaRPr lang="en-AU"/>
          </a:p>
        </p:txBody>
      </p:sp>
      <p:sp>
        <p:nvSpPr>
          <p:cNvPr id="3" name="Content Placeholder 2">
            <a:extLst>
              <a:ext uri="{FF2B5EF4-FFF2-40B4-BE49-F238E27FC236}">
                <a16:creationId xmlns:a16="http://schemas.microsoft.com/office/drawing/2014/main" id="{F553C33D-015F-CF6E-9A8B-4E79FB3A6EE3}"/>
              </a:ext>
            </a:extLst>
          </p:cNvPr>
          <p:cNvSpPr>
            <a:spLocks noGrp="1"/>
          </p:cNvSpPr>
          <p:nvPr>
            <p:ph idx="1"/>
          </p:nvPr>
        </p:nvSpPr>
        <p:spPr/>
        <p:txBody>
          <a:bodyPr/>
          <a:lstStyle/>
          <a:p>
            <a:endParaRPr lang="en-AU"/>
          </a:p>
        </p:txBody>
      </p:sp>
    </p:spTree>
    <p:extLst>
      <p:ext uri="{BB962C8B-B14F-4D97-AF65-F5344CB8AC3E}">
        <p14:creationId xmlns:p14="http://schemas.microsoft.com/office/powerpoint/2010/main" val="2788196891"/>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1130</TotalTime>
  <Words>769</Words>
  <Application>Microsoft Office PowerPoint</Application>
  <PresentationFormat>Widescreen</PresentationFormat>
  <Paragraphs>75</Paragraphs>
  <Slides>20</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Century Schoolbook</vt:lpstr>
      <vt:lpstr>Wingdings 2</vt:lpstr>
      <vt:lpstr>View</vt:lpstr>
      <vt:lpstr>Research Update </vt:lpstr>
      <vt:lpstr>Chapter 1 </vt:lpstr>
      <vt:lpstr>Design </vt:lpstr>
      <vt:lpstr>Initial findings </vt:lpstr>
      <vt:lpstr>45°c</vt:lpstr>
      <vt:lpstr>48°c</vt:lpstr>
      <vt:lpstr>22°c</vt:lpstr>
      <vt:lpstr>MAXOD Heatmap </vt:lpstr>
      <vt:lpstr>MUMAX Heatmap </vt:lpstr>
      <vt:lpstr>Initial Observations </vt:lpstr>
      <vt:lpstr>OD LB</vt:lpstr>
      <vt:lpstr>OD M9</vt:lpstr>
      <vt:lpstr>MUMAX LB</vt:lpstr>
      <vt:lpstr>MUMAX M9</vt:lpstr>
      <vt:lpstr>Chapter 2 </vt:lpstr>
      <vt:lpstr>Theory </vt:lpstr>
      <vt:lpstr>Design </vt:lpstr>
      <vt:lpstr>16 streak test </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Ziqing Liu</dc:creator>
  <cp:lastModifiedBy>Ziqing Liu</cp:lastModifiedBy>
  <cp:revision>2</cp:revision>
  <dcterms:created xsi:type="dcterms:W3CDTF">2026-04-28T23:57:04Z</dcterms:created>
  <dcterms:modified xsi:type="dcterms:W3CDTF">2026-04-30T06:25:40Z</dcterms:modified>
</cp:coreProperties>
</file>